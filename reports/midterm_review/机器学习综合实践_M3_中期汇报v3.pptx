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70" r:id="rId2"/>
    <p:sldId id="271" r:id="rId3"/>
    <p:sldId id="272" r:id="rId4"/>
    <p:sldId id="259" r:id="rId5"/>
    <p:sldId id="260" r:id="rId6"/>
    <p:sldId id="261" r:id="rId7"/>
    <p:sldId id="262" r:id="rId8"/>
    <p:sldId id="274" r:id="rId9"/>
    <p:sldId id="273" r:id="rId10"/>
    <p:sldId id="275" r:id="rId11"/>
    <p:sldId id="264" r:id="rId12"/>
    <p:sldId id="265" r:id="rId13"/>
    <p:sldId id="276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FA7"/>
    <a:srgbClr val="0799A9"/>
    <a:srgbClr val="1670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213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封面延续 M1 的克莱因蓝瑞士风。右侧热图为生成的教学示意，不代表真实实验结果或方法排名。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M3 完成默认设置下的统一比较。参数扫描、梯度类交叉比较和最终统计仍属于后续工作。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M1 完成问题与方案，M2 打通流程，M3 完成 KernelSHAP 接入及第一轮四方法统一比较。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四种方法并列进入统一框架，并非连续执行。统一记录实际前向次数与归因耗时。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ImageNet 固定 10 张，CHNCXR 固定 10 张。每个数据域 320 条实验记录完整。KernelSHAP 的 200 次运行设计矩阵全部满秩。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本页只总结互补优势，不合并指标、不计算综合得分，也不形成最终排名。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未提供四个组合的绝对 AUC 数值，因此本页只呈现材料明确支持的领先关系，不绘制虚构坐标。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8952E-6E2C-9A0B-0788-FF0C4C6D3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B74B6F-44F0-326C-B0BE-BE455A34CE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F2E7AD-EA68-CBA4-CE89-7CD0CBA2E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未提供四个组合的绝对 AUC 数值，因此本页只呈现材料明确支持的领先关系，不绘制虚构坐标。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CAB4E4-5E08-5970-8BB3-039140E6AAB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418073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RISE 的跨种子 Spearman 为 0.9920–0.9943，Top-20% Jaccard 为 0.8873–0.9230。异常组合仍需预算扫描验证。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7788F-EF12-0884-5ACC-E707E4296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E559EA-1075-D32C-F158-A69C09215A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C91761-84A7-4998-3E3F-1C41A9C54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RISE 的跨种子 Spearman 为 0.9920–0.9943，Top-20% Jaccard 为 0.8873–0.9230。异常组合仍需预算扫描验证。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2264B-041E-9647-2A80-3E63579326E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042540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Ablation 的实际前向次数随区域数变化。LIME、RISE 和 KernelSHAP 的默认预算均为 1024，但 RISE 仍有更高的遮蔽生成与处理成本。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CHNCXR 的定位异常是 M4 的优先诊断对象。病灶面积、粒度、基线和模型真实依赖均可能影响结果。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650C6-9501-A70A-A74C-B2A23421F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C1405B-1484-9C6E-2954-6A5B87644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301C7C-B1A4-C093-859A-D86D53E7EF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CHNCXR 的定位异常是 M4 的优先诊断对象。病灶面积、粒度、基线和模型真实依赖均可能影响结果。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C33BBC-0EAD-CEF1-27EA-8EEEB88779A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864846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RQ1 获得阶段性回答。RQ2 仍需参数扫描，RQ3 仍需预算扫描与梯度类交叉比较。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医学域定位诊断、KernelSHAP 预算扫描、RISE 权衡分析为优先任务。OrdShap 为探索性选做实验。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M5 将完成配对统计、置信区间、显著性检验、最终研究问题回答和可复现交付。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团队采用模块负责制与相邻模块交叉复核。分工来自项目 README，阶段结论来自 M3 中期检查材料。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C8D73851-6774-4962-8E63-1DDE2F77B8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0206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233A3F-79FB-45E1-A4E2-6FB7F88FC4AE}"/>
              </a:ext>
            </a:extLst>
          </p:cNvPr>
          <p:cNvSpPr>
            <a:spLocks noGrp="1"/>
          </p:cNvSpPr>
          <p:nvPr/>
        </p:nvSpPr>
        <p:spPr>
          <a:xfrm>
            <a:off x="6591300" y="26894"/>
            <a:ext cx="5600700" cy="6858000"/>
          </a:xfrm>
          <a:prstGeom prst="rect">
            <a:avLst/>
          </a:prstGeom>
          <a:solidFill>
            <a:srgbClr val="00206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C87EDA-29A8-4E04-A42D-10AE5C60609F}"/>
              </a:ext>
            </a:extLst>
          </p:cNvPr>
          <p:cNvSpPr>
            <a:spLocks noGrp="1"/>
          </p:cNvSpPr>
          <p:nvPr/>
        </p:nvSpPr>
        <p:spPr>
          <a:xfrm>
            <a:off x="685800" y="1118851"/>
            <a:ext cx="561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机器学习综合实践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BFE9A34-8E3F-4411-8A82-20E217F1C366}"/>
              </a:ext>
            </a:extLst>
          </p:cNvPr>
          <p:cNvSpPr>
            <a:spLocks noGrp="1"/>
          </p:cNvSpPr>
          <p:nvPr/>
        </p:nvSpPr>
        <p:spPr>
          <a:xfrm>
            <a:off x="685800" y="1747501"/>
            <a:ext cx="6286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3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 dirty="0" err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图像分类特征归因方法的</a:t>
            </a:r>
            <a:endParaRPr sz="3900" b="1" dirty="0">
              <a:solidFill>
                <a:srgbClr val="081D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3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 dirty="0" err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质量</a:t>
            </a:r>
            <a:r>
              <a:rPr sz="3900" b="1" dirty="0" err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3900" b="1" dirty="0" err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效率</a:t>
            </a:r>
            <a:r>
              <a:rPr sz="3900" b="1" dirty="0" err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比较</a:t>
            </a:r>
            <a:endParaRPr sz="3900" b="1" dirty="0">
              <a:solidFill>
                <a:srgbClr val="081D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664206-2D09-456E-BD42-C7547738D895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619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9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 dirty="0" err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实验实现与初步比较</a:t>
            </a:r>
            <a:endParaRPr sz="1900" b="0" dirty="0">
              <a:solidFill>
                <a:srgbClr val="61758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9EEAEC27-3803-4AC0-9416-348D70AF472B}"/>
              </a:ext>
            </a:extLst>
          </p:cNvPr>
          <p:cNvSpPr>
            <a:spLocks noGrp="1"/>
          </p:cNvSpPr>
          <p:nvPr/>
        </p:nvSpPr>
        <p:spPr>
          <a:xfrm>
            <a:off x="692239" y="4317104"/>
            <a:ext cx="5810250" cy="0"/>
          </a:xfrm>
          <a:prstGeom prst="line">
            <a:avLst/>
          </a:prstGeom>
          <a:noFill/>
          <a:ln w="1143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7E59CE-88D6-4D9A-8585-0C5C428D87E3}"/>
              </a:ext>
            </a:extLst>
          </p:cNvPr>
          <p:cNvSpPr>
            <a:spLocks noGrp="1"/>
          </p:cNvSpPr>
          <p:nvPr/>
        </p:nvSpPr>
        <p:spPr>
          <a:xfrm>
            <a:off x="692239" y="4679054"/>
            <a:ext cx="628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4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G01</a:t>
            </a:r>
            <a:r>
              <a:rPr sz="1400" b="0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小组成员：陈纪仰  </a:t>
            </a:r>
            <a:r>
              <a:rPr sz="1400" b="0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朱炳政</a:t>
            </a:r>
            <a:r>
              <a:rPr sz="1400" b="0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400" b="0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杜孟泽</a:t>
            </a:r>
            <a:r>
              <a:rPr sz="1400" b="0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400" b="0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张泰瑜</a:t>
            </a:r>
            <a:r>
              <a:rPr sz="1400" b="0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400" b="0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邹研泽</a:t>
            </a:r>
            <a:endParaRPr sz="1400" b="0" dirty="0">
              <a:solidFill>
                <a:srgbClr val="17324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0A86B60-E1B1-4DB2-851D-3F8AD23B9E8E}"/>
              </a:ext>
            </a:extLst>
          </p:cNvPr>
          <p:cNvSpPr>
            <a:spLocks noGrp="1"/>
          </p:cNvSpPr>
          <p:nvPr/>
        </p:nvSpPr>
        <p:spPr>
          <a:xfrm>
            <a:off x="692239" y="5155041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4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日期：2026/9/20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62800" y="986842"/>
            <a:ext cx="4324350" cy="4324350"/>
          </a:xfrm>
          <a:prstGeom prst="roundRect">
            <a:avLst>
              <a:gd name="adj" fmla="val 3409"/>
            </a:avLst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21F7F3EA-932E-4305-A387-17EFEB176110}"/>
              </a:ext>
            </a:extLst>
          </p:cNvPr>
          <p:cNvSpPr>
            <a:spLocks noGrp="1"/>
          </p:cNvSpPr>
          <p:nvPr/>
        </p:nvSpPr>
        <p:spPr>
          <a:xfrm>
            <a:off x="7650248" y="5354393"/>
            <a:ext cx="3352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同一图像，不同解释方法</a:t>
            </a:r>
            <a:endParaRPr sz="15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769984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5C6EFD18-9B6C-4390-8C6A-E3735D139176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57150" cy="381000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B659C9E-B649-4515-B6EF-DC0991FE794C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从实验设计进入统一比较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D29DB09-2E2F-4CD6-8F2B-3C85340B6462}"/>
              </a:ext>
            </a:extLst>
          </p:cNvPr>
          <p:cNvSpPr>
            <a:spLocks noGrp="1"/>
          </p:cNvSpPr>
          <p:nvPr/>
        </p:nvSpPr>
        <p:spPr>
          <a:xfrm>
            <a:off x="838200" y="2134718"/>
            <a:ext cx="2286000" cy="819150"/>
          </a:xfrm>
          <a:prstGeom prst="roundRect">
            <a:avLst>
              <a:gd name="adj" fmla="val 17442"/>
            </a:avLst>
          </a:prstGeom>
          <a:solidFill>
            <a:srgbClr val="081D3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3CA979D-A5EC-4F74-890E-0ACAC487E69B}"/>
              </a:ext>
            </a:extLst>
          </p:cNvPr>
          <p:cNvSpPr>
            <a:spLocks noGrp="1"/>
          </p:cNvSpPr>
          <p:nvPr/>
        </p:nvSpPr>
        <p:spPr>
          <a:xfrm>
            <a:off x="1009650" y="2268068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B70FF0-2713-4DA9-889B-CD5BC1F616F1}"/>
              </a:ext>
            </a:extLst>
          </p:cNvPr>
          <p:cNvSpPr>
            <a:spLocks noGrp="1"/>
          </p:cNvSpPr>
          <p:nvPr/>
        </p:nvSpPr>
        <p:spPr>
          <a:xfrm>
            <a:off x="1009650" y="2553818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质量 × 效率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2742869-25C2-457D-A19B-BCFB4830646B}"/>
              </a:ext>
            </a:extLst>
          </p:cNvPr>
          <p:cNvSpPr>
            <a:spLocks noGrp="1"/>
          </p:cNvSpPr>
          <p:nvPr/>
        </p:nvSpPr>
        <p:spPr>
          <a:xfrm>
            <a:off x="3193425" y="2134718"/>
            <a:ext cx="2286000" cy="819150"/>
          </a:xfrm>
          <a:prstGeom prst="roundRect">
            <a:avLst>
              <a:gd name="adj" fmla="val 17442"/>
            </a:avLst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98C74DE-53C0-4552-93C1-1F0AD05C8B7E}"/>
              </a:ext>
            </a:extLst>
          </p:cNvPr>
          <p:cNvSpPr>
            <a:spLocks noGrp="1"/>
          </p:cNvSpPr>
          <p:nvPr/>
        </p:nvSpPr>
        <p:spPr>
          <a:xfrm>
            <a:off x="3364875" y="2268068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3E424D2-7E49-4890-B49A-086D626E3671}"/>
              </a:ext>
            </a:extLst>
          </p:cNvPr>
          <p:cNvSpPr>
            <a:spLocks noGrp="1"/>
          </p:cNvSpPr>
          <p:nvPr/>
        </p:nvSpPr>
        <p:spPr>
          <a:xfrm>
            <a:off x="3364875" y="2553818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参数敏感性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3C9F858-04C3-4304-84CA-5ECDBDA8D29E}"/>
              </a:ext>
            </a:extLst>
          </p:cNvPr>
          <p:cNvSpPr>
            <a:spLocks noGrp="1"/>
          </p:cNvSpPr>
          <p:nvPr/>
        </p:nvSpPr>
        <p:spPr>
          <a:xfrm>
            <a:off x="5548650" y="2134718"/>
            <a:ext cx="2286000" cy="819150"/>
          </a:xfrm>
          <a:prstGeom prst="roundRect">
            <a:avLst>
              <a:gd name="adj" fmla="val 17442"/>
            </a:avLst>
          </a:prstGeom>
          <a:solidFill>
            <a:srgbClr val="0799A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>
              <a:solidFill>
                <a:srgbClr val="0799A9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68C5026-623A-4727-A97B-8F8CBF273BDC}"/>
              </a:ext>
            </a:extLst>
          </p:cNvPr>
          <p:cNvSpPr>
            <a:spLocks noGrp="1"/>
          </p:cNvSpPr>
          <p:nvPr/>
        </p:nvSpPr>
        <p:spPr>
          <a:xfrm>
            <a:off x="5720100" y="2268068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51E62CD-6B88-4960-A8AD-8E50ADED595E}"/>
              </a:ext>
            </a:extLst>
          </p:cNvPr>
          <p:cNvSpPr>
            <a:spLocks noGrp="1"/>
          </p:cNvSpPr>
          <p:nvPr/>
        </p:nvSpPr>
        <p:spPr>
          <a:xfrm>
            <a:off x="5720100" y="2553818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 × 实践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04F3608-281E-4ECD-A4DF-E6D7907591AF}"/>
              </a:ext>
            </a:extLst>
          </p:cNvPr>
          <p:cNvSpPr>
            <a:spLocks noGrp="1"/>
          </p:cNvSpPr>
          <p:nvPr/>
        </p:nvSpPr>
        <p:spPr>
          <a:xfrm>
            <a:off x="9353550" y="2191868"/>
            <a:ext cx="2133600" cy="685800"/>
          </a:xfrm>
          <a:prstGeom prst="roundRect">
            <a:avLst>
              <a:gd name="adj" fmla="val 22222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142793D-5B25-4F32-8503-55A13A292A02}"/>
              </a:ext>
            </a:extLst>
          </p:cNvPr>
          <p:cNvSpPr>
            <a:spLocks noGrp="1"/>
          </p:cNvSpPr>
          <p:nvPr/>
        </p:nvSpPr>
        <p:spPr>
          <a:xfrm>
            <a:off x="9353550" y="2915768"/>
            <a:ext cx="213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四种核心方法统一实验</a:t>
            </a: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9B694446-B8C2-4434-ADBF-922D10CB27CC}"/>
              </a:ext>
            </a:extLst>
          </p:cNvPr>
          <p:cNvSpPr>
            <a:spLocks noGrp="1"/>
          </p:cNvSpPr>
          <p:nvPr/>
        </p:nvSpPr>
        <p:spPr>
          <a:xfrm>
            <a:off x="8006100" y="2401417"/>
            <a:ext cx="1233150" cy="304799"/>
          </a:xfrm>
          <a:prstGeom prst="rightArrow">
            <a:avLst/>
          </a:prstGeom>
          <a:solidFill>
            <a:srgbClr val="002FA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93720B4-A070-47ED-BDF1-91035425FC55}"/>
              </a:ext>
            </a:extLst>
          </p:cNvPr>
          <p:cNvSpPr>
            <a:spLocks noGrp="1"/>
          </p:cNvSpPr>
          <p:nvPr/>
        </p:nvSpPr>
        <p:spPr>
          <a:xfrm>
            <a:off x="685800" y="3331505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本阶段已完成</a:t>
            </a:r>
          </a:p>
        </p:txBody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C373A682-2F51-42C3-AB3B-211F21CE5542}"/>
              </a:ext>
            </a:extLst>
          </p:cNvPr>
          <p:cNvSpPr>
            <a:spLocks noGrp="1"/>
          </p:cNvSpPr>
          <p:nvPr/>
        </p:nvSpPr>
        <p:spPr>
          <a:xfrm>
            <a:off x="2133600" y="3483905"/>
            <a:ext cx="350520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B044F161-3680-428A-AE67-17050C2FFA17}"/>
              </a:ext>
            </a:extLst>
          </p:cNvPr>
          <p:cNvSpPr>
            <a:spLocks noGrp="1"/>
          </p:cNvSpPr>
          <p:nvPr/>
        </p:nvSpPr>
        <p:spPr>
          <a:xfrm>
            <a:off x="723900" y="3826805"/>
            <a:ext cx="285750" cy="28575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C86376F-8C19-482F-B52D-B0E05B2512DC}"/>
              </a:ext>
            </a:extLst>
          </p:cNvPr>
          <p:cNvSpPr>
            <a:spLocks noGrp="1"/>
          </p:cNvSpPr>
          <p:nvPr/>
        </p:nvSpPr>
        <p:spPr>
          <a:xfrm>
            <a:off x="723900" y="382680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F74666D-CCE2-4F9C-BCCA-88011FF38A47}"/>
              </a:ext>
            </a:extLst>
          </p:cNvPr>
          <p:cNvSpPr>
            <a:spLocks noGrp="1"/>
          </p:cNvSpPr>
          <p:nvPr/>
        </p:nvSpPr>
        <p:spPr>
          <a:xfrm>
            <a:off x="1085850" y="3769655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核心方法实现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7BD3C166-327A-4A14-9CA6-E5C2EC6E35CA}"/>
              </a:ext>
            </a:extLst>
          </p:cNvPr>
          <p:cNvSpPr>
            <a:spLocks noGrp="1"/>
          </p:cNvSpPr>
          <p:nvPr/>
        </p:nvSpPr>
        <p:spPr>
          <a:xfrm>
            <a:off x="3162300" y="3826805"/>
            <a:ext cx="285750" cy="28575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0185FE6-07AC-45E1-94E8-B33DC0316B0E}"/>
              </a:ext>
            </a:extLst>
          </p:cNvPr>
          <p:cNvSpPr>
            <a:spLocks noGrp="1"/>
          </p:cNvSpPr>
          <p:nvPr/>
        </p:nvSpPr>
        <p:spPr>
          <a:xfrm>
            <a:off x="3162300" y="382680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64D070F-4666-4AA3-97DA-4C09D1E99EBD}"/>
              </a:ext>
            </a:extLst>
          </p:cNvPr>
          <p:cNvSpPr>
            <a:spLocks noGrp="1"/>
          </p:cNvSpPr>
          <p:nvPr/>
        </p:nvSpPr>
        <p:spPr>
          <a:xfrm>
            <a:off x="3524250" y="3769655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端到端实验流程</a:t>
            </a: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CAB77B44-F36E-4C7B-B2EC-C65B38356A35}"/>
              </a:ext>
            </a:extLst>
          </p:cNvPr>
          <p:cNvSpPr>
            <a:spLocks noGrp="1"/>
          </p:cNvSpPr>
          <p:nvPr/>
        </p:nvSpPr>
        <p:spPr>
          <a:xfrm>
            <a:off x="723900" y="4512605"/>
            <a:ext cx="285750" cy="28575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9BB8689-278A-4EB5-A2CB-8756948B0FE7}"/>
              </a:ext>
            </a:extLst>
          </p:cNvPr>
          <p:cNvSpPr>
            <a:spLocks noGrp="1"/>
          </p:cNvSpPr>
          <p:nvPr/>
        </p:nvSpPr>
        <p:spPr>
          <a:xfrm>
            <a:off x="723900" y="451260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4868B9E-F3E6-46A7-BC20-19005BAE5B69}"/>
              </a:ext>
            </a:extLst>
          </p:cNvPr>
          <p:cNvSpPr>
            <a:spLocks noGrp="1"/>
          </p:cNvSpPr>
          <p:nvPr/>
        </p:nvSpPr>
        <p:spPr>
          <a:xfrm>
            <a:off x="1085850" y="4455455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默认配置统一实验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FE8F8CF6-06AE-4531-99D7-6AB151BC20CF}"/>
              </a:ext>
            </a:extLst>
          </p:cNvPr>
          <p:cNvSpPr>
            <a:spLocks noGrp="1"/>
          </p:cNvSpPr>
          <p:nvPr/>
        </p:nvSpPr>
        <p:spPr>
          <a:xfrm>
            <a:off x="3162300" y="4512605"/>
            <a:ext cx="285750" cy="28575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2E3B22D-CEBA-4BB1-A752-60974DB2B95D}"/>
              </a:ext>
            </a:extLst>
          </p:cNvPr>
          <p:cNvSpPr>
            <a:spLocks noGrp="1"/>
          </p:cNvSpPr>
          <p:nvPr/>
        </p:nvSpPr>
        <p:spPr>
          <a:xfrm>
            <a:off x="3162300" y="451260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C1EDCD0-AF88-404B-ABF6-263BC5C004D3}"/>
              </a:ext>
            </a:extLst>
          </p:cNvPr>
          <p:cNvSpPr>
            <a:spLocks noGrp="1"/>
          </p:cNvSpPr>
          <p:nvPr/>
        </p:nvSpPr>
        <p:spPr>
          <a:xfrm>
            <a:off x="3524250" y="4455455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第一轮结果比较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6F1EEE6-2D5B-460E-86F5-F4625AD24892}"/>
              </a:ext>
            </a:extLst>
          </p:cNvPr>
          <p:cNvSpPr>
            <a:spLocks noGrp="1"/>
          </p:cNvSpPr>
          <p:nvPr/>
        </p:nvSpPr>
        <p:spPr>
          <a:xfrm>
            <a:off x="6305550" y="3331505"/>
            <a:ext cx="518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待 M4 / M5 完成</a:t>
            </a:r>
          </a:p>
        </p:txBody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4FBA682D-B29F-4976-884D-7A2D82E593AB}"/>
              </a:ext>
            </a:extLst>
          </p:cNvPr>
          <p:cNvSpPr>
            <a:spLocks noGrp="1"/>
          </p:cNvSpPr>
          <p:nvPr/>
        </p:nvSpPr>
        <p:spPr>
          <a:xfrm>
            <a:off x="7962900" y="3483905"/>
            <a:ext cx="3524250" cy="0"/>
          </a:xfrm>
          <a:prstGeom prst="line">
            <a:avLst/>
          </a:prstGeom>
          <a:noFill/>
          <a:ln w="9525">
            <a:solidFill>
              <a:srgbClr val="DCE6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0830CBEF-0C4F-4250-AFCF-47F97D944EF0}"/>
              </a:ext>
            </a:extLst>
          </p:cNvPr>
          <p:cNvSpPr>
            <a:spLocks noGrp="1"/>
          </p:cNvSpPr>
          <p:nvPr/>
        </p:nvSpPr>
        <p:spPr>
          <a:xfrm>
            <a:off x="6305550" y="3769655"/>
            <a:ext cx="23622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CE6EF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参数扫描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02223663-CB1F-4DD3-9359-535496711B03}"/>
              </a:ext>
            </a:extLst>
          </p:cNvPr>
          <p:cNvSpPr>
            <a:spLocks noGrp="1"/>
          </p:cNvSpPr>
          <p:nvPr/>
        </p:nvSpPr>
        <p:spPr>
          <a:xfrm>
            <a:off x="8896350" y="3769655"/>
            <a:ext cx="23622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CE6EF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梯度类交叉比较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6D8B52E5-7EAA-45F5-A33E-3DBB7F718E28}"/>
              </a:ext>
            </a:extLst>
          </p:cNvPr>
          <p:cNvSpPr>
            <a:spLocks noGrp="1"/>
          </p:cNvSpPr>
          <p:nvPr/>
        </p:nvSpPr>
        <p:spPr>
          <a:xfrm>
            <a:off x="6305550" y="4455455"/>
            <a:ext cx="23622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CE6EF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最终统计确认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BD55AECD-D865-4D28-8F29-FE6F926B57A1}"/>
              </a:ext>
            </a:extLst>
          </p:cNvPr>
          <p:cNvSpPr>
            <a:spLocks noGrp="1"/>
          </p:cNvSpPr>
          <p:nvPr/>
        </p:nvSpPr>
        <p:spPr>
          <a:xfrm>
            <a:off x="8896350" y="4455455"/>
            <a:ext cx="23622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CE6EF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最终方法建议</a:t>
            </a:r>
          </a:p>
        </p:txBody>
      </p:sp>
    </p:spTree>
    <p:extLst>
      <p:ext uri="{BB962C8B-B14F-4D97-AF65-F5344CB8AC3E}">
        <p14:creationId xmlns:p14="http://schemas.microsoft.com/office/powerpoint/2010/main" val="14635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666A4870-2739-4233-9FD8-70D4243C76D5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57150" cy="381000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7AAA8D-2EC4-426E-9708-C70828DB0C3D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研究问题逐步转化为可运行实验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88D12DC-4C04-4F82-9513-50B412104136}"/>
              </a:ext>
            </a:extLst>
          </p:cNvPr>
          <p:cNvSpPr>
            <a:spLocks noGrp="1"/>
          </p:cNvSpPr>
          <p:nvPr/>
        </p:nvSpPr>
        <p:spPr>
          <a:xfrm>
            <a:off x="679361" y="1667545"/>
            <a:ext cx="3086100" cy="3714750"/>
          </a:xfrm>
          <a:prstGeom prst="roundRect">
            <a:avLst>
              <a:gd name="adj" fmla="val 5556"/>
            </a:avLst>
          </a:prstGeom>
          <a:solidFill>
            <a:srgbClr val="F6FAFD"/>
          </a:solidFill>
          <a:ln w="15240">
            <a:solidFill>
              <a:srgbClr val="081D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34C78B-8AAA-4469-A890-7280F8FA104C}"/>
              </a:ext>
            </a:extLst>
          </p:cNvPr>
          <p:cNvSpPr>
            <a:spLocks noGrp="1"/>
          </p:cNvSpPr>
          <p:nvPr/>
        </p:nvSpPr>
        <p:spPr>
          <a:xfrm>
            <a:off x="869861" y="1858045"/>
            <a:ext cx="2705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0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M1｜问题与方案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B9729D85-F359-4DDE-BE96-305CBB0C6C68}"/>
              </a:ext>
            </a:extLst>
          </p:cNvPr>
          <p:cNvSpPr>
            <a:spLocks noGrp="1"/>
          </p:cNvSpPr>
          <p:nvPr/>
        </p:nvSpPr>
        <p:spPr>
          <a:xfrm>
            <a:off x="869861" y="2372395"/>
            <a:ext cx="270510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2C3E35-3C92-4EAD-AFAC-B292C4191880}"/>
              </a:ext>
            </a:extLst>
          </p:cNvPr>
          <p:cNvSpPr>
            <a:spLocks noGrp="1"/>
          </p:cNvSpPr>
          <p:nvPr/>
        </p:nvSpPr>
        <p:spPr>
          <a:xfrm>
            <a:off x="907961" y="2620045"/>
            <a:ext cx="262890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RQ1–RQ3</a:t>
            </a:r>
          </a:p>
          <a:p>
            <a:pPr algn="l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数据域与模型</a:t>
            </a:r>
            <a:endParaRPr sz="1600" b="1" dirty="0">
              <a:solidFill>
                <a:srgbClr val="17324D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统一实验口径</a:t>
            </a:r>
            <a:endParaRPr sz="1600" b="1" dirty="0">
              <a:solidFill>
                <a:srgbClr val="17324D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参数范围</a:t>
            </a:r>
            <a:endParaRPr sz="1600" b="1" dirty="0">
              <a:solidFill>
                <a:srgbClr val="17324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8EF60EE-689F-422D-A503-C096577E91C4}"/>
              </a:ext>
            </a:extLst>
          </p:cNvPr>
          <p:cNvSpPr>
            <a:spLocks noGrp="1"/>
          </p:cNvSpPr>
          <p:nvPr/>
        </p:nvSpPr>
        <p:spPr>
          <a:xfrm>
            <a:off x="869861" y="4639345"/>
            <a:ext cx="2705100" cy="514350"/>
          </a:xfrm>
          <a:prstGeom prst="roundRect">
            <a:avLst>
              <a:gd name="adj" fmla="val 22222"/>
            </a:avLst>
          </a:prstGeom>
          <a:solidFill>
            <a:srgbClr val="081D3A"/>
          </a:solidFill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可执行实验任务书</a:t>
            </a:r>
            <a:endParaRPr sz="13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45F536EF-A520-41C9-AD10-D99BDEC151C9}"/>
              </a:ext>
            </a:extLst>
          </p:cNvPr>
          <p:cNvSpPr>
            <a:spLocks noGrp="1"/>
          </p:cNvSpPr>
          <p:nvPr/>
        </p:nvSpPr>
        <p:spPr>
          <a:xfrm>
            <a:off x="3765461" y="3324895"/>
            <a:ext cx="781050" cy="2857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3F6990C-94CF-4895-8292-07C3B6B9C600}"/>
              </a:ext>
            </a:extLst>
          </p:cNvPr>
          <p:cNvSpPr>
            <a:spLocks noGrp="1"/>
          </p:cNvSpPr>
          <p:nvPr/>
        </p:nvSpPr>
        <p:spPr>
          <a:xfrm>
            <a:off x="4546511" y="1667545"/>
            <a:ext cx="3086100" cy="3714750"/>
          </a:xfrm>
          <a:prstGeom prst="roundRect">
            <a:avLst>
              <a:gd name="adj" fmla="val 5556"/>
            </a:avLst>
          </a:prstGeom>
          <a:solidFill>
            <a:srgbClr val="F6FAFD"/>
          </a:solidFill>
          <a:ln w="15240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86CDA4A-8E46-4AF7-B2CA-48F714BC90A2}"/>
              </a:ext>
            </a:extLst>
          </p:cNvPr>
          <p:cNvSpPr>
            <a:spLocks noGrp="1"/>
          </p:cNvSpPr>
          <p:nvPr/>
        </p:nvSpPr>
        <p:spPr>
          <a:xfrm>
            <a:off x="4737011" y="1858045"/>
            <a:ext cx="2705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0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M2｜端到端流程</a:t>
            </a: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59309ED4-9E8B-43ED-9CCB-CA74F075CC92}"/>
              </a:ext>
            </a:extLst>
          </p:cNvPr>
          <p:cNvSpPr>
            <a:spLocks noGrp="1"/>
          </p:cNvSpPr>
          <p:nvPr/>
        </p:nvSpPr>
        <p:spPr>
          <a:xfrm>
            <a:off x="4737011" y="2372395"/>
            <a:ext cx="270510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300593A-ECAD-4588-B684-F82DD8928545}"/>
              </a:ext>
            </a:extLst>
          </p:cNvPr>
          <p:cNvSpPr>
            <a:spLocks noGrp="1"/>
          </p:cNvSpPr>
          <p:nvPr/>
        </p:nvSpPr>
        <p:spPr>
          <a:xfrm>
            <a:off x="4775111" y="2620045"/>
            <a:ext cx="262890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Ablation / LIME / RISE</a:t>
            </a:r>
          </a:p>
          <a:p>
            <a:pPr algn="l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数据检查与共同正确样本</a:t>
            </a:r>
            <a:endParaRPr sz="1600" b="1" dirty="0">
              <a:solidFill>
                <a:srgbClr val="17324D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1600" b="1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—</a:t>
            </a:r>
            <a:r>
              <a:rPr sz="160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模型</a:t>
            </a:r>
            <a:r>
              <a:rPr sz="1600" b="1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—</a:t>
            </a:r>
            <a:r>
              <a:rPr sz="160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归因</a:t>
            </a:r>
            <a:r>
              <a:rPr sz="1600" b="1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—</a:t>
            </a:r>
            <a:r>
              <a:rPr sz="160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评价</a:t>
            </a:r>
            <a:endParaRPr sz="1600" b="1" dirty="0">
              <a:solidFill>
                <a:srgbClr val="17324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C6C753F-A437-4EDC-9FCA-32123350E145}"/>
              </a:ext>
            </a:extLst>
          </p:cNvPr>
          <p:cNvSpPr>
            <a:spLocks noGrp="1"/>
          </p:cNvSpPr>
          <p:nvPr/>
        </p:nvSpPr>
        <p:spPr>
          <a:xfrm>
            <a:off x="4737011" y="4639345"/>
            <a:ext cx="2705100" cy="514350"/>
          </a:xfrm>
          <a:prstGeom prst="roundRect">
            <a:avLst>
              <a:gd name="adj" fmla="val 22222"/>
            </a:avLst>
          </a:prstGeom>
          <a:solidFill>
            <a:srgbClr val="1670D2"/>
          </a:solidFill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端到端流程验证</a:t>
            </a:r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7CB3D31C-9C4C-4C14-8999-65F947611578}"/>
              </a:ext>
            </a:extLst>
          </p:cNvPr>
          <p:cNvSpPr>
            <a:spLocks noGrp="1"/>
          </p:cNvSpPr>
          <p:nvPr/>
        </p:nvSpPr>
        <p:spPr>
          <a:xfrm>
            <a:off x="7632611" y="3324895"/>
            <a:ext cx="781050" cy="2857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3D4F089-F9FA-4AAD-A14B-79D965566981}"/>
              </a:ext>
            </a:extLst>
          </p:cNvPr>
          <p:cNvSpPr>
            <a:spLocks noGrp="1"/>
          </p:cNvSpPr>
          <p:nvPr/>
        </p:nvSpPr>
        <p:spPr>
          <a:xfrm>
            <a:off x="8413661" y="1667545"/>
            <a:ext cx="3086100" cy="3714750"/>
          </a:xfrm>
          <a:prstGeom prst="roundRect">
            <a:avLst>
              <a:gd name="adj" fmla="val 5556"/>
            </a:avLst>
          </a:prstGeom>
          <a:solidFill>
            <a:srgbClr val="002FA7"/>
          </a:solidFill>
          <a:ln w="15240">
            <a:solidFill>
              <a:srgbClr val="002FA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9C40C32-90DE-4F4A-84AA-73F00955D2D2}"/>
              </a:ext>
            </a:extLst>
          </p:cNvPr>
          <p:cNvSpPr>
            <a:spLocks noGrp="1"/>
          </p:cNvSpPr>
          <p:nvPr/>
        </p:nvSpPr>
        <p:spPr>
          <a:xfrm>
            <a:off x="8604161" y="1858045"/>
            <a:ext cx="2705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M3｜统一比较</a:t>
            </a:r>
          </a:p>
        </p:txBody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C580D9E0-7DBD-4AC4-92FD-FF029950A33C}"/>
              </a:ext>
            </a:extLst>
          </p:cNvPr>
          <p:cNvSpPr>
            <a:spLocks noGrp="1"/>
          </p:cNvSpPr>
          <p:nvPr/>
        </p:nvSpPr>
        <p:spPr>
          <a:xfrm>
            <a:off x="8604161" y="2372395"/>
            <a:ext cx="2705100" cy="0"/>
          </a:xfrm>
          <a:prstGeom prst="line">
            <a:avLst/>
          </a:prstGeom>
          <a:noFill/>
          <a:ln w="9525">
            <a:solidFill>
              <a:srgbClr val="6D91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1D49F05-E0AC-43A3-B63A-4E6777B93E1A}"/>
              </a:ext>
            </a:extLst>
          </p:cNvPr>
          <p:cNvSpPr>
            <a:spLocks noGrp="1"/>
          </p:cNvSpPr>
          <p:nvPr/>
        </p:nvSpPr>
        <p:spPr>
          <a:xfrm>
            <a:off x="8642261" y="2620045"/>
            <a:ext cx="262890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KernelSHAP</a:t>
            </a:r>
            <a:r>
              <a:rPr sz="16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✓</a:t>
            </a:r>
          </a:p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四方法统一接口</a:t>
            </a:r>
            <a:r>
              <a:rPr sz="16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✓</a:t>
            </a:r>
          </a:p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 </a:t>
            </a: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数据域</a:t>
            </a:r>
            <a:r>
              <a:rPr sz="16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× 2 </a:t>
            </a: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</a:t>
            </a:r>
            <a:r>
              <a:rPr sz="16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✓</a:t>
            </a:r>
          </a:p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四类评价</a:t>
            </a:r>
            <a:r>
              <a:rPr sz="16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✓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824644C-930B-4665-A9C4-D79644555065}"/>
              </a:ext>
            </a:extLst>
          </p:cNvPr>
          <p:cNvSpPr>
            <a:spLocks noGrp="1"/>
          </p:cNvSpPr>
          <p:nvPr/>
        </p:nvSpPr>
        <p:spPr>
          <a:xfrm>
            <a:off x="8604161" y="4639345"/>
            <a:ext cx="270510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第一轮可比较、可审计证据</a:t>
            </a:r>
          </a:p>
        </p:txBody>
      </p:sp>
    </p:spTree>
    <p:extLst>
      <p:ext uri="{BB962C8B-B14F-4D97-AF65-F5344CB8AC3E}">
        <p14:creationId xmlns:p14="http://schemas.microsoft.com/office/powerpoint/2010/main" val="3150173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>
            <a:extLst>
              <a:ext uri="{FF2B5EF4-FFF2-40B4-BE49-F238E27FC236}">
                <a16:creationId xmlns:a16="http://schemas.microsoft.com/office/drawing/2014/main" id="{7B75FCA3-326D-4F20-83B8-DD166698A753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57150" cy="381000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13F498-83F2-4933-8FD6-798FFBDBD32A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四种方法已接入统一实验链路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9268068-771D-4C1A-AEA4-13BFF975EA46}"/>
              </a:ext>
            </a:extLst>
          </p:cNvPr>
          <p:cNvSpPr>
            <a:spLocks noGrp="1"/>
          </p:cNvSpPr>
          <p:nvPr/>
        </p:nvSpPr>
        <p:spPr>
          <a:xfrm>
            <a:off x="624168" y="1818714"/>
            <a:ext cx="2438400" cy="1123950"/>
          </a:xfrm>
          <a:prstGeom prst="roundRect">
            <a:avLst>
              <a:gd name="adj" fmla="val 11864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C7365E3-7AD5-4BC7-BDEE-15E56FB0B81D}"/>
              </a:ext>
            </a:extLst>
          </p:cNvPr>
          <p:cNvSpPr>
            <a:spLocks noGrp="1"/>
          </p:cNvSpPr>
          <p:nvPr/>
        </p:nvSpPr>
        <p:spPr>
          <a:xfrm>
            <a:off x="624168" y="1818714"/>
            <a:ext cx="2438400" cy="114300"/>
          </a:xfrm>
          <a:prstGeom prst="roundRect">
            <a:avLst>
              <a:gd name="adj" fmla="val 50000"/>
            </a:avLst>
          </a:prstGeom>
          <a:solidFill>
            <a:srgbClr val="081D3A"/>
          </a:solidFill>
          <a:ln w="0">
            <a:solidFill>
              <a:srgbClr val="081D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9E89ACC-4D29-42AA-9EDB-D2660DD7C5D1}"/>
              </a:ext>
            </a:extLst>
          </p:cNvPr>
          <p:cNvSpPr>
            <a:spLocks noGrp="1"/>
          </p:cNvSpPr>
          <p:nvPr/>
        </p:nvSpPr>
        <p:spPr>
          <a:xfrm>
            <a:off x="795618" y="2047314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Ablation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F648113-9BEA-400B-A096-750B251F10C5}"/>
              </a:ext>
            </a:extLst>
          </p:cNvPr>
          <p:cNvSpPr>
            <a:spLocks noGrp="1"/>
          </p:cNvSpPr>
          <p:nvPr/>
        </p:nvSpPr>
        <p:spPr>
          <a:xfrm>
            <a:off x="795618" y="2428314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逐区域消融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D8365EE-D3E3-45DA-820A-FC4661EF62CD}"/>
              </a:ext>
            </a:extLst>
          </p:cNvPr>
          <p:cNvSpPr>
            <a:spLocks noGrp="1"/>
          </p:cNvSpPr>
          <p:nvPr/>
        </p:nvSpPr>
        <p:spPr>
          <a:xfrm>
            <a:off x="3481668" y="1818714"/>
            <a:ext cx="2438400" cy="1123950"/>
          </a:xfrm>
          <a:prstGeom prst="roundRect">
            <a:avLst>
              <a:gd name="adj" fmla="val 11864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CDB0C25-4C2C-4E1A-9C89-E77535269B8C}"/>
              </a:ext>
            </a:extLst>
          </p:cNvPr>
          <p:cNvSpPr>
            <a:spLocks noGrp="1"/>
          </p:cNvSpPr>
          <p:nvPr/>
        </p:nvSpPr>
        <p:spPr>
          <a:xfrm>
            <a:off x="3481668" y="1818714"/>
            <a:ext cx="2438400" cy="114300"/>
          </a:xfrm>
          <a:prstGeom prst="roundRect">
            <a:avLst>
              <a:gd name="adj" fmla="val 50000"/>
            </a:avLst>
          </a:prstGeom>
          <a:solidFill>
            <a:srgbClr val="002FA7"/>
          </a:solidFill>
          <a:ln w="0">
            <a:solidFill>
              <a:srgbClr val="002FA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9A1416E-D384-423B-810D-0284A370167D}"/>
              </a:ext>
            </a:extLst>
          </p:cNvPr>
          <p:cNvSpPr>
            <a:spLocks noGrp="1"/>
          </p:cNvSpPr>
          <p:nvPr/>
        </p:nvSpPr>
        <p:spPr>
          <a:xfrm>
            <a:off x="3653118" y="2047314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9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LIME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F72D39C-0AA8-4D6D-8CF8-C74C5941319F}"/>
              </a:ext>
            </a:extLst>
          </p:cNvPr>
          <p:cNvSpPr>
            <a:spLocks noGrp="1"/>
          </p:cNvSpPr>
          <p:nvPr/>
        </p:nvSpPr>
        <p:spPr>
          <a:xfrm>
            <a:off x="3653118" y="2428314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局部代理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32A3B1D-9835-4287-8381-F63F608EB3CE}"/>
              </a:ext>
            </a:extLst>
          </p:cNvPr>
          <p:cNvSpPr>
            <a:spLocks noGrp="1"/>
          </p:cNvSpPr>
          <p:nvPr/>
        </p:nvSpPr>
        <p:spPr>
          <a:xfrm>
            <a:off x="6339168" y="1818714"/>
            <a:ext cx="2438400" cy="1123950"/>
          </a:xfrm>
          <a:prstGeom prst="roundRect">
            <a:avLst>
              <a:gd name="adj" fmla="val 11864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461CE18-DCFD-457E-9456-E53D929D838F}"/>
              </a:ext>
            </a:extLst>
          </p:cNvPr>
          <p:cNvSpPr>
            <a:spLocks noGrp="1"/>
          </p:cNvSpPr>
          <p:nvPr/>
        </p:nvSpPr>
        <p:spPr>
          <a:xfrm>
            <a:off x="6339168" y="1818714"/>
            <a:ext cx="2438400" cy="114300"/>
          </a:xfrm>
          <a:prstGeom prst="roundRect">
            <a:avLst>
              <a:gd name="adj" fmla="val 50000"/>
            </a:avLst>
          </a:prstGeom>
          <a:solidFill>
            <a:srgbClr val="1670D2"/>
          </a:solidFill>
          <a:ln w="0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B71B8C2-2ABE-429B-8C86-9AD90BAE82AC}"/>
              </a:ext>
            </a:extLst>
          </p:cNvPr>
          <p:cNvSpPr>
            <a:spLocks noGrp="1"/>
          </p:cNvSpPr>
          <p:nvPr/>
        </p:nvSpPr>
        <p:spPr>
          <a:xfrm>
            <a:off x="6510618" y="2047314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9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RISE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F3E4FA4-2091-4157-9ED5-C92C67893C16}"/>
              </a:ext>
            </a:extLst>
          </p:cNvPr>
          <p:cNvSpPr>
            <a:spLocks noGrp="1"/>
          </p:cNvSpPr>
          <p:nvPr/>
        </p:nvSpPr>
        <p:spPr>
          <a:xfrm>
            <a:off x="6510618" y="2428314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随机软掩码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679A9929-F5E6-4E71-895E-3A59BC2C897D}"/>
              </a:ext>
            </a:extLst>
          </p:cNvPr>
          <p:cNvSpPr>
            <a:spLocks noGrp="1"/>
          </p:cNvSpPr>
          <p:nvPr/>
        </p:nvSpPr>
        <p:spPr>
          <a:xfrm>
            <a:off x="9196668" y="1818714"/>
            <a:ext cx="2438400" cy="1123950"/>
          </a:xfrm>
          <a:prstGeom prst="roundRect">
            <a:avLst>
              <a:gd name="adj" fmla="val 11864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F74740F-D727-4254-9E30-50ADCA90C727}"/>
              </a:ext>
            </a:extLst>
          </p:cNvPr>
          <p:cNvSpPr>
            <a:spLocks noGrp="1"/>
          </p:cNvSpPr>
          <p:nvPr/>
        </p:nvSpPr>
        <p:spPr>
          <a:xfrm>
            <a:off x="9196668" y="1818714"/>
            <a:ext cx="2438400" cy="114300"/>
          </a:xfrm>
          <a:prstGeom prst="roundRect">
            <a:avLst>
              <a:gd name="adj" fmla="val 50000"/>
            </a:avLst>
          </a:prstGeom>
          <a:solidFill>
            <a:srgbClr val="0799A9"/>
          </a:solidFill>
          <a:ln w="0">
            <a:solidFill>
              <a:srgbClr val="0799A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CE7427C-6B47-44EF-8B83-DF828EFFF630}"/>
              </a:ext>
            </a:extLst>
          </p:cNvPr>
          <p:cNvSpPr>
            <a:spLocks noGrp="1"/>
          </p:cNvSpPr>
          <p:nvPr/>
        </p:nvSpPr>
        <p:spPr>
          <a:xfrm>
            <a:off x="9368118" y="2047314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9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KernelSHAP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531C10A-F109-47AF-9E94-E5EFD81E3EF9}"/>
              </a:ext>
            </a:extLst>
          </p:cNvPr>
          <p:cNvSpPr>
            <a:spLocks noGrp="1"/>
          </p:cNvSpPr>
          <p:nvPr/>
        </p:nvSpPr>
        <p:spPr>
          <a:xfrm>
            <a:off x="9368118" y="2428314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Shapley 近似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D7F1C674-9B53-43B8-A466-1BE3F8EF8AED}"/>
              </a:ext>
            </a:extLst>
          </p:cNvPr>
          <p:cNvSpPr>
            <a:spLocks noGrp="1"/>
          </p:cNvSpPr>
          <p:nvPr/>
        </p:nvSpPr>
        <p:spPr>
          <a:xfrm>
            <a:off x="547968" y="3514164"/>
            <a:ext cx="15621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输入图像</a:t>
            </a:r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693430C2-C7ED-45DE-8410-C0F3A3DF779E}"/>
              </a:ext>
            </a:extLst>
          </p:cNvPr>
          <p:cNvSpPr>
            <a:spLocks noGrp="1"/>
          </p:cNvSpPr>
          <p:nvPr/>
        </p:nvSpPr>
        <p:spPr>
          <a:xfrm>
            <a:off x="2138643" y="3704664"/>
            <a:ext cx="30480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BD4F6396-3ECA-4FFD-82BD-9917D6B4FDA1}"/>
              </a:ext>
            </a:extLst>
          </p:cNvPr>
          <p:cNvSpPr>
            <a:spLocks noGrp="1"/>
          </p:cNvSpPr>
          <p:nvPr/>
        </p:nvSpPr>
        <p:spPr>
          <a:xfrm>
            <a:off x="2472018" y="3514164"/>
            <a:ext cx="15621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区域 / 随机网格</a:t>
            </a: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982ACCFE-839B-4125-81D5-04647836C574}"/>
              </a:ext>
            </a:extLst>
          </p:cNvPr>
          <p:cNvSpPr>
            <a:spLocks noGrp="1"/>
          </p:cNvSpPr>
          <p:nvPr/>
        </p:nvSpPr>
        <p:spPr>
          <a:xfrm>
            <a:off x="4062693" y="3704664"/>
            <a:ext cx="30480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1E86AEEC-0E05-4ABB-ACA8-2436D107672C}"/>
              </a:ext>
            </a:extLst>
          </p:cNvPr>
          <p:cNvSpPr>
            <a:spLocks noGrp="1"/>
          </p:cNvSpPr>
          <p:nvPr/>
        </p:nvSpPr>
        <p:spPr>
          <a:xfrm>
            <a:off x="4396068" y="3514164"/>
            <a:ext cx="15621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扰动 / 联盟采样</a:t>
            </a:r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037A36A1-E6A2-4E10-AB7D-B6AD59E6C21D}"/>
              </a:ext>
            </a:extLst>
          </p:cNvPr>
          <p:cNvSpPr>
            <a:spLocks noGrp="1"/>
          </p:cNvSpPr>
          <p:nvPr/>
        </p:nvSpPr>
        <p:spPr>
          <a:xfrm>
            <a:off x="5986743" y="3704664"/>
            <a:ext cx="30480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DBA3E707-16A6-40B2-9A94-B7C36C22387D}"/>
              </a:ext>
            </a:extLst>
          </p:cNvPr>
          <p:cNvSpPr>
            <a:spLocks noGrp="1"/>
          </p:cNvSpPr>
          <p:nvPr/>
        </p:nvSpPr>
        <p:spPr>
          <a:xfrm>
            <a:off x="6320118" y="3514164"/>
            <a:ext cx="1562100" cy="590550"/>
          </a:xfrm>
          <a:prstGeom prst="roundRect">
            <a:avLst>
              <a:gd name="adj" fmla="val 19355"/>
            </a:avLst>
          </a:prstGeom>
          <a:solidFill>
            <a:srgbClr val="EAF3FB"/>
          </a:solidFill>
          <a:ln w="9525">
            <a:solidFill>
              <a:srgbClr val="1670D2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模型 pre-Softmax logit</a:t>
            </a:r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F5E86A6A-B1B6-487E-B0B2-3DFFCA92F9C7}"/>
              </a:ext>
            </a:extLst>
          </p:cNvPr>
          <p:cNvSpPr>
            <a:spLocks noGrp="1"/>
          </p:cNvSpPr>
          <p:nvPr/>
        </p:nvSpPr>
        <p:spPr>
          <a:xfrm>
            <a:off x="7910793" y="3704664"/>
            <a:ext cx="30480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60167160-7576-42E3-95CA-2801D932E4FF}"/>
              </a:ext>
            </a:extLst>
          </p:cNvPr>
          <p:cNvSpPr>
            <a:spLocks noGrp="1"/>
          </p:cNvSpPr>
          <p:nvPr/>
        </p:nvSpPr>
        <p:spPr>
          <a:xfrm>
            <a:off x="8244168" y="3514164"/>
            <a:ext cx="15621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有符号归因</a:t>
            </a:r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4A7D66B1-9FFA-4CAB-A658-AF47540D05CC}"/>
              </a:ext>
            </a:extLst>
          </p:cNvPr>
          <p:cNvSpPr>
            <a:spLocks noGrp="1"/>
          </p:cNvSpPr>
          <p:nvPr/>
        </p:nvSpPr>
        <p:spPr>
          <a:xfrm>
            <a:off x="9834843" y="3704664"/>
            <a:ext cx="30480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87BF9A54-D48B-42E0-9B2D-842BC2667577}"/>
              </a:ext>
            </a:extLst>
          </p:cNvPr>
          <p:cNvSpPr>
            <a:spLocks noGrp="1"/>
          </p:cNvSpPr>
          <p:nvPr/>
        </p:nvSpPr>
        <p:spPr>
          <a:xfrm>
            <a:off x="10168218" y="3514164"/>
            <a:ext cx="15621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统一评价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C68D822-1552-4F64-A53F-4D152EB95465}"/>
              </a:ext>
            </a:extLst>
          </p:cNvPr>
          <p:cNvSpPr>
            <a:spLocks noGrp="1"/>
          </p:cNvSpPr>
          <p:nvPr/>
        </p:nvSpPr>
        <p:spPr>
          <a:xfrm>
            <a:off x="719418" y="4466664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统一实验</a:t>
            </a:r>
            <a:r>
              <a:rPr lang="zh-CN" altLang="en-US" sz="1600" b="1" dirty="0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参数</a:t>
            </a:r>
            <a:endParaRPr sz="1600" b="1" dirty="0">
              <a:solidFill>
                <a:srgbClr val="081D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" name="直接连接符 36">
            <a:extLst>
              <a:ext uri="{FF2B5EF4-FFF2-40B4-BE49-F238E27FC236}">
                <a16:creationId xmlns:a16="http://schemas.microsoft.com/office/drawing/2014/main" id="{417D399D-CE51-43B5-A2DC-E61BA600959C}"/>
              </a:ext>
            </a:extLst>
          </p:cNvPr>
          <p:cNvSpPr>
            <a:spLocks noGrp="1"/>
          </p:cNvSpPr>
          <p:nvPr/>
        </p:nvSpPr>
        <p:spPr>
          <a:xfrm>
            <a:off x="2129118" y="4619064"/>
            <a:ext cx="941070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2D60D6A4-2C6E-4431-B9DE-02E8A16B2555}"/>
              </a:ext>
            </a:extLst>
          </p:cNvPr>
          <p:cNvSpPr>
            <a:spLocks noGrp="1"/>
          </p:cNvSpPr>
          <p:nvPr/>
        </p:nvSpPr>
        <p:spPr>
          <a:xfrm>
            <a:off x="719418" y="4923864"/>
            <a:ext cx="1924050" cy="323850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统一样本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D5E0CF97-2DE4-429D-8A48-60F4C425BE34}"/>
              </a:ext>
            </a:extLst>
          </p:cNvPr>
          <p:cNvSpPr>
            <a:spLocks noGrp="1"/>
          </p:cNvSpPr>
          <p:nvPr/>
        </p:nvSpPr>
        <p:spPr>
          <a:xfrm>
            <a:off x="2872068" y="4923864"/>
            <a:ext cx="1924050" cy="323850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统一输出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7544D6D8-68FB-4DC0-BA18-60B891887735}"/>
              </a:ext>
            </a:extLst>
          </p:cNvPr>
          <p:cNvSpPr>
            <a:spLocks noGrp="1"/>
          </p:cNvSpPr>
          <p:nvPr/>
        </p:nvSpPr>
        <p:spPr>
          <a:xfrm>
            <a:off x="5024718" y="4923864"/>
            <a:ext cx="1924050" cy="323850"/>
          </a:xfrm>
          <a:prstGeom prst="roundRect">
            <a:avLst>
              <a:gd name="adj" fmla="val 50000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统一预算记录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7CE4D732-419A-4CA5-B98A-7A440193CC2F}"/>
              </a:ext>
            </a:extLst>
          </p:cNvPr>
          <p:cNvSpPr>
            <a:spLocks noGrp="1"/>
          </p:cNvSpPr>
          <p:nvPr/>
        </p:nvSpPr>
        <p:spPr>
          <a:xfrm>
            <a:off x="7177368" y="4923864"/>
            <a:ext cx="1924050" cy="323850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统一计时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830F8CC2-45E6-45D6-AE00-1F7625181338}"/>
              </a:ext>
            </a:extLst>
          </p:cNvPr>
          <p:cNvSpPr>
            <a:spLocks noGrp="1"/>
          </p:cNvSpPr>
          <p:nvPr/>
        </p:nvSpPr>
        <p:spPr>
          <a:xfrm>
            <a:off x="9330018" y="4923864"/>
            <a:ext cx="1924050" cy="323850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统一结果格式</a:t>
            </a:r>
          </a:p>
        </p:txBody>
      </p:sp>
    </p:spTree>
    <p:extLst>
      <p:ext uri="{BB962C8B-B14F-4D97-AF65-F5344CB8AC3E}">
        <p14:creationId xmlns:p14="http://schemas.microsoft.com/office/powerpoint/2010/main" val="1678027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85800" y="429768"/>
            <a:ext cx="54864" cy="356616"/>
          </a:xfrm>
          <a:prstGeom prst="rect">
            <a:avLst/>
          </a:prstGeom>
          <a:solidFill>
            <a:srgbClr val="10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365760"/>
            <a:ext cx="9692640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081D3A"/>
                </a:solidFill>
                <a:latin typeface="Microsoft YaHei"/>
              </a:defRPr>
            </a:pPr>
            <a:r>
              <a:t>M3 已完成第一轮统一实验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40760"/>
            <a:ext cx="10698480" cy="2215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61758B"/>
                </a:solidFill>
                <a:latin typeface="Microsoft YaHei"/>
              </a:defRPr>
            </a:pPr>
            <a:r>
              <a:rPr dirty="0" err="1"/>
              <a:t>结果完整、可比、可审计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13232" y="1713027"/>
            <a:ext cx="438912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002FA7"/>
                </a:solidFill>
                <a:latin typeface="Microsoft YaHei"/>
              </a:defRPr>
            </a:pPr>
            <a:r>
              <a:t>2 数据域 × 2 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2" y="2140615"/>
            <a:ext cx="1417320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081D3A"/>
                </a:solidFill>
                <a:latin typeface="Microsoft YaHei"/>
              </a:defRPr>
            </a:pPr>
            <a:r>
              <a:t>ResNet-50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6744" y="2140615"/>
            <a:ext cx="1417320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081D3A"/>
                </a:solidFill>
                <a:latin typeface="Microsoft YaHei"/>
              </a:defRPr>
            </a:pPr>
            <a:r>
              <a:t>VGG13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588980"/>
            <a:ext cx="1280160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670D2"/>
                </a:solidFill>
                <a:latin typeface="Microsoft YaHei"/>
              </a:defRPr>
            </a:pPr>
            <a:r>
              <a:rPr dirty="0"/>
              <a:t>ImageNet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76272" y="2487709"/>
            <a:ext cx="1417320" cy="493776"/>
          </a:xfrm>
          <a:prstGeom prst="roundRect">
            <a:avLst>
              <a:gd name="adj" fmla="val 12000"/>
            </a:avLst>
          </a:prstGeom>
          <a:solidFill>
            <a:srgbClr val="16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76272" y="2595676"/>
            <a:ext cx="1417320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✓ </a:t>
            </a:r>
            <a:r>
              <a:rPr dirty="0" err="1"/>
              <a:t>已完成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3666744" y="2487709"/>
            <a:ext cx="1417320" cy="493776"/>
          </a:xfrm>
          <a:prstGeom prst="roundRect">
            <a:avLst>
              <a:gd name="adj" fmla="val 12000"/>
            </a:avLst>
          </a:prstGeom>
          <a:solidFill>
            <a:srgbClr val="16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66744" y="2595676"/>
            <a:ext cx="1417320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✓ 已完成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238204"/>
            <a:ext cx="1280160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0799A9"/>
                </a:solidFill>
                <a:latin typeface="Microsoft YaHei"/>
              </a:defRPr>
            </a:pPr>
            <a:r>
              <a:t>CHNCXR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76272" y="3136933"/>
            <a:ext cx="1417320" cy="493776"/>
          </a:xfrm>
          <a:prstGeom prst="roundRect">
            <a:avLst>
              <a:gd name="adj" fmla="val 12000"/>
            </a:avLst>
          </a:prstGeom>
          <a:solidFill>
            <a:srgbClr val="079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76272" y="3244900"/>
            <a:ext cx="1417320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✓ 已完成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66744" y="3136933"/>
            <a:ext cx="1417320" cy="493776"/>
          </a:xfrm>
          <a:prstGeom prst="roundRect">
            <a:avLst>
              <a:gd name="adj" fmla="val 12000"/>
            </a:avLst>
          </a:prstGeom>
          <a:solidFill>
            <a:srgbClr val="079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66744" y="3244900"/>
            <a:ext cx="1417320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✓ 已完成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0749"/>
            <a:ext cx="2331720" cy="1152144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3232" y="3950749"/>
            <a:ext cx="2331720" cy="82296"/>
          </a:xfrm>
          <a:prstGeom prst="rect">
            <a:avLst/>
          </a:prstGeom>
          <a:solidFill>
            <a:srgbClr val="16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" y="4170412"/>
            <a:ext cx="2039112" cy="25237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670D2"/>
                </a:solidFill>
                <a:latin typeface="Microsoft YaHei"/>
              </a:defRPr>
            </a:pPr>
            <a:r>
              <a:t>ImageNet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4508533"/>
            <a:ext cx="2039112" cy="37548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7324D"/>
                </a:solidFill>
                <a:latin typeface="Microsoft YaHei"/>
              </a:defRPr>
            </a:pPr>
            <a:r>
              <a:t>候选 500｜共同正确 374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17324D"/>
                </a:solidFill>
                <a:latin typeface="Microsoft YaHei"/>
              </a:defRPr>
            </a:pPr>
            <a:r>
              <a:t>本阶段固定 10 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91256" y="3950749"/>
            <a:ext cx="2331720" cy="1152144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191256" y="3950749"/>
            <a:ext cx="2331720" cy="82296"/>
          </a:xfrm>
          <a:prstGeom prst="rect">
            <a:avLst/>
          </a:prstGeom>
          <a:solidFill>
            <a:srgbClr val="079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37560" y="4170412"/>
            <a:ext cx="2039112" cy="25237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799A9"/>
                </a:solidFill>
                <a:latin typeface="Microsoft YaHei"/>
              </a:defRPr>
            </a:pPr>
            <a:r>
              <a:t>CHNCXR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4508533"/>
            <a:ext cx="2039112" cy="37548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7324D"/>
                </a:solidFill>
                <a:latin typeface="Microsoft YaHei"/>
              </a:defRPr>
            </a:pPr>
            <a:r>
              <a:t>候选 662｜共同正确 434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17324D"/>
                </a:solidFill>
                <a:latin typeface="Microsoft YaHei"/>
              </a:defRPr>
            </a:pPr>
            <a:r>
              <a:t>固定 10：5 阳性、5 阴性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0176" y="1271551"/>
            <a:ext cx="5239512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002FA7"/>
                </a:solidFill>
                <a:latin typeface="Microsoft YaHei"/>
              </a:defRPr>
            </a:pPr>
            <a:r>
              <a:rPr dirty="0" err="1"/>
              <a:t>第一轮运行规模</a:t>
            </a:r>
            <a:endParaRPr dirty="0"/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82CE6E78-FC93-2C49-6F05-5A7408491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233" y="1683409"/>
            <a:ext cx="5121673" cy="1094551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114BFE9E-0FBF-36A2-6BB4-5F9B4D164D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5" y="3415825"/>
            <a:ext cx="4811089" cy="1152144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FA2E1951-91B4-1854-6440-C607629565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75" y="4567969"/>
            <a:ext cx="4811089" cy="1757993"/>
          </a:xfrm>
          <a:prstGeom prst="rect">
            <a:avLst/>
          </a:prstGeom>
        </p:spPr>
      </p:pic>
      <p:sp>
        <p:nvSpPr>
          <p:cNvPr id="56" name="TextBox 28">
            <a:extLst>
              <a:ext uri="{FF2B5EF4-FFF2-40B4-BE49-F238E27FC236}">
                <a16:creationId xmlns:a16="http://schemas.microsoft.com/office/drawing/2014/main" id="{B3566423-F4FD-A572-98FE-63562F0DE7D3}"/>
              </a:ext>
            </a:extLst>
          </p:cNvPr>
          <p:cNvSpPr txBox="1"/>
          <p:nvPr/>
        </p:nvSpPr>
        <p:spPr>
          <a:xfrm>
            <a:off x="5980176" y="3016293"/>
            <a:ext cx="5239512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002FA7"/>
                </a:solidFill>
                <a:latin typeface="Microsoft YaHei"/>
              </a:defRPr>
            </a:pPr>
            <a:r>
              <a:rPr dirty="0" err="1"/>
              <a:t>第一轮</a:t>
            </a:r>
            <a:r>
              <a:rPr lang="zh-CN" altLang="en-US" dirty="0"/>
              <a:t>默认实验参数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5331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429768"/>
            <a:ext cx="54864" cy="356616"/>
          </a:xfrm>
          <a:prstGeom prst="rect">
            <a:avLst/>
          </a:prstGeom>
          <a:solidFill>
            <a:srgbClr val="10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365760"/>
            <a:ext cx="9692640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081D3A"/>
                </a:solidFill>
                <a:latin typeface="Microsoft YaHei"/>
              </a:defRPr>
            </a:pPr>
            <a:r>
              <a:t>初步结果总览：四类差异已经出现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40760"/>
            <a:ext cx="10698480" cy="2215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61758B"/>
                </a:solidFill>
                <a:latin typeface="Microsoft YaHei"/>
              </a:defRPr>
            </a:pPr>
            <a:r>
              <a:rPr dirty="0" err="1"/>
              <a:t>结果章节导航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1489130"/>
            <a:ext cx="10716768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081D3A"/>
                </a:solidFill>
                <a:latin typeface="Microsoft YaHei"/>
              </a:defRPr>
            </a:pPr>
            <a:r>
              <a:t>不同方法没有单一总冠军，而是呈现出明显的互补优势。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304288"/>
            <a:ext cx="5303520" cy="1325880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2304288"/>
            <a:ext cx="5303520" cy="82296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2468880"/>
            <a:ext cx="224028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02FA7"/>
                </a:solidFill>
                <a:latin typeface="Microsoft YaHei"/>
              </a:defRPr>
            </a:pPr>
            <a:r>
              <a:t>01｜忠实性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779776"/>
            <a:ext cx="4965192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1758B"/>
                </a:solidFill>
                <a:latin typeface="Microsoft YaHei"/>
              </a:defRPr>
            </a:pPr>
            <a:r>
              <a:t>谁更接近模型决策依据？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108960"/>
            <a:ext cx="43434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81D3A"/>
                </a:solidFill>
                <a:latin typeface="Microsoft YaHei"/>
              </a:defRPr>
            </a:pPr>
            <a:r>
              <a:t>LIME 与 KernelSHAP 构成当前领先组。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48656" y="2468880"/>
            <a:ext cx="594360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002FA7"/>
                </a:solidFill>
                <a:latin typeface="Microsoft YaHei"/>
              </a:defRPr>
            </a:pPr>
            <a:r>
              <a:t>第 7 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5624" y="2304288"/>
            <a:ext cx="5303520" cy="1325880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35624" y="2304288"/>
            <a:ext cx="5303520" cy="82296"/>
          </a:xfrm>
          <a:prstGeom prst="rect">
            <a:avLst/>
          </a:prstGeom>
          <a:solidFill>
            <a:srgbClr val="16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0216" y="2468880"/>
            <a:ext cx="224028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670D2"/>
                </a:solidFill>
                <a:latin typeface="Microsoft YaHei"/>
              </a:defRPr>
            </a:pPr>
            <a:r>
              <a:t>02｜稳定性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2779776"/>
            <a:ext cx="4965192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1758B"/>
                </a:solidFill>
                <a:latin typeface="Microsoft YaHei"/>
              </a:defRPr>
            </a:pPr>
            <a:r>
              <a:t>谁的解释结果更稳定？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3108960"/>
            <a:ext cx="43434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81D3A"/>
                </a:solidFill>
                <a:latin typeface="Microsoft YaHei"/>
              </a:defRPr>
            </a:pPr>
            <a:r>
              <a:t>RISE 在两种稳定性检验中均最突出。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71048" y="2468880"/>
            <a:ext cx="594360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1670D2"/>
                </a:solidFill>
                <a:latin typeface="Microsoft YaHei"/>
              </a:defRPr>
            </a:pPr>
            <a:r>
              <a:t>第 8 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858768"/>
            <a:ext cx="5303520" cy="1325880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13232" y="3858768"/>
            <a:ext cx="5303520" cy="82296"/>
          </a:xfrm>
          <a:prstGeom prst="rect">
            <a:avLst/>
          </a:prstGeom>
          <a:solidFill>
            <a:srgbClr val="079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7824" y="4023359"/>
            <a:ext cx="224028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799A9"/>
                </a:solidFill>
                <a:latin typeface="Microsoft YaHei"/>
              </a:defRPr>
            </a:pPr>
            <a:r>
              <a:t>03｜效率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4334256"/>
            <a:ext cx="4965192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1758B"/>
                </a:solidFill>
                <a:latin typeface="Microsoft YaHei"/>
              </a:defRPr>
            </a:pPr>
            <a:r>
              <a:t>稳定解释需要多少时间？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663440"/>
            <a:ext cx="43434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81D3A"/>
                </a:solidFill>
                <a:latin typeface="Microsoft YaHei"/>
              </a:defRPr>
            </a:pPr>
            <a:r>
              <a:t>Ablation 最快，RISE 最慢。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48656" y="4023359"/>
            <a:ext cx="594360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0799A9"/>
                </a:solidFill>
                <a:latin typeface="Microsoft YaHei"/>
              </a:defRPr>
            </a:pPr>
            <a:r>
              <a:t>第 9 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35624" y="3858768"/>
            <a:ext cx="5303520" cy="1325880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35624" y="3858768"/>
            <a:ext cx="5303520" cy="82296"/>
          </a:xfrm>
          <a:prstGeom prst="rect">
            <a:avLst/>
          </a:prstGeom>
          <a:solidFill>
            <a:srgbClr val="F47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0216" y="4023359"/>
            <a:ext cx="224028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47A24"/>
                </a:solidFill>
                <a:latin typeface="Microsoft YaHei"/>
              </a:defRPr>
            </a:pPr>
            <a:r>
              <a:t>04｜定位性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216" y="4334256"/>
            <a:ext cx="4965192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1758B"/>
                </a:solidFill>
                <a:latin typeface="Microsoft YaHei"/>
              </a:defRPr>
            </a:pPr>
            <a:r>
              <a:t>热图是否落在目标区域？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216" y="4663440"/>
            <a:ext cx="43434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81D3A"/>
                </a:solidFill>
                <a:latin typeface="Microsoft YaHei"/>
              </a:defRPr>
            </a:pPr>
            <a:r>
              <a:t>ImageNet 可观察定位，CHNCXR 当前接近失效。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71048" y="4023359"/>
            <a:ext cx="594360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F47A24"/>
                </a:solidFill>
                <a:latin typeface="Microsoft YaHei"/>
              </a:defRPr>
            </a:pPr>
            <a:r>
              <a:t>第 10 页</a:t>
            </a:r>
          </a:p>
        </p:txBody>
      </p:sp>
    </p:spTree>
    <p:extLst>
      <p:ext uri="{BB962C8B-B14F-4D97-AF65-F5344CB8AC3E}">
        <p14:creationId xmlns:p14="http://schemas.microsoft.com/office/powerpoint/2010/main" val="2089282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85800" y="429768"/>
            <a:ext cx="54864" cy="356616"/>
          </a:xfrm>
          <a:prstGeom prst="rect">
            <a:avLst/>
          </a:prstGeom>
          <a:solidFill>
            <a:srgbClr val="10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381860"/>
            <a:ext cx="9692640" cy="4524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081D3A"/>
                </a:solidFill>
                <a:latin typeface="Microsoft YaHei"/>
              </a:defRPr>
            </a:pPr>
            <a:r>
              <a:rPr dirty="0" err="1"/>
              <a:t>忠实性结果：LIME</a:t>
            </a:r>
            <a:r>
              <a:rPr lang="en-US" dirty="0"/>
              <a:t> </a:t>
            </a:r>
            <a:r>
              <a:rPr lang="zh-CN" altLang="en-US" dirty="0"/>
              <a:t>领先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13232" y="1069848"/>
            <a:ext cx="178308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02FA7"/>
                </a:solidFill>
                <a:latin typeface="Microsoft YaHei"/>
              </a:defRPr>
            </a:pPr>
            <a:r>
              <a:t>默认设置下的初步结果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94726" y="2028622"/>
            <a:ext cx="3122018" cy="1307592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94726" y="2028622"/>
            <a:ext cx="3122018" cy="82296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41030" y="2248456"/>
            <a:ext cx="3483864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002FA7"/>
                </a:solidFill>
                <a:latin typeface="Microsoft YaHei"/>
              </a:defRPr>
            </a:pPr>
            <a:r>
              <a:rPr lang="en-US" dirty="0"/>
              <a:t>LIME</a:t>
            </a:r>
            <a:r>
              <a:rPr lang="zh-CN" altLang="en-US" dirty="0"/>
              <a:t>的</a:t>
            </a:r>
            <a:r>
              <a:rPr dirty="0" err="1"/>
              <a:t>总体领先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8641030" y="2586406"/>
            <a:ext cx="3483864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17324D"/>
                </a:solidFill>
                <a:latin typeface="Microsoft YaHei"/>
              </a:defRPr>
            </a:pPr>
            <a:r>
              <a:rPr sz="1200" dirty="0"/>
              <a:t>Insert</a:t>
            </a:r>
            <a:r>
              <a:rPr lang="en-US" sz="1200" dirty="0"/>
              <a:t>ion</a:t>
            </a:r>
            <a:r>
              <a:rPr lang="zh-CN" altLang="en-US" sz="1200" dirty="0"/>
              <a:t> 领先</a:t>
            </a:r>
            <a:endParaRPr lang="en-US" sz="1200" dirty="0"/>
          </a:p>
          <a:p>
            <a:pPr algn="l">
              <a:spcAft>
                <a:spcPts val="0"/>
              </a:spcAft>
              <a:defRPr sz="1050" b="0">
                <a:solidFill>
                  <a:srgbClr val="17324D"/>
                </a:solidFill>
                <a:latin typeface="Microsoft YaHei"/>
              </a:defRPr>
            </a:pPr>
            <a:r>
              <a:rPr lang="en-US" sz="1200" dirty="0"/>
              <a:t>Deletion </a:t>
            </a:r>
            <a:r>
              <a:rPr lang="zh-CN" altLang="en-US" sz="1200" dirty="0"/>
              <a:t>领先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94726" y="3670941"/>
            <a:ext cx="3122018" cy="1307592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494726" y="3670941"/>
            <a:ext cx="3122018" cy="82296"/>
          </a:xfrm>
          <a:prstGeom prst="rect">
            <a:avLst/>
          </a:prstGeom>
          <a:solidFill>
            <a:srgbClr val="079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41030" y="3853821"/>
            <a:ext cx="3483864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0799A9"/>
                </a:solidFill>
                <a:latin typeface="Microsoft YaHei"/>
              </a:defRPr>
            </a:pPr>
            <a:r>
              <a:t>RISE 当前不占优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30" y="4228725"/>
            <a:ext cx="3483864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17324D"/>
                </a:solidFill>
                <a:latin typeface="Microsoft YaHei"/>
              </a:defRPr>
            </a:pPr>
            <a:r>
              <a:rPr sz="1200" dirty="0" err="1"/>
              <a:t>四个组合下忠实性低于领先组</a:t>
            </a:r>
            <a:endParaRPr sz="120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589B7FFC-5188-125E-D093-190C2AC282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620"/>
          <a:stretch>
            <a:fillRect/>
          </a:stretch>
        </p:blipFill>
        <p:spPr>
          <a:xfrm>
            <a:off x="105080" y="1808344"/>
            <a:ext cx="8153705" cy="345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018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7136B-C8F1-0C5A-FF2D-49B3B4F06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63C821C-2827-9DEE-0E1F-865E135001EA}"/>
              </a:ext>
            </a:extLst>
          </p:cNvPr>
          <p:cNvSpPr/>
          <p:nvPr/>
        </p:nvSpPr>
        <p:spPr>
          <a:xfrm>
            <a:off x="685800" y="429768"/>
            <a:ext cx="54864" cy="356616"/>
          </a:xfrm>
          <a:prstGeom prst="rect">
            <a:avLst/>
          </a:prstGeom>
          <a:solidFill>
            <a:srgbClr val="10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A45039-BDBE-1F77-9A75-7FA02F848517}"/>
              </a:ext>
            </a:extLst>
          </p:cNvPr>
          <p:cNvSpPr txBox="1"/>
          <p:nvPr/>
        </p:nvSpPr>
        <p:spPr>
          <a:xfrm>
            <a:off x="850392" y="381860"/>
            <a:ext cx="9692640" cy="4524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081D3A"/>
                </a:solidFill>
                <a:latin typeface="Microsoft YaHei"/>
              </a:defRPr>
            </a:pPr>
            <a:r>
              <a:rPr dirty="0" err="1"/>
              <a:t>忠实性结果：LIME</a:t>
            </a:r>
            <a:r>
              <a:rPr lang="en-US" dirty="0"/>
              <a:t> </a:t>
            </a:r>
            <a:r>
              <a:rPr lang="zh-CN" altLang="en-US" dirty="0"/>
              <a:t>领先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631BD6-FB1E-D166-B58B-06E900395447}"/>
              </a:ext>
            </a:extLst>
          </p:cNvPr>
          <p:cNvSpPr txBox="1"/>
          <p:nvPr/>
        </p:nvSpPr>
        <p:spPr>
          <a:xfrm>
            <a:off x="713232" y="1069848"/>
            <a:ext cx="178308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02FA7"/>
                </a:solidFill>
                <a:latin typeface="Microsoft YaHei"/>
              </a:defRPr>
            </a:pPr>
            <a:r>
              <a:t>默认设置下的初步结果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CDB044C-2C85-7363-D07E-837B51BAA103}"/>
              </a:ext>
            </a:extLst>
          </p:cNvPr>
          <p:cNvSpPr/>
          <p:nvPr/>
        </p:nvSpPr>
        <p:spPr>
          <a:xfrm>
            <a:off x="8494726" y="2028622"/>
            <a:ext cx="3122018" cy="1307592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D2AB78-F7D6-4E38-668B-34695A281AFE}"/>
              </a:ext>
            </a:extLst>
          </p:cNvPr>
          <p:cNvSpPr/>
          <p:nvPr/>
        </p:nvSpPr>
        <p:spPr>
          <a:xfrm>
            <a:off x="8494726" y="2028622"/>
            <a:ext cx="3122018" cy="82296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AB9067-2BF6-BBBD-F92F-27C89F4033D5}"/>
              </a:ext>
            </a:extLst>
          </p:cNvPr>
          <p:cNvSpPr txBox="1"/>
          <p:nvPr/>
        </p:nvSpPr>
        <p:spPr>
          <a:xfrm>
            <a:off x="8641030" y="2248456"/>
            <a:ext cx="3483864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002FA7"/>
                </a:solidFill>
                <a:latin typeface="Microsoft YaHei"/>
              </a:defRPr>
            </a:pPr>
            <a:r>
              <a:rPr lang="en-US" dirty="0"/>
              <a:t>LIME</a:t>
            </a:r>
            <a:r>
              <a:rPr lang="zh-CN" altLang="en-US" dirty="0"/>
              <a:t>的</a:t>
            </a:r>
            <a:r>
              <a:rPr dirty="0" err="1"/>
              <a:t>总体领先</a:t>
            </a: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46A62F-FF0E-4E1F-0CB3-CE21260E5492}"/>
              </a:ext>
            </a:extLst>
          </p:cNvPr>
          <p:cNvSpPr txBox="1"/>
          <p:nvPr/>
        </p:nvSpPr>
        <p:spPr>
          <a:xfrm>
            <a:off x="8641030" y="2586406"/>
            <a:ext cx="3483864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17324D"/>
                </a:solidFill>
                <a:latin typeface="Microsoft YaHei"/>
              </a:defRPr>
            </a:pPr>
            <a:r>
              <a:rPr sz="1200" dirty="0"/>
              <a:t>Insert</a:t>
            </a:r>
            <a:r>
              <a:rPr lang="en-US" sz="1200" dirty="0"/>
              <a:t>ion</a:t>
            </a:r>
            <a:r>
              <a:rPr lang="zh-CN" altLang="en-US" sz="1200" dirty="0"/>
              <a:t> 领先</a:t>
            </a:r>
            <a:endParaRPr lang="en-US" sz="1200" dirty="0"/>
          </a:p>
          <a:p>
            <a:pPr algn="l">
              <a:spcAft>
                <a:spcPts val="0"/>
              </a:spcAft>
              <a:defRPr sz="1050" b="0">
                <a:solidFill>
                  <a:srgbClr val="17324D"/>
                </a:solidFill>
                <a:latin typeface="Microsoft YaHei"/>
              </a:defRPr>
            </a:pPr>
            <a:r>
              <a:rPr lang="en-US" sz="1200" dirty="0"/>
              <a:t>Deletion </a:t>
            </a:r>
            <a:r>
              <a:rPr lang="zh-CN" altLang="en-US" sz="1200" dirty="0"/>
              <a:t>领先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D508DB1-64FE-38E9-DA9B-5DB3A112F0B9}"/>
              </a:ext>
            </a:extLst>
          </p:cNvPr>
          <p:cNvSpPr/>
          <p:nvPr/>
        </p:nvSpPr>
        <p:spPr>
          <a:xfrm>
            <a:off x="8494726" y="3670941"/>
            <a:ext cx="3122018" cy="1307592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2CD9E8-0256-B652-0054-0D40ABC3BD8F}"/>
              </a:ext>
            </a:extLst>
          </p:cNvPr>
          <p:cNvSpPr/>
          <p:nvPr/>
        </p:nvSpPr>
        <p:spPr>
          <a:xfrm>
            <a:off x="8494726" y="3670941"/>
            <a:ext cx="3122018" cy="82296"/>
          </a:xfrm>
          <a:prstGeom prst="rect">
            <a:avLst/>
          </a:prstGeom>
          <a:solidFill>
            <a:srgbClr val="079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0ACC21-F47B-36F8-6946-4EFE9BD2D869}"/>
              </a:ext>
            </a:extLst>
          </p:cNvPr>
          <p:cNvSpPr txBox="1"/>
          <p:nvPr/>
        </p:nvSpPr>
        <p:spPr>
          <a:xfrm>
            <a:off x="8641030" y="3853821"/>
            <a:ext cx="3483864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0799A9"/>
                </a:solidFill>
                <a:latin typeface="Microsoft YaHei"/>
              </a:defRPr>
            </a:pPr>
            <a:r>
              <a:t>RISE 当前不占优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D42733-162A-6E2C-16DB-ADD9665B402D}"/>
              </a:ext>
            </a:extLst>
          </p:cNvPr>
          <p:cNvSpPr txBox="1"/>
          <p:nvPr/>
        </p:nvSpPr>
        <p:spPr>
          <a:xfrm>
            <a:off x="8641030" y="4228725"/>
            <a:ext cx="3483864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17324D"/>
                </a:solidFill>
                <a:latin typeface="Microsoft YaHei"/>
              </a:defRPr>
            </a:pPr>
            <a:r>
              <a:rPr sz="1200" dirty="0" err="1"/>
              <a:t>四个组合下忠实性低于领先组</a:t>
            </a:r>
            <a:endParaRPr sz="12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EA7FA87-EFDC-C2D9-246F-0563E1762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996" y="1335202"/>
            <a:ext cx="6459061" cy="5182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532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7A463967-42A3-4A4A-A44A-C03FC9AF2500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57150" cy="381000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BD9F4B8-DACA-4E76-9012-512846CFB1CC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>
              <a:defRPr sz="2700" b="1">
                <a:solidFill>
                  <a:srgbClr val="081D3A"/>
                </a:solidFill>
                <a:latin typeface="Microsoft YaHei"/>
              </a:defRPr>
            </a:pPr>
            <a:r>
              <a:rPr lang="zh-CN" altLang="en-US" sz="2700" dirty="0"/>
              <a:t>稳定性结果：</a:t>
            </a:r>
            <a:r>
              <a:rPr lang="en-US" altLang="zh-CN" sz="2700" dirty="0"/>
              <a:t>RISE</a:t>
            </a:r>
            <a:r>
              <a:rPr lang="zh-CN" altLang="en-US" sz="2700" dirty="0"/>
              <a:t> 的核心优势是更稳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628E37-8A4D-4F21-AA0D-3C6C4617C6BB}"/>
              </a:ext>
            </a:extLst>
          </p:cNvPr>
          <p:cNvSpPr>
            <a:spLocks noGrp="1"/>
          </p:cNvSpPr>
          <p:nvPr/>
        </p:nvSpPr>
        <p:spPr>
          <a:xfrm>
            <a:off x="1229591" y="1223586"/>
            <a:ext cx="4112084" cy="3576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>
              <a:def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endParaRPr lang="zh-CN" altLang="en-US" sz="1600" b="1" dirty="0">
              <a:solidFill>
                <a:srgbClr val="081D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313BC9A-B5BC-4472-B4CE-B065FDF75034}"/>
              </a:ext>
            </a:extLst>
          </p:cNvPr>
          <p:cNvSpPr>
            <a:spLocks noGrp="1"/>
          </p:cNvSpPr>
          <p:nvPr/>
        </p:nvSpPr>
        <p:spPr>
          <a:xfrm>
            <a:off x="1246909" y="5599579"/>
            <a:ext cx="3086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endParaRPr sz="1300" b="1" dirty="0">
              <a:solidFill>
                <a:srgbClr val="002FA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Rounded Rectangle 13">
            <a:extLst>
              <a:ext uri="{FF2B5EF4-FFF2-40B4-BE49-F238E27FC236}">
                <a16:creationId xmlns:a16="http://schemas.microsoft.com/office/drawing/2014/main" id="{B550A925-9879-CCFD-D27B-4664EA48681F}"/>
              </a:ext>
            </a:extLst>
          </p:cNvPr>
          <p:cNvSpPr/>
          <p:nvPr/>
        </p:nvSpPr>
        <p:spPr>
          <a:xfrm>
            <a:off x="1132609" y="5999920"/>
            <a:ext cx="10030965" cy="624885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423C28-E402-E7AE-2F05-8C6A194CB78F}"/>
              </a:ext>
            </a:extLst>
          </p:cNvPr>
          <p:cNvSpPr txBox="1"/>
          <p:nvPr/>
        </p:nvSpPr>
        <p:spPr>
          <a:xfrm>
            <a:off x="3945818" y="6140007"/>
            <a:ext cx="4186061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670D2"/>
                </a:solidFill>
                <a:latin typeface="Microsoft YaHei"/>
              </a:defRPr>
            </a:pPr>
            <a:r>
              <a:rPr lang="en-US" altLang="zh-CN" sz="2000" dirty="0"/>
              <a:t>RISE</a:t>
            </a:r>
            <a:r>
              <a:rPr lang="zh-CN" altLang="en-US" sz="2000" dirty="0"/>
              <a:t>：</a:t>
            </a:r>
            <a:r>
              <a:rPr lang="en-US" altLang="zh-CN" sz="2000" dirty="0"/>
              <a:t>4 </a:t>
            </a:r>
            <a:r>
              <a:rPr lang="zh-CN" altLang="en-US" sz="2000" dirty="0"/>
              <a:t>个数据域 </a:t>
            </a:r>
            <a:r>
              <a:rPr lang="en-US" altLang="zh-CN" sz="2000" dirty="0"/>
              <a:t>× </a:t>
            </a:r>
            <a:r>
              <a:rPr lang="zh-CN" altLang="en-US" sz="2000" dirty="0"/>
              <a:t>模型组合均领先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4EE72CF-ECEB-6D66-4BA5-9018B4D5C8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>
            <a:fillRect/>
          </a:stretch>
        </p:blipFill>
        <p:spPr>
          <a:xfrm>
            <a:off x="1246909" y="1523271"/>
            <a:ext cx="9216936" cy="387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885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2425F-5BDD-DB8F-8757-3206A6EEE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0437A2E0-90F0-BDFB-4646-36DE1E32831D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57150" cy="381000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0EB6944-C634-B778-BEA2-ED8351CFCD7C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>
              <a:defRPr sz="2700" b="1">
                <a:solidFill>
                  <a:srgbClr val="081D3A"/>
                </a:solidFill>
                <a:latin typeface="Microsoft YaHei"/>
              </a:defRPr>
            </a:pPr>
            <a:r>
              <a:rPr lang="zh-CN" altLang="en-US" sz="2700" dirty="0"/>
              <a:t>稳定性结果：</a:t>
            </a:r>
            <a:r>
              <a:rPr lang="en-US" altLang="zh-CN" sz="2700" dirty="0"/>
              <a:t>RISE</a:t>
            </a:r>
            <a:r>
              <a:rPr lang="zh-CN" altLang="en-US" sz="2700" dirty="0"/>
              <a:t> 的核心优势是更稳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42372A5-7CBA-6052-3DEB-2CCB1DB8CC95}"/>
              </a:ext>
            </a:extLst>
          </p:cNvPr>
          <p:cNvSpPr>
            <a:spLocks noGrp="1"/>
          </p:cNvSpPr>
          <p:nvPr/>
        </p:nvSpPr>
        <p:spPr>
          <a:xfrm>
            <a:off x="1229591" y="1223586"/>
            <a:ext cx="4112084" cy="3576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>
              <a:def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endParaRPr lang="zh-CN" altLang="en-US" sz="1600" b="1" dirty="0">
              <a:solidFill>
                <a:srgbClr val="081D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5369866-19CF-DD7B-8742-677DB030E56A}"/>
              </a:ext>
            </a:extLst>
          </p:cNvPr>
          <p:cNvSpPr>
            <a:spLocks noGrp="1"/>
          </p:cNvSpPr>
          <p:nvPr/>
        </p:nvSpPr>
        <p:spPr>
          <a:xfrm>
            <a:off x="1246909" y="5599579"/>
            <a:ext cx="3086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endParaRPr sz="1300" b="1" dirty="0">
              <a:solidFill>
                <a:srgbClr val="002FA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Rounded Rectangle 13">
            <a:extLst>
              <a:ext uri="{FF2B5EF4-FFF2-40B4-BE49-F238E27FC236}">
                <a16:creationId xmlns:a16="http://schemas.microsoft.com/office/drawing/2014/main" id="{E14C0073-BED4-5B34-25D7-2D5CE02D1437}"/>
              </a:ext>
            </a:extLst>
          </p:cNvPr>
          <p:cNvSpPr/>
          <p:nvPr/>
        </p:nvSpPr>
        <p:spPr>
          <a:xfrm>
            <a:off x="1132609" y="5999920"/>
            <a:ext cx="10030965" cy="624885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277D6E-F7EF-7420-02BD-DB58DE36EE78}"/>
              </a:ext>
            </a:extLst>
          </p:cNvPr>
          <p:cNvSpPr txBox="1"/>
          <p:nvPr/>
        </p:nvSpPr>
        <p:spPr>
          <a:xfrm>
            <a:off x="3945818" y="6140007"/>
            <a:ext cx="4186061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670D2"/>
                </a:solidFill>
                <a:latin typeface="Microsoft YaHei"/>
              </a:defRPr>
            </a:pPr>
            <a:r>
              <a:rPr lang="en-US" altLang="zh-CN" sz="2000" dirty="0"/>
              <a:t>RISE</a:t>
            </a:r>
            <a:r>
              <a:rPr lang="zh-CN" altLang="en-US" sz="2000" dirty="0"/>
              <a:t>：</a:t>
            </a:r>
            <a:r>
              <a:rPr lang="en-US" altLang="zh-CN" sz="2000" dirty="0"/>
              <a:t>4 </a:t>
            </a:r>
            <a:r>
              <a:rPr lang="zh-CN" altLang="en-US" sz="2000" dirty="0"/>
              <a:t>个数据域 </a:t>
            </a:r>
            <a:r>
              <a:rPr lang="en-US" altLang="zh-CN" sz="2000" dirty="0"/>
              <a:t>× </a:t>
            </a:r>
            <a:r>
              <a:rPr lang="zh-CN" altLang="en-US" sz="2000" dirty="0"/>
              <a:t>模型组合均领先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5A66669-79DB-2004-474B-EF2A215A2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1461" y="976967"/>
            <a:ext cx="6054773" cy="4904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073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85800" y="429768"/>
            <a:ext cx="54864" cy="356616"/>
          </a:xfrm>
          <a:prstGeom prst="rect">
            <a:avLst/>
          </a:prstGeom>
          <a:solidFill>
            <a:srgbClr val="10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365760"/>
            <a:ext cx="9692640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081D3A"/>
                </a:solidFill>
                <a:latin typeface="Microsoft YaHei"/>
              </a:defRPr>
            </a:pPr>
            <a:r>
              <a:t>效率结果：更稳，需要付出多少时间代价？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3438" y="1755920"/>
            <a:ext cx="3986784" cy="1170432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3438" y="1755920"/>
            <a:ext cx="3986784" cy="82296"/>
          </a:xfrm>
          <a:prstGeom prst="rect">
            <a:avLst/>
          </a:prstGeom>
          <a:solidFill>
            <a:srgbClr val="079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9742" y="1938800"/>
            <a:ext cx="3694176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0799A9"/>
                </a:solidFill>
                <a:latin typeface="Microsoft YaHei"/>
              </a:defRPr>
            </a:pPr>
            <a:r>
              <a:t>Ablation｜耗时最低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742" y="2313704"/>
            <a:ext cx="3694176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  <a:defRPr sz="1060" b="0">
                <a:solidFill>
                  <a:srgbClr val="17324D"/>
                </a:solidFill>
                <a:latin typeface="Microsoft YaHei"/>
              </a:defRPr>
            </a:pPr>
            <a:r>
              <a:t>86.5–91 次前向</a:t>
            </a:r>
          </a:p>
          <a:p>
            <a:pPr algn="l">
              <a:spcAft>
                <a:spcPts val="0"/>
              </a:spcAft>
              <a:defRPr sz="1060" b="0">
                <a:solidFill>
                  <a:srgbClr val="17324D"/>
                </a:solidFill>
                <a:latin typeface="Microsoft YaHei"/>
              </a:defRPr>
            </a:pPr>
            <a:r>
              <a:t>0.1912–0.2113 秒 / 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3438" y="3017792"/>
            <a:ext cx="3986784" cy="1170432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3438" y="3017792"/>
            <a:ext cx="3986784" cy="82296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9742" y="3200672"/>
            <a:ext cx="3694176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002FA7"/>
                </a:solidFill>
                <a:latin typeface="Microsoft YaHei"/>
              </a:defRPr>
            </a:pPr>
            <a:r>
              <a:t>LIME / KernelSHAP｜居中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742" y="3575576"/>
            <a:ext cx="3694176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  <a:defRPr sz="1030" b="0">
                <a:solidFill>
                  <a:srgbClr val="17324D"/>
                </a:solidFill>
                <a:latin typeface="Microsoft YaHei"/>
              </a:defRPr>
            </a:pPr>
            <a:r>
              <a:t>每图每种子 1024 次前向</a:t>
            </a:r>
          </a:p>
          <a:p>
            <a:pPr algn="l">
              <a:spcAft>
                <a:spcPts val="0"/>
              </a:spcAft>
              <a:defRPr sz="1030" b="0">
                <a:solidFill>
                  <a:srgbClr val="17324D"/>
                </a:solidFill>
                <a:latin typeface="Microsoft YaHei"/>
              </a:defRPr>
            </a:pPr>
            <a:r>
              <a:t>耗时为 Ablation 的 13.5–14.4 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3438" y="4279664"/>
            <a:ext cx="3986784" cy="1170432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3438" y="4279664"/>
            <a:ext cx="3986784" cy="82296"/>
          </a:xfrm>
          <a:prstGeom prst="rect">
            <a:avLst/>
          </a:prstGeom>
          <a:solidFill>
            <a:srgbClr val="F47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9742" y="4462544"/>
            <a:ext cx="3694176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47A24"/>
                </a:solidFill>
                <a:latin typeface="Microsoft YaHei"/>
              </a:defRPr>
            </a:pPr>
            <a:r>
              <a:t>RISE｜最稳也最慢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742" y="4837448"/>
            <a:ext cx="3694176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  <a:defRPr sz="1030" b="0">
                <a:solidFill>
                  <a:srgbClr val="17324D"/>
                </a:solidFill>
                <a:latin typeface="Microsoft YaHei"/>
              </a:defRPr>
            </a:pPr>
            <a:r>
              <a:t>同为 1024 次前向</a:t>
            </a:r>
          </a:p>
          <a:p>
            <a:pPr algn="l">
              <a:spcAft>
                <a:spcPts val="0"/>
              </a:spcAft>
              <a:defRPr sz="1030" b="0">
                <a:solidFill>
                  <a:srgbClr val="17324D"/>
                </a:solidFill>
                <a:latin typeface="Microsoft YaHei"/>
              </a:defRPr>
            </a:pPr>
            <a:r>
              <a:t>耗时为 Ablation 的 28.9–31.1 倍</a:t>
            </a:r>
          </a:p>
        </p:txBody>
      </p:sp>
      <p:pic>
        <p:nvPicPr>
          <p:cNvPr id="21" name="Picture 20" descr="m3_stability_c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526" y="1938800"/>
            <a:ext cx="7518340" cy="2953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901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85800" y="429768"/>
            <a:ext cx="54864" cy="356616"/>
          </a:xfrm>
          <a:prstGeom prst="rect">
            <a:avLst/>
          </a:prstGeom>
          <a:solidFill>
            <a:srgbClr val="10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365760"/>
            <a:ext cx="9692640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081D3A"/>
                </a:solidFill>
                <a:latin typeface="Microsoft YaHei"/>
              </a:defRPr>
            </a:pPr>
            <a:r>
              <a:t>定位性结果：ImageNet 可定位，CHNCXR 当前基本失效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061377"/>
            <a:ext cx="5257800" cy="3017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670D2"/>
                </a:solidFill>
                <a:latin typeface="Microsoft YaHei"/>
              </a:defRPr>
            </a:pPr>
            <a:r>
              <a:rPr dirty="0" err="1"/>
              <a:t>ImageNet｜热图较好落在目标附近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13232" y="2828052"/>
            <a:ext cx="5239512" cy="3017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47A24"/>
                </a:solidFill>
                <a:latin typeface="Microsoft YaHei"/>
              </a:defRPr>
            </a:pPr>
            <a:r>
              <a:t>CHNCXR｜未可靠定位到病灶</a:t>
            </a:r>
          </a:p>
        </p:txBody>
      </p:sp>
      <p:pic>
        <p:nvPicPr>
          <p:cNvPr id="9" name="Picture 8" descr="imagenet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437654"/>
            <a:ext cx="7237306" cy="1315873"/>
          </a:xfrm>
          <a:prstGeom prst="rect">
            <a:avLst/>
          </a:prstGeom>
        </p:spPr>
      </p:pic>
      <p:pic>
        <p:nvPicPr>
          <p:cNvPr id="11" name="Picture 10" descr="chncxr_exam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04329"/>
            <a:ext cx="6988738" cy="12706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95436" y="1904737"/>
            <a:ext cx="5248656" cy="6675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02FA7"/>
                </a:solidFill>
                <a:latin typeface="Microsoft YaHei"/>
              </a:defRPr>
            </a:pPr>
            <a:r>
              <a:rPr dirty="0" err="1"/>
              <a:t>当前观察：LIME</a:t>
            </a:r>
            <a:r>
              <a:rPr dirty="0"/>
              <a:t> 与 </a:t>
            </a:r>
            <a:r>
              <a:rPr dirty="0" err="1"/>
              <a:t>KernelSHAP</a:t>
            </a:r>
            <a:r>
              <a:rPr dirty="0"/>
              <a:t> </a:t>
            </a:r>
            <a:r>
              <a:rPr dirty="0" err="1"/>
              <a:t>定位较好</a:t>
            </a:r>
            <a:r>
              <a:rPr dirty="0"/>
              <a:t>；</a:t>
            </a:r>
          </a:p>
          <a:p>
            <a:pPr algn="l">
              <a:spcAft>
                <a:spcPts val="0"/>
              </a:spcAft>
              <a:defRPr sz="1200" b="1">
                <a:solidFill>
                  <a:srgbClr val="002FA7"/>
                </a:solidFill>
                <a:latin typeface="Microsoft YaHei"/>
              </a:defRPr>
            </a:pPr>
            <a:r>
              <a:rPr dirty="0"/>
              <a:t>Ablation </a:t>
            </a:r>
            <a:r>
              <a:rPr dirty="0" err="1"/>
              <a:t>次之，RISE</a:t>
            </a:r>
            <a:r>
              <a:rPr dirty="0"/>
              <a:t> </a:t>
            </a:r>
            <a:r>
              <a:rPr dirty="0" err="1"/>
              <a:t>热图弥散</a:t>
            </a:r>
            <a:r>
              <a:rPr dirty="0"/>
              <a:t>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0008" y="3618240"/>
            <a:ext cx="5239512" cy="6675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47A24"/>
                </a:solidFill>
                <a:latin typeface="Microsoft YaHei"/>
              </a:defRPr>
            </a:pPr>
            <a:r>
              <a:rPr dirty="0" err="1"/>
              <a:t>当前观察：所有方法均未可靠命中病灶</a:t>
            </a:r>
            <a:r>
              <a:rPr dirty="0"/>
              <a:t>；</a:t>
            </a:r>
          </a:p>
          <a:p>
            <a:pPr algn="l">
              <a:spcAft>
                <a:spcPts val="0"/>
              </a:spcAft>
              <a:defRPr sz="1200" b="1">
                <a:solidFill>
                  <a:srgbClr val="F47A24"/>
                </a:solidFill>
                <a:latin typeface="Microsoft YaHei"/>
              </a:defRPr>
            </a:pPr>
            <a:r>
              <a:rPr dirty="0"/>
              <a:t>RISE </a:t>
            </a:r>
            <a:r>
              <a:rPr dirty="0" err="1"/>
              <a:t>接近均匀，定位性最差</a:t>
            </a:r>
            <a:r>
              <a:rPr dirty="0"/>
              <a:t>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EF5310-E2F2-A538-476D-717C1A1344E4}"/>
              </a:ext>
            </a:extLst>
          </p:cNvPr>
          <p:cNvSpPr txBox="1"/>
          <p:nvPr/>
        </p:nvSpPr>
        <p:spPr>
          <a:xfrm>
            <a:off x="740664" y="5473457"/>
            <a:ext cx="105649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分类模型可能并不依赖病灶区域，或病灶过小（统计约 40%的病灶小于一个SLIC-100区域）。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M4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继续诊断。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0296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180B0-041E-ABB7-8F7D-015FA8A05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6D4F8B5-752E-0DD8-B101-EF9966DEE471}"/>
              </a:ext>
            </a:extLst>
          </p:cNvPr>
          <p:cNvSpPr/>
          <p:nvPr/>
        </p:nvSpPr>
        <p:spPr>
          <a:xfrm>
            <a:off x="685800" y="429768"/>
            <a:ext cx="54864" cy="356616"/>
          </a:xfrm>
          <a:prstGeom prst="rect">
            <a:avLst/>
          </a:prstGeom>
          <a:solidFill>
            <a:srgbClr val="10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7480F6-4C1A-4F29-D2FE-2E157D1F53D0}"/>
              </a:ext>
            </a:extLst>
          </p:cNvPr>
          <p:cNvSpPr txBox="1"/>
          <p:nvPr/>
        </p:nvSpPr>
        <p:spPr>
          <a:xfrm>
            <a:off x="850392" y="365760"/>
            <a:ext cx="9692640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081D3A"/>
                </a:solidFill>
                <a:latin typeface="Microsoft YaHei"/>
              </a:defRPr>
            </a:pPr>
            <a:r>
              <a:t>定位性结果：ImageNet 可定位，CHNCXR 当前基本失效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3F93AB8-A863-385B-0868-4196A7612249}"/>
              </a:ext>
            </a:extLst>
          </p:cNvPr>
          <p:cNvSpPr txBox="1"/>
          <p:nvPr/>
        </p:nvSpPr>
        <p:spPr>
          <a:xfrm>
            <a:off x="813531" y="5904899"/>
            <a:ext cx="105649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分类模型可能并不依赖病灶区域，或病灶过小（统计约 40%的病灶小于一个SLIC-100区域）。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M4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继续诊断。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EB7BB11A-A786-9453-0B1E-ECBA1179AB05}"/>
              </a:ext>
            </a:extLst>
          </p:cNvPr>
          <p:cNvGrpSpPr/>
          <p:nvPr/>
        </p:nvGrpSpPr>
        <p:grpSpPr>
          <a:xfrm>
            <a:off x="3580071" y="1199134"/>
            <a:ext cx="4733242" cy="4628556"/>
            <a:chOff x="531902" y="1057466"/>
            <a:chExt cx="5974753" cy="5916444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F0E0E0B8-F9F3-D0A4-91D1-9D54E29891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9003" y="3429000"/>
              <a:ext cx="5884765" cy="3544910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AC571584-BED8-CDE5-491C-133DA94769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1902" y="1057466"/>
              <a:ext cx="5974753" cy="23715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22646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B8DF9212-5049-4F77-A3B7-C5091798296E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57150" cy="381000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8AB3522-978D-41C4-8444-16744605EDB8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 dirty="0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M3 </a:t>
            </a:r>
            <a:r>
              <a:rPr lang="zh-CN" altLang="en-US" sz="2900" b="1" dirty="0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已可回答 </a:t>
            </a:r>
            <a:r>
              <a:rPr lang="en-US" altLang="zh-CN" sz="2900" b="1" dirty="0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RQ1</a:t>
            </a:r>
            <a:endParaRPr sz="2900" b="1" dirty="0">
              <a:solidFill>
                <a:srgbClr val="081D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9D406E7-C82E-4796-8F16-84D4E54833AF}"/>
              </a:ext>
            </a:extLst>
          </p:cNvPr>
          <p:cNvSpPr>
            <a:spLocks noGrp="1"/>
          </p:cNvSpPr>
          <p:nvPr/>
        </p:nvSpPr>
        <p:spPr>
          <a:xfrm>
            <a:off x="1846730" y="1695451"/>
            <a:ext cx="2514600" cy="3829050"/>
          </a:xfrm>
          <a:prstGeom prst="roundRect">
            <a:avLst>
              <a:gd name="adj" fmla="val 5682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5D9ED21-DAE7-4353-910C-D725043C61CB}"/>
              </a:ext>
            </a:extLst>
          </p:cNvPr>
          <p:cNvSpPr>
            <a:spLocks noGrp="1"/>
          </p:cNvSpPr>
          <p:nvPr/>
        </p:nvSpPr>
        <p:spPr>
          <a:xfrm>
            <a:off x="1846730" y="1695451"/>
            <a:ext cx="2514600" cy="95250"/>
          </a:xfrm>
          <a:prstGeom prst="roundRect">
            <a:avLst>
              <a:gd name="adj" fmla="val 50000"/>
            </a:avLst>
          </a:prstGeom>
          <a:solidFill>
            <a:srgbClr val="081D3A"/>
          </a:solidFill>
          <a:ln w="0">
            <a:solidFill>
              <a:srgbClr val="081D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F22ED01-68DD-46CF-866B-9E1AB29FF107}"/>
              </a:ext>
            </a:extLst>
          </p:cNvPr>
          <p:cNvSpPr>
            <a:spLocks noGrp="1"/>
          </p:cNvSpPr>
          <p:nvPr/>
        </p:nvSpPr>
        <p:spPr>
          <a:xfrm>
            <a:off x="2018180" y="1943101"/>
            <a:ext cx="2171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RQ1｜质量 × 效率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147B96-C3E8-4518-AFC7-3CDC800253F8}"/>
              </a:ext>
            </a:extLst>
          </p:cNvPr>
          <p:cNvSpPr>
            <a:spLocks noGrp="1"/>
          </p:cNvSpPr>
          <p:nvPr/>
        </p:nvSpPr>
        <p:spPr>
          <a:xfrm>
            <a:off x="2018180" y="2476501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0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已有证据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CB36D7C-FE67-4CAE-8551-9BCA43E35D72}"/>
              </a:ext>
            </a:extLst>
          </p:cNvPr>
          <p:cNvSpPr>
            <a:spLocks noGrp="1"/>
          </p:cNvSpPr>
          <p:nvPr/>
        </p:nvSpPr>
        <p:spPr>
          <a:xfrm>
            <a:off x="2018180" y="2819401"/>
            <a:ext cx="21717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LIME / </a:t>
            </a:r>
            <a:r>
              <a:rPr sz="115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KernelSHAP</a:t>
            </a:r>
            <a:r>
              <a:rPr sz="1150" b="1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5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忠实性较强</a:t>
            </a:r>
            <a:endParaRPr sz="1150" b="1" dirty="0">
              <a:solidFill>
                <a:srgbClr val="17324D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RISE </a:t>
            </a:r>
            <a:r>
              <a:rPr sz="115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稳定性最好但耗时最高</a:t>
            </a:r>
            <a:endParaRPr sz="1150" b="1" dirty="0">
              <a:solidFill>
                <a:srgbClr val="17324D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Ablation </a:t>
            </a:r>
            <a:r>
              <a:rPr sz="115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计算成本最低</a:t>
            </a:r>
            <a:endParaRPr sz="1150" b="1" dirty="0">
              <a:solidFill>
                <a:srgbClr val="17324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D45824D-9FA5-46FE-9507-C86A30D5AF6F}"/>
              </a:ext>
            </a:extLst>
          </p:cNvPr>
          <p:cNvSpPr>
            <a:spLocks noGrp="1"/>
          </p:cNvSpPr>
          <p:nvPr/>
        </p:nvSpPr>
        <p:spPr>
          <a:xfrm>
            <a:off x="2018180" y="4286251"/>
            <a:ext cx="2171700" cy="895350"/>
          </a:xfrm>
          <a:prstGeom prst="roundRect">
            <a:avLst>
              <a:gd name="adj" fmla="val 12766"/>
            </a:avLst>
          </a:prstGeom>
          <a:solidFill>
            <a:srgbClr val="081D3A"/>
          </a:solidFill>
          <a:ln w="11430">
            <a:solidFill>
              <a:srgbClr val="081D3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额外计算可以</a:t>
            </a:r>
            <a:endParaRPr lang="en-US" sz="115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换取部分质量优势</a:t>
            </a:r>
            <a:r>
              <a:rPr sz="11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，</a:t>
            </a:r>
          </a:p>
          <a:p>
            <a:pPr algn="ctr">
              <a:def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但收益维度随方法而异</a:t>
            </a:r>
            <a:r>
              <a:rPr sz="11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061B7C4-774D-4939-BDCB-41FCD823E814}"/>
              </a:ext>
            </a:extLst>
          </p:cNvPr>
          <p:cNvSpPr>
            <a:spLocks noGrp="1"/>
          </p:cNvSpPr>
          <p:nvPr/>
        </p:nvSpPr>
        <p:spPr>
          <a:xfrm>
            <a:off x="4742330" y="1695451"/>
            <a:ext cx="2514600" cy="3829050"/>
          </a:xfrm>
          <a:prstGeom prst="roundRect">
            <a:avLst>
              <a:gd name="adj" fmla="val 5682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AD8E4B4-9646-4EC7-BC9F-865B3A878A94}"/>
              </a:ext>
            </a:extLst>
          </p:cNvPr>
          <p:cNvSpPr>
            <a:spLocks noGrp="1"/>
          </p:cNvSpPr>
          <p:nvPr/>
        </p:nvSpPr>
        <p:spPr>
          <a:xfrm>
            <a:off x="4742330" y="1695451"/>
            <a:ext cx="2514600" cy="95250"/>
          </a:xfrm>
          <a:prstGeom prst="roundRect">
            <a:avLst>
              <a:gd name="adj" fmla="val 50000"/>
            </a:avLst>
          </a:prstGeom>
          <a:solidFill>
            <a:srgbClr val="1670D2"/>
          </a:solidFill>
          <a:ln w="0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A0D39C-05F3-4112-A16B-04E12F9AD27A}"/>
              </a:ext>
            </a:extLst>
          </p:cNvPr>
          <p:cNvSpPr>
            <a:spLocks noGrp="1"/>
          </p:cNvSpPr>
          <p:nvPr/>
        </p:nvSpPr>
        <p:spPr>
          <a:xfrm>
            <a:off x="4913780" y="1943101"/>
            <a:ext cx="2171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RQ2｜参数敏感性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5EBCFBD-EC3B-4805-ABF0-B5F4DB7E3174}"/>
              </a:ext>
            </a:extLst>
          </p:cNvPr>
          <p:cNvSpPr>
            <a:spLocks noGrp="1"/>
          </p:cNvSpPr>
          <p:nvPr/>
        </p:nvSpPr>
        <p:spPr>
          <a:xfrm>
            <a:off x="4913780" y="2476501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0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已有证据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7837CA8-4351-4594-9ADD-2B952B2FDFD3}"/>
              </a:ext>
            </a:extLst>
          </p:cNvPr>
          <p:cNvSpPr>
            <a:spLocks noGrp="1"/>
          </p:cNvSpPr>
          <p:nvPr/>
        </p:nvSpPr>
        <p:spPr>
          <a:xfrm>
            <a:off x="4913780" y="2819401"/>
            <a:ext cx="21717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医学小病灶与当前粒度</a:t>
            </a:r>
            <a:endParaRPr sz="1150" b="1" dirty="0">
              <a:solidFill>
                <a:srgbClr val="17324D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存在明显不匹配风险</a:t>
            </a:r>
            <a:endParaRPr sz="1150" b="1" dirty="0">
              <a:solidFill>
                <a:srgbClr val="17324D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KernelSHAP</a:t>
            </a:r>
            <a:r>
              <a:rPr sz="1150" b="1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5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出现种子波动组合</a:t>
            </a:r>
            <a:endParaRPr sz="1150" b="1" dirty="0">
              <a:solidFill>
                <a:srgbClr val="17324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71C461D-C979-4F00-8B88-2D3F01FF1C63}"/>
              </a:ext>
            </a:extLst>
          </p:cNvPr>
          <p:cNvSpPr>
            <a:spLocks noGrp="1"/>
          </p:cNvSpPr>
          <p:nvPr/>
        </p:nvSpPr>
        <p:spPr>
          <a:xfrm>
            <a:off x="4913780" y="4286251"/>
            <a:ext cx="21717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1430">
            <a:solidFill>
              <a:srgbClr val="1670D2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5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尚未正式回答</a:t>
            </a:r>
          </a:p>
          <a:p>
            <a:pPr algn="ctr">
              <a:defRPr sz="115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下一步：单因素参数扫描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B704A9C-8C25-4192-B124-A2F9A1D1E90A}"/>
              </a:ext>
            </a:extLst>
          </p:cNvPr>
          <p:cNvSpPr>
            <a:spLocks noGrp="1"/>
          </p:cNvSpPr>
          <p:nvPr/>
        </p:nvSpPr>
        <p:spPr>
          <a:xfrm>
            <a:off x="7637930" y="1695451"/>
            <a:ext cx="2514600" cy="3829050"/>
          </a:xfrm>
          <a:prstGeom prst="roundRect">
            <a:avLst>
              <a:gd name="adj" fmla="val 5682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92C9E6B-DD53-4507-912F-2DA46DA80D6E}"/>
              </a:ext>
            </a:extLst>
          </p:cNvPr>
          <p:cNvSpPr>
            <a:spLocks noGrp="1"/>
          </p:cNvSpPr>
          <p:nvPr/>
        </p:nvSpPr>
        <p:spPr>
          <a:xfrm>
            <a:off x="7637930" y="1695451"/>
            <a:ext cx="2514600" cy="95250"/>
          </a:xfrm>
          <a:prstGeom prst="roundRect">
            <a:avLst>
              <a:gd name="adj" fmla="val 50000"/>
            </a:avLst>
          </a:prstGeom>
          <a:solidFill>
            <a:srgbClr val="0799A9"/>
          </a:solidFill>
          <a:ln w="0">
            <a:solidFill>
              <a:srgbClr val="0799A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17B1242-57DB-4BB5-A2D7-3EDFE22CDE7A}"/>
              </a:ext>
            </a:extLst>
          </p:cNvPr>
          <p:cNvSpPr>
            <a:spLocks noGrp="1"/>
          </p:cNvSpPr>
          <p:nvPr/>
        </p:nvSpPr>
        <p:spPr>
          <a:xfrm>
            <a:off x="7809380" y="1943101"/>
            <a:ext cx="2171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RQ3｜理论 × 实践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FD6246D-187C-4F7A-8688-DA3E392E61B6}"/>
              </a:ext>
            </a:extLst>
          </p:cNvPr>
          <p:cNvSpPr>
            <a:spLocks noGrp="1"/>
          </p:cNvSpPr>
          <p:nvPr/>
        </p:nvSpPr>
        <p:spPr>
          <a:xfrm>
            <a:off x="7809380" y="2476501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0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已有证据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B2A8053-2E85-419E-87E7-05067270DD21}"/>
              </a:ext>
            </a:extLst>
          </p:cNvPr>
          <p:cNvSpPr>
            <a:spLocks noGrp="1"/>
          </p:cNvSpPr>
          <p:nvPr/>
        </p:nvSpPr>
        <p:spPr>
          <a:xfrm>
            <a:off x="7809380" y="2819401"/>
            <a:ext cx="21717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KernelSHAP efficiency 约束</a:t>
            </a:r>
          </a:p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已通过数值检查</a:t>
            </a:r>
          </a:p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未形成全面质量优势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D00FD86-A9CA-41C9-8702-B38F0DE2D3EF}"/>
              </a:ext>
            </a:extLst>
          </p:cNvPr>
          <p:cNvSpPr>
            <a:spLocks noGrp="1"/>
          </p:cNvSpPr>
          <p:nvPr/>
        </p:nvSpPr>
        <p:spPr>
          <a:xfrm>
            <a:off x="7809380" y="4286251"/>
            <a:ext cx="21717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1430">
            <a:solidFill>
              <a:srgbClr val="0799A9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5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仍需预算扫描</a:t>
            </a:r>
          </a:p>
          <a:p>
            <a:pPr algn="ctr">
              <a:defRPr sz="115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与梯度类交叉比较</a:t>
            </a:r>
          </a:p>
        </p:txBody>
      </p:sp>
    </p:spTree>
    <p:extLst>
      <p:ext uri="{BB962C8B-B14F-4D97-AF65-F5344CB8AC3E}">
        <p14:creationId xmlns:p14="http://schemas.microsoft.com/office/powerpoint/2010/main" val="1284181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209A554C-0B24-4380-9FB7-E8F81ADE49D4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57150" cy="381000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202F96F-C569-4E24-ACF5-C548EE36DAD1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下一阶段：解释差异来源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532E37B-959D-4684-8B8C-8D57D8495AA9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5276850" cy="2095500"/>
          </a:xfrm>
          <a:prstGeom prst="roundRect">
            <a:avLst>
              <a:gd name="adj" fmla="val 6818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9038703-8574-4A76-979B-09457CE409E1}"/>
              </a:ext>
            </a:extLst>
          </p:cNvPr>
          <p:cNvSpPr>
            <a:spLocks noGrp="1"/>
          </p:cNvSpPr>
          <p:nvPr/>
        </p:nvSpPr>
        <p:spPr>
          <a:xfrm>
            <a:off x="857250" y="1428750"/>
            <a:ext cx="457200" cy="323850"/>
          </a:xfrm>
          <a:prstGeom prst="roundRect">
            <a:avLst>
              <a:gd name="adj" fmla="val 29412"/>
            </a:avLst>
          </a:prstGeom>
          <a:solidFill>
            <a:srgbClr val="081D3A"/>
          </a:solidFill>
          <a:ln w="9525">
            <a:solidFill>
              <a:srgbClr val="081D3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9ACD27-5266-42C2-B53C-9863175BC965}"/>
              </a:ext>
            </a:extLst>
          </p:cNvPr>
          <p:cNvSpPr>
            <a:spLocks noGrp="1"/>
          </p:cNvSpPr>
          <p:nvPr/>
        </p:nvSpPr>
        <p:spPr>
          <a:xfrm>
            <a:off x="1428750" y="142875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医学域定位诊断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9014721-0F15-40CF-84A5-0F5E2E51FB04}"/>
              </a:ext>
            </a:extLst>
          </p:cNvPr>
          <p:cNvSpPr>
            <a:spLocks noGrp="1"/>
          </p:cNvSpPr>
          <p:nvPr/>
        </p:nvSpPr>
        <p:spPr>
          <a:xfrm>
            <a:off x="895350" y="1885950"/>
            <a:ext cx="4857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配置选择集：86 张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SLIC：50 / 100 / 200 / 300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RISE grid：4 / 7 / 10 / 14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遮蔽率：0.25 / 0.50 / 0.75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预算：256 / 512 / 1024 / 2048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6E6849-893D-4121-9E9D-57EFF71BB981}"/>
              </a:ext>
            </a:extLst>
          </p:cNvPr>
          <p:cNvSpPr>
            <a:spLocks noGrp="1"/>
          </p:cNvSpPr>
          <p:nvPr/>
        </p:nvSpPr>
        <p:spPr>
          <a:xfrm>
            <a:off x="895350" y="2971800"/>
            <a:ext cx="485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0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单因素扫描，不做完整笛卡尔积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BACB0E0-C755-489F-85EC-F3704259F8AD}"/>
              </a:ext>
            </a:extLst>
          </p:cNvPr>
          <p:cNvSpPr>
            <a:spLocks noGrp="1"/>
          </p:cNvSpPr>
          <p:nvPr/>
        </p:nvSpPr>
        <p:spPr>
          <a:xfrm>
            <a:off x="6229350" y="1257300"/>
            <a:ext cx="5276850" cy="2095500"/>
          </a:xfrm>
          <a:prstGeom prst="roundRect">
            <a:avLst>
              <a:gd name="adj" fmla="val 6818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350880C-7166-4649-863F-F4EEF603E74B}"/>
              </a:ext>
            </a:extLst>
          </p:cNvPr>
          <p:cNvSpPr>
            <a:spLocks noGrp="1"/>
          </p:cNvSpPr>
          <p:nvPr/>
        </p:nvSpPr>
        <p:spPr>
          <a:xfrm>
            <a:off x="6400800" y="1428750"/>
            <a:ext cx="457200" cy="323850"/>
          </a:xfrm>
          <a:prstGeom prst="roundRect">
            <a:avLst>
              <a:gd name="adj" fmla="val 29412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9B0963C-2116-4969-BFE3-D5A0A6460A09}"/>
              </a:ext>
            </a:extLst>
          </p:cNvPr>
          <p:cNvSpPr>
            <a:spLocks noGrp="1"/>
          </p:cNvSpPr>
          <p:nvPr/>
        </p:nvSpPr>
        <p:spPr>
          <a:xfrm>
            <a:off x="6972300" y="142875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KernelSHAP 预算扫描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AFCC801-DB47-49C3-9864-41E181434749}"/>
              </a:ext>
            </a:extLst>
          </p:cNvPr>
          <p:cNvSpPr>
            <a:spLocks noGrp="1"/>
          </p:cNvSpPr>
          <p:nvPr/>
        </p:nvSpPr>
        <p:spPr>
          <a:xfrm>
            <a:off x="6438900" y="1885950"/>
            <a:ext cx="4857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重点：ImageNet × ResNet-50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预算：256 / 512 / 1024 / 2048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检查：Spearman / Jaccard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判断稳定性收益是否值得额外计算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27DD105-BF26-4325-AC93-DD434D2DBA97}"/>
              </a:ext>
            </a:extLst>
          </p:cNvPr>
          <p:cNvSpPr>
            <a:spLocks noGrp="1"/>
          </p:cNvSpPr>
          <p:nvPr/>
        </p:nvSpPr>
        <p:spPr>
          <a:xfrm>
            <a:off x="6438900" y="2971800"/>
            <a:ext cx="485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0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更高预算能否改善稳定性？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BDB483C-7EFB-48F5-8873-BCA3B3857D75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5276850" cy="2095500"/>
          </a:xfrm>
          <a:prstGeom prst="roundRect">
            <a:avLst>
              <a:gd name="adj" fmla="val 6818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BCDDCA9-E913-44C8-84AC-EBDD260CF3BA}"/>
              </a:ext>
            </a:extLst>
          </p:cNvPr>
          <p:cNvSpPr>
            <a:spLocks noGrp="1"/>
          </p:cNvSpPr>
          <p:nvPr/>
        </p:nvSpPr>
        <p:spPr>
          <a:xfrm>
            <a:off x="857250" y="3905250"/>
            <a:ext cx="457200" cy="323850"/>
          </a:xfrm>
          <a:prstGeom prst="roundRect">
            <a:avLst>
              <a:gd name="adj" fmla="val 29412"/>
            </a:avLst>
          </a:prstGeom>
          <a:solidFill>
            <a:srgbClr val="1670D2"/>
          </a:solidFill>
          <a:ln w="9525">
            <a:solidFill>
              <a:srgbClr val="1670D2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C57808-CFA7-4DF0-AFD1-18F141FB2E5F}"/>
              </a:ext>
            </a:extLst>
          </p:cNvPr>
          <p:cNvSpPr>
            <a:spLocks noGrp="1"/>
          </p:cNvSpPr>
          <p:nvPr/>
        </p:nvSpPr>
        <p:spPr>
          <a:xfrm>
            <a:off x="1428750" y="390525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RISE 质量—成本权衡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E3161AA-F362-47F0-8329-CC13DE98A7B3}"/>
              </a:ext>
            </a:extLst>
          </p:cNvPr>
          <p:cNvSpPr>
            <a:spLocks noGrp="1"/>
          </p:cNvSpPr>
          <p:nvPr/>
        </p:nvSpPr>
        <p:spPr>
          <a:xfrm>
            <a:off x="895350" y="4362450"/>
            <a:ext cx="4857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网格：4 / 7 / 10 / 14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同步观察：忠实性、定位性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稳定性与归因时间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分析网格细化的多指标联动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E9DB7D1-C071-43CD-A13A-2DA9EE812A4C}"/>
              </a:ext>
            </a:extLst>
          </p:cNvPr>
          <p:cNvSpPr>
            <a:spLocks noGrp="1"/>
          </p:cNvSpPr>
          <p:nvPr/>
        </p:nvSpPr>
        <p:spPr>
          <a:xfrm>
            <a:off x="895350" y="5448300"/>
            <a:ext cx="485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0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保持统一模型输出和预算计数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D2B94FA-4084-4097-92E3-AFC11098DF79}"/>
              </a:ext>
            </a:extLst>
          </p:cNvPr>
          <p:cNvSpPr>
            <a:spLocks noGrp="1"/>
          </p:cNvSpPr>
          <p:nvPr/>
        </p:nvSpPr>
        <p:spPr>
          <a:xfrm>
            <a:off x="6229350" y="3733800"/>
            <a:ext cx="5276850" cy="2095500"/>
          </a:xfrm>
          <a:prstGeom prst="roundRect">
            <a:avLst>
              <a:gd name="adj" fmla="val 6818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8CC4104-4428-4156-BA62-93886D3599D5}"/>
              </a:ext>
            </a:extLst>
          </p:cNvPr>
          <p:cNvSpPr>
            <a:spLocks noGrp="1"/>
          </p:cNvSpPr>
          <p:nvPr/>
        </p:nvSpPr>
        <p:spPr>
          <a:xfrm>
            <a:off x="6400800" y="3905250"/>
            <a:ext cx="457200" cy="323850"/>
          </a:xfrm>
          <a:prstGeom prst="roundRect">
            <a:avLst>
              <a:gd name="adj" fmla="val 29412"/>
            </a:avLst>
          </a:prstGeom>
          <a:solidFill>
            <a:srgbClr val="0799A9"/>
          </a:solidFill>
          <a:ln w="9525">
            <a:solidFill>
              <a:srgbClr val="0799A9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E77A98C-D536-46BE-A392-65036F6067EF}"/>
              </a:ext>
            </a:extLst>
          </p:cNvPr>
          <p:cNvSpPr>
            <a:spLocks noGrp="1"/>
          </p:cNvSpPr>
          <p:nvPr/>
        </p:nvSpPr>
        <p:spPr>
          <a:xfrm>
            <a:off x="6972300" y="390525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交叉比较与选做实验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879FBC9-5E93-47D1-8A31-D251F1871E12}"/>
              </a:ext>
            </a:extLst>
          </p:cNvPr>
          <p:cNvSpPr>
            <a:spLocks noGrp="1"/>
          </p:cNvSpPr>
          <p:nvPr/>
        </p:nvSpPr>
        <p:spPr>
          <a:xfrm>
            <a:off x="6438900" y="4362450"/>
            <a:ext cx="4857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IG / EG / Grad-CAM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与核心方法做同协议交叉比较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OrdShap：4 × 4 图块位置扰动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核验二维图像包装与模型调用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19F4C59-943D-49FB-9B69-4416FE545303}"/>
              </a:ext>
            </a:extLst>
          </p:cNvPr>
          <p:cNvSpPr>
            <a:spLocks noGrp="1"/>
          </p:cNvSpPr>
          <p:nvPr/>
        </p:nvSpPr>
        <p:spPr>
          <a:xfrm>
            <a:off x="6438900" y="5448300"/>
            <a:ext cx="485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0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OrdShap 标记为探索性实验</a:t>
            </a:r>
          </a:p>
        </p:txBody>
      </p:sp>
    </p:spTree>
    <p:extLst>
      <p:ext uri="{BB962C8B-B14F-4D97-AF65-F5344CB8AC3E}">
        <p14:creationId xmlns:p14="http://schemas.microsoft.com/office/powerpoint/2010/main" val="165942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095708A9-FAEB-4A6A-B04C-BB17DBA6C3D8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57150" cy="381000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76E25B-4F2F-4D83-B152-93C6BFA959EC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从初步结果走向可复现结论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DBC2CEA-4A20-496A-9178-5703C0E54159}"/>
              </a:ext>
            </a:extLst>
          </p:cNvPr>
          <p:cNvSpPr>
            <a:spLocks noGrp="1"/>
          </p:cNvSpPr>
          <p:nvPr/>
        </p:nvSpPr>
        <p:spPr>
          <a:xfrm>
            <a:off x="685800" y="1547528"/>
            <a:ext cx="2571750" cy="3703543"/>
          </a:xfrm>
          <a:prstGeom prst="roundRect">
            <a:avLst>
              <a:gd name="adj" fmla="val 5926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B4A7CBC-E03A-42A5-8283-9501DA59929F}"/>
              </a:ext>
            </a:extLst>
          </p:cNvPr>
          <p:cNvSpPr>
            <a:spLocks noGrp="1"/>
          </p:cNvSpPr>
          <p:nvPr/>
        </p:nvSpPr>
        <p:spPr>
          <a:xfrm>
            <a:off x="876300" y="1757079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M3｜已完成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B5F3A802-BF54-4354-AAFD-F2DCA2D98056}"/>
              </a:ext>
            </a:extLst>
          </p:cNvPr>
          <p:cNvSpPr>
            <a:spLocks noGrp="1"/>
          </p:cNvSpPr>
          <p:nvPr/>
        </p:nvSpPr>
        <p:spPr>
          <a:xfrm>
            <a:off x="876300" y="2271429"/>
            <a:ext cx="219075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1376947-8BE7-4713-91A9-D9D5C6B2E14E}"/>
              </a:ext>
            </a:extLst>
          </p:cNvPr>
          <p:cNvSpPr>
            <a:spLocks noGrp="1"/>
          </p:cNvSpPr>
          <p:nvPr/>
        </p:nvSpPr>
        <p:spPr>
          <a:xfrm>
            <a:off x="895350" y="2519079"/>
            <a:ext cx="215265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  <a:def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Microsoft YaHei"/>
              </a:rPr>
              <a:t>统一实现</a:t>
            </a:r>
            <a:endParaRPr sz="2000" b="1" dirty="0">
              <a:solidFill>
                <a:srgbClr val="FFFFFF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Microsoft YaHei"/>
            </a:endParaRPr>
          </a:p>
          <a:p>
            <a:pPr marL="342900" indent="-342900" algn="l">
              <a:buFont typeface="Arial" panose="020B0604020202020204" pitchFamily="34" charset="0"/>
              <a:buChar char="•"/>
              <a:def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Microsoft YaHei"/>
              </a:rPr>
              <a:t>默认配置初步比较</a:t>
            </a:r>
            <a:endParaRPr sz="2000" b="1" dirty="0">
              <a:solidFill>
                <a:srgbClr val="FFFFFF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Microsoft YaHei"/>
            </a:endParaRP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099198ED-B60B-4227-9484-F76E02F0C071}"/>
              </a:ext>
            </a:extLst>
          </p:cNvPr>
          <p:cNvSpPr>
            <a:spLocks noGrp="1"/>
          </p:cNvSpPr>
          <p:nvPr/>
        </p:nvSpPr>
        <p:spPr>
          <a:xfrm>
            <a:off x="3333750" y="2842929"/>
            <a:ext cx="24765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959EF62-8431-4DC3-9FBE-5783D775E3E1}"/>
              </a:ext>
            </a:extLst>
          </p:cNvPr>
          <p:cNvSpPr>
            <a:spLocks noGrp="1"/>
          </p:cNvSpPr>
          <p:nvPr/>
        </p:nvSpPr>
        <p:spPr>
          <a:xfrm>
            <a:off x="3581400" y="1547528"/>
            <a:ext cx="3429000" cy="3703543"/>
          </a:xfrm>
          <a:prstGeom prst="roundRect">
            <a:avLst>
              <a:gd name="adj" fmla="val 5405"/>
            </a:avLst>
          </a:prstGeom>
          <a:solidFill>
            <a:srgbClr val="1670D2"/>
          </a:solidFill>
          <a:ln w="9525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73AA407-1478-43F3-B486-7698B02067C6}"/>
              </a:ext>
            </a:extLst>
          </p:cNvPr>
          <p:cNvSpPr>
            <a:spLocks noGrp="1"/>
          </p:cNvSpPr>
          <p:nvPr/>
        </p:nvSpPr>
        <p:spPr>
          <a:xfrm>
            <a:off x="3771900" y="1757079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M4｜完整实验</a:t>
            </a: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FA541976-21FB-486D-9D75-D9BA637A3C9F}"/>
              </a:ext>
            </a:extLst>
          </p:cNvPr>
          <p:cNvSpPr>
            <a:spLocks noGrp="1"/>
          </p:cNvSpPr>
          <p:nvPr/>
        </p:nvSpPr>
        <p:spPr>
          <a:xfrm>
            <a:off x="3771900" y="2271429"/>
            <a:ext cx="30480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CC828FD-BA30-49D0-ADAC-E4FE26467B14}"/>
              </a:ext>
            </a:extLst>
          </p:cNvPr>
          <p:cNvSpPr>
            <a:spLocks noGrp="1"/>
          </p:cNvSpPr>
          <p:nvPr/>
        </p:nvSpPr>
        <p:spPr>
          <a:xfrm>
            <a:off x="3790950" y="2519079"/>
            <a:ext cx="30099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  <a:def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Microsoft YaHei"/>
              </a:rPr>
              <a:t>参数敏感性与异常诊断</a:t>
            </a:r>
            <a:endParaRPr sz="2000" b="1" dirty="0">
              <a:solidFill>
                <a:srgbClr val="FFFFFF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Microsoft YaHei"/>
            </a:endParaRPr>
          </a:p>
          <a:p>
            <a:pPr marL="342900" indent="-342900" algn="l">
              <a:buFont typeface="Arial" panose="020B0604020202020204" pitchFamily="34" charset="0"/>
              <a:buChar char="•"/>
              <a:def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Microsoft YaHei"/>
              </a:rPr>
              <a:t>梯度类交叉比较</a:t>
            </a:r>
            <a:endParaRPr sz="2000" b="1" dirty="0">
              <a:solidFill>
                <a:srgbClr val="FFFFFF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Microsoft YaHei"/>
            </a:endParaRPr>
          </a:p>
          <a:p>
            <a:pPr marL="342900" indent="-342900" algn="l">
              <a:buFont typeface="Arial" panose="020B0604020202020204" pitchFamily="34" charset="0"/>
              <a:buChar char="•"/>
              <a:def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Microsoft YaHei"/>
              </a:rPr>
              <a:t>医学域配置冻结与最终评价</a:t>
            </a:r>
            <a:endParaRPr sz="2000" b="1" dirty="0">
              <a:solidFill>
                <a:srgbClr val="FFFFFF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Microsoft YaHei"/>
            </a:endParaRP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EC903DAA-57CD-43C2-B5C5-69F1D68D955A}"/>
              </a:ext>
            </a:extLst>
          </p:cNvPr>
          <p:cNvSpPr>
            <a:spLocks noGrp="1"/>
          </p:cNvSpPr>
          <p:nvPr/>
        </p:nvSpPr>
        <p:spPr>
          <a:xfrm>
            <a:off x="7086600" y="2842929"/>
            <a:ext cx="24765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CA82CEC-1155-4543-8D06-8B08A1571D62}"/>
              </a:ext>
            </a:extLst>
          </p:cNvPr>
          <p:cNvSpPr>
            <a:spLocks noGrp="1"/>
          </p:cNvSpPr>
          <p:nvPr/>
        </p:nvSpPr>
        <p:spPr>
          <a:xfrm>
            <a:off x="7334250" y="1547528"/>
            <a:ext cx="4171950" cy="3703543"/>
          </a:xfrm>
          <a:prstGeom prst="roundRect">
            <a:avLst>
              <a:gd name="adj" fmla="val 5405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EC33D9F-04BA-4966-95C1-9AFFB690EEDC}"/>
              </a:ext>
            </a:extLst>
          </p:cNvPr>
          <p:cNvSpPr>
            <a:spLocks noGrp="1"/>
          </p:cNvSpPr>
          <p:nvPr/>
        </p:nvSpPr>
        <p:spPr>
          <a:xfrm>
            <a:off x="7524750" y="1757079"/>
            <a:ext cx="3790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dirty="0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M5｜最终成果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AC60CC57-1A7A-45CE-8983-0C62CB6AB9C4}"/>
              </a:ext>
            </a:extLst>
          </p:cNvPr>
          <p:cNvSpPr>
            <a:spLocks noGrp="1"/>
          </p:cNvSpPr>
          <p:nvPr/>
        </p:nvSpPr>
        <p:spPr>
          <a:xfrm>
            <a:off x="7524750" y="2271429"/>
            <a:ext cx="379095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11F6E11-8423-484B-8DA3-5FDF2B705467}"/>
              </a:ext>
            </a:extLst>
          </p:cNvPr>
          <p:cNvSpPr>
            <a:spLocks noGrp="1"/>
          </p:cNvSpPr>
          <p:nvPr/>
        </p:nvSpPr>
        <p:spPr>
          <a:xfrm>
            <a:off x="7543800" y="2519079"/>
            <a:ext cx="375285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  <a:defRPr sz="12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rgbClr val="17324D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Microsoft YaHei"/>
              </a:rPr>
              <a:t>配对统计与置信区间</a:t>
            </a:r>
            <a:endParaRPr lang="en-US" sz="2000" b="1" dirty="0">
              <a:solidFill>
                <a:srgbClr val="17324D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Microsoft YaHei"/>
            </a:endParaRPr>
          </a:p>
          <a:p>
            <a:pPr marL="342900" indent="-342900" algn="l">
              <a:buFont typeface="Arial" panose="020B0604020202020204" pitchFamily="34" charset="0"/>
              <a:buChar char="•"/>
              <a:defRPr sz="12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>
                <a:solidFill>
                  <a:srgbClr val="17324D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Microsoft YaHei"/>
              </a:rPr>
              <a:t>RQ1–RQ3 </a:t>
            </a:r>
            <a:r>
              <a:rPr sz="2000" b="1" dirty="0" err="1">
                <a:solidFill>
                  <a:srgbClr val="17324D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Microsoft YaHei"/>
              </a:rPr>
              <a:t>最终回答</a:t>
            </a:r>
            <a:endParaRPr sz="2000" b="1" dirty="0">
              <a:solidFill>
                <a:srgbClr val="17324D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Microsoft YaHei"/>
            </a:endParaRPr>
          </a:p>
          <a:p>
            <a:pPr marL="342900" indent="-342900" algn="l">
              <a:buFont typeface="Arial" panose="020B0604020202020204" pitchFamily="34" charset="0"/>
              <a:buChar char="•"/>
              <a:defRPr sz="12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rgbClr val="17324D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Microsoft YaHei"/>
              </a:rPr>
              <a:t>代码、结果与复现说明</a:t>
            </a:r>
            <a:endParaRPr sz="2000" b="1" dirty="0">
              <a:solidFill>
                <a:srgbClr val="17324D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Microsoft YaHei"/>
            </a:endParaRPr>
          </a:p>
          <a:p>
            <a:pPr marL="342900" indent="-342900" algn="l">
              <a:buFont typeface="Arial" panose="020B0604020202020204" pitchFamily="34" charset="0"/>
              <a:buChar char="•"/>
              <a:defRPr sz="12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rgbClr val="17324D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Microsoft YaHei"/>
              </a:rPr>
              <a:t>报告与答辩</a:t>
            </a:r>
            <a:r>
              <a:rPr sz="2000" b="1" dirty="0">
                <a:solidFill>
                  <a:srgbClr val="17324D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Microsoft YaHei"/>
              </a:rPr>
              <a:t> PPT</a:t>
            </a:r>
          </a:p>
        </p:txBody>
      </p:sp>
    </p:spTree>
    <p:extLst>
      <p:ext uri="{BB962C8B-B14F-4D97-AF65-F5344CB8AC3E}">
        <p14:creationId xmlns:p14="http://schemas.microsoft.com/office/powerpoint/2010/main" val="8723568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6AAC4375-F487-4D19-8CA0-198844BE6F1B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57150" cy="381000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A5F8F04-9B5B-4009-B553-73ED16991E03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900" b="1" dirty="0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人员分工</a:t>
            </a:r>
            <a:endParaRPr sz="2900" b="1" dirty="0">
              <a:solidFill>
                <a:srgbClr val="081D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939E9FE-5147-4C19-905A-E865BA533E78}"/>
              </a:ext>
            </a:extLst>
          </p:cNvPr>
          <p:cNvSpPr>
            <a:spLocks noGrp="1"/>
          </p:cNvSpPr>
          <p:nvPr/>
        </p:nvSpPr>
        <p:spPr>
          <a:xfrm>
            <a:off x="623047" y="1757082"/>
            <a:ext cx="3562350" cy="1752600"/>
          </a:xfrm>
          <a:prstGeom prst="roundRect">
            <a:avLst>
              <a:gd name="adj" fmla="val 8152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11B0FB0-B1F1-4D5B-A13C-36E2FD117DC8}"/>
              </a:ext>
            </a:extLst>
          </p:cNvPr>
          <p:cNvSpPr>
            <a:spLocks noGrp="1"/>
          </p:cNvSpPr>
          <p:nvPr/>
        </p:nvSpPr>
        <p:spPr>
          <a:xfrm>
            <a:off x="623047" y="1757082"/>
            <a:ext cx="3562350" cy="95250"/>
          </a:xfrm>
          <a:prstGeom prst="roundRect">
            <a:avLst>
              <a:gd name="adj" fmla="val 50000"/>
            </a:avLst>
          </a:prstGeom>
          <a:solidFill>
            <a:srgbClr val="081D3A"/>
          </a:solidFill>
          <a:ln w="0">
            <a:solidFill>
              <a:srgbClr val="081D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67501B2-103B-48FE-B156-F333EC78FFF6}"/>
              </a:ext>
            </a:extLst>
          </p:cNvPr>
          <p:cNvSpPr>
            <a:spLocks noGrp="1"/>
          </p:cNvSpPr>
          <p:nvPr/>
        </p:nvSpPr>
        <p:spPr>
          <a:xfrm>
            <a:off x="794497" y="1966632"/>
            <a:ext cx="3219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5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dirty="0" err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杜孟泽｜数据模块</a:t>
            </a:r>
            <a:r>
              <a:rPr sz="2200" b="1" dirty="0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 R1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B1CD914-E492-47A9-943C-F815F0AB1C35}"/>
              </a:ext>
            </a:extLst>
          </p:cNvPr>
          <p:cNvSpPr>
            <a:spLocks noGrp="1"/>
          </p:cNvSpPr>
          <p:nvPr/>
        </p:nvSpPr>
        <p:spPr>
          <a:xfrm>
            <a:off x="794497" y="2442882"/>
            <a:ext cx="32194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dirty="0" err="1">
                <a:solidFill>
                  <a:srgbClr val="17324D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Microsoft YaHei"/>
              </a:rPr>
              <a:t>数据获取</a:t>
            </a:r>
            <a:endParaRPr sz="1600" dirty="0">
              <a:solidFill>
                <a:srgbClr val="17324D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Microsoft YaHei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dirty="0" err="1">
                <a:solidFill>
                  <a:srgbClr val="17324D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Microsoft YaHei"/>
              </a:rPr>
              <a:t>数据划分、预处理与</a:t>
            </a:r>
            <a:r>
              <a:rPr sz="1600" dirty="0">
                <a:solidFill>
                  <a:srgbClr val="17324D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Microsoft YaHei"/>
              </a:rPr>
              <a:t> EDA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dirty="0">
                <a:solidFill>
                  <a:srgbClr val="17324D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Microsoft YaHei"/>
              </a:rPr>
              <a:t>SLIC </a:t>
            </a:r>
            <a:r>
              <a:rPr sz="1600" dirty="0" err="1">
                <a:solidFill>
                  <a:srgbClr val="17324D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Microsoft YaHei"/>
              </a:rPr>
              <a:t>与定位</a:t>
            </a:r>
            <a:r>
              <a:rPr sz="1600" dirty="0">
                <a:solidFill>
                  <a:srgbClr val="17324D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Microsoft YaHei"/>
              </a:rPr>
              <a:t> mask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51994EB-E014-4D4B-8D90-D1CBA2E07F71}"/>
              </a:ext>
            </a:extLst>
          </p:cNvPr>
          <p:cNvSpPr>
            <a:spLocks noGrp="1"/>
          </p:cNvSpPr>
          <p:nvPr/>
        </p:nvSpPr>
        <p:spPr>
          <a:xfrm>
            <a:off x="4442572" y="1757082"/>
            <a:ext cx="3562350" cy="1752600"/>
          </a:xfrm>
          <a:prstGeom prst="roundRect">
            <a:avLst>
              <a:gd name="adj" fmla="val 8152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8407945-9534-4A7F-99B4-A3A5A7E23541}"/>
              </a:ext>
            </a:extLst>
          </p:cNvPr>
          <p:cNvSpPr>
            <a:spLocks noGrp="1"/>
          </p:cNvSpPr>
          <p:nvPr/>
        </p:nvSpPr>
        <p:spPr>
          <a:xfrm>
            <a:off x="4442572" y="1757082"/>
            <a:ext cx="3562350" cy="95250"/>
          </a:xfrm>
          <a:prstGeom prst="roundRect">
            <a:avLst>
              <a:gd name="adj" fmla="val 50000"/>
            </a:avLst>
          </a:prstGeom>
          <a:solidFill>
            <a:srgbClr val="002FA7"/>
          </a:solidFill>
          <a:ln w="0">
            <a:solidFill>
              <a:srgbClr val="002FA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159577-73E8-40E0-923A-73579A32D9D4}"/>
              </a:ext>
            </a:extLst>
          </p:cNvPr>
          <p:cNvSpPr>
            <a:spLocks noGrp="1"/>
          </p:cNvSpPr>
          <p:nvPr/>
        </p:nvSpPr>
        <p:spPr>
          <a:xfrm>
            <a:off x="4614022" y="1966632"/>
            <a:ext cx="3219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dirty="0" err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张泰瑜｜模型模块</a:t>
            </a:r>
            <a:r>
              <a:rPr sz="2200" b="1" dirty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 R2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52CF39D-584E-4AD3-BD48-1DBA5948C2BF}"/>
              </a:ext>
            </a:extLst>
          </p:cNvPr>
          <p:cNvSpPr>
            <a:spLocks noGrp="1"/>
          </p:cNvSpPr>
          <p:nvPr/>
        </p:nvSpPr>
        <p:spPr>
          <a:xfrm>
            <a:off x="4614022" y="2442882"/>
            <a:ext cx="32194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>
                <a:solidFill>
                  <a:srgbClr val="17324D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Microsoft YaHei"/>
              </a:rPr>
              <a:t>ResNet-50 / VGG13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17324D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Microsoft YaHei"/>
              </a:rPr>
              <a:t>统一</a:t>
            </a:r>
            <a:r>
              <a:rPr sz="1600" b="1" dirty="0">
                <a:solidFill>
                  <a:srgbClr val="17324D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Microsoft YaHei"/>
              </a:rPr>
              <a:t> value function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17324D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Microsoft YaHei"/>
              </a:rPr>
              <a:t>前向计数、缓存与</a:t>
            </a:r>
            <a:r>
              <a:rPr sz="1600" b="1" dirty="0">
                <a:solidFill>
                  <a:srgbClr val="17324D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Microsoft YaHei"/>
              </a:rPr>
              <a:t> batch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964DD7B-D237-4BB2-8CF3-CF29EA03EB58}"/>
              </a:ext>
            </a:extLst>
          </p:cNvPr>
          <p:cNvSpPr>
            <a:spLocks noGrp="1"/>
          </p:cNvSpPr>
          <p:nvPr/>
        </p:nvSpPr>
        <p:spPr>
          <a:xfrm>
            <a:off x="8262097" y="1757082"/>
            <a:ext cx="3562350" cy="1752600"/>
          </a:xfrm>
          <a:prstGeom prst="roundRect">
            <a:avLst>
              <a:gd name="adj" fmla="val 8152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D1900E6-AD6C-40E8-A6DF-60DBE6A3F167}"/>
              </a:ext>
            </a:extLst>
          </p:cNvPr>
          <p:cNvSpPr>
            <a:spLocks noGrp="1"/>
          </p:cNvSpPr>
          <p:nvPr/>
        </p:nvSpPr>
        <p:spPr>
          <a:xfrm>
            <a:off x="8262097" y="1757082"/>
            <a:ext cx="3562350" cy="95250"/>
          </a:xfrm>
          <a:prstGeom prst="roundRect">
            <a:avLst>
              <a:gd name="adj" fmla="val 50000"/>
            </a:avLst>
          </a:prstGeom>
          <a:solidFill>
            <a:srgbClr val="1670D2"/>
          </a:solidFill>
          <a:ln w="0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05BDFE2-438C-4BB7-AC52-29FE565AF182}"/>
              </a:ext>
            </a:extLst>
          </p:cNvPr>
          <p:cNvSpPr>
            <a:spLocks noGrp="1"/>
          </p:cNvSpPr>
          <p:nvPr/>
        </p:nvSpPr>
        <p:spPr>
          <a:xfrm>
            <a:off x="8433547" y="1966632"/>
            <a:ext cx="3219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5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dirty="0" err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邹研泽｜方法模块</a:t>
            </a:r>
            <a:r>
              <a:rPr sz="2200" b="1" dirty="0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 R3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7FD078A-D1AA-4656-9B4C-F0A89A832C9D}"/>
              </a:ext>
            </a:extLst>
          </p:cNvPr>
          <p:cNvSpPr>
            <a:spLocks noGrp="1"/>
          </p:cNvSpPr>
          <p:nvPr/>
        </p:nvSpPr>
        <p:spPr>
          <a:xfrm>
            <a:off x="8433547" y="2442882"/>
            <a:ext cx="32194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>
                <a:solidFill>
                  <a:srgbClr val="17324D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Microsoft YaHei"/>
              </a:rPr>
              <a:t>Ablation / LIME / RISE / </a:t>
            </a:r>
            <a:r>
              <a:rPr sz="1600" b="1" dirty="0" err="1">
                <a:solidFill>
                  <a:srgbClr val="17324D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Microsoft YaHei"/>
              </a:rPr>
              <a:t>KernelSHAP</a:t>
            </a:r>
            <a:endParaRPr sz="1600" b="1" dirty="0">
              <a:solidFill>
                <a:srgbClr val="17324D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Microsoft YaHei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17324D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Microsoft YaHei"/>
              </a:rPr>
              <a:t>后续梯度基线与交互分析</a:t>
            </a:r>
            <a:endParaRPr sz="1600" b="1" dirty="0">
              <a:solidFill>
                <a:srgbClr val="17324D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Microsoft YaHei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6F26989-3FEA-4FE9-90C8-45302D1B5119}"/>
              </a:ext>
            </a:extLst>
          </p:cNvPr>
          <p:cNvSpPr>
            <a:spLocks noGrp="1"/>
          </p:cNvSpPr>
          <p:nvPr/>
        </p:nvSpPr>
        <p:spPr>
          <a:xfrm>
            <a:off x="2528047" y="3871632"/>
            <a:ext cx="3562350" cy="1752600"/>
          </a:xfrm>
          <a:prstGeom prst="roundRect">
            <a:avLst>
              <a:gd name="adj" fmla="val 8152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C985658-7757-498B-884E-0F2EFDA921AE}"/>
              </a:ext>
            </a:extLst>
          </p:cNvPr>
          <p:cNvSpPr>
            <a:spLocks noGrp="1"/>
          </p:cNvSpPr>
          <p:nvPr/>
        </p:nvSpPr>
        <p:spPr>
          <a:xfrm>
            <a:off x="2528047" y="3871632"/>
            <a:ext cx="3562350" cy="95250"/>
          </a:xfrm>
          <a:prstGeom prst="roundRect">
            <a:avLst>
              <a:gd name="adj" fmla="val 50000"/>
            </a:avLst>
          </a:prstGeom>
          <a:solidFill>
            <a:srgbClr val="0799A9"/>
          </a:solidFill>
          <a:ln w="0">
            <a:solidFill>
              <a:srgbClr val="0799A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91223F8-D9FE-48AD-BB4F-7FC7FAE69F67}"/>
              </a:ext>
            </a:extLst>
          </p:cNvPr>
          <p:cNvSpPr>
            <a:spLocks noGrp="1"/>
          </p:cNvSpPr>
          <p:nvPr/>
        </p:nvSpPr>
        <p:spPr>
          <a:xfrm>
            <a:off x="2699497" y="4081182"/>
            <a:ext cx="3219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5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dirty="0" err="1">
                <a:solidFill>
                  <a:srgbClr val="0799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陈纪仰｜实验模块</a:t>
            </a:r>
            <a:r>
              <a:rPr sz="2200" b="1" dirty="0">
                <a:solidFill>
                  <a:srgbClr val="0799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 R4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FA948A2-77EE-4150-A2B3-34F1777403C3}"/>
              </a:ext>
            </a:extLst>
          </p:cNvPr>
          <p:cNvSpPr>
            <a:spLocks noGrp="1"/>
          </p:cNvSpPr>
          <p:nvPr/>
        </p:nvSpPr>
        <p:spPr>
          <a:xfrm>
            <a:off x="2699497" y="4557432"/>
            <a:ext cx="32194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17324D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Microsoft YaHei"/>
              </a:rPr>
              <a:t>评价指标与实验驱动</a:t>
            </a:r>
            <a:endParaRPr sz="1600" b="1" dirty="0">
              <a:solidFill>
                <a:srgbClr val="17324D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Microsoft YaHei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17324D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Microsoft YaHei"/>
              </a:rPr>
              <a:t>预算对齐、断点恢复与实验审计</a:t>
            </a:r>
            <a:endParaRPr sz="1600" b="1" dirty="0">
              <a:solidFill>
                <a:srgbClr val="17324D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Microsoft YaHei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17324D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Microsoft YaHei"/>
              </a:rPr>
              <a:t>项目协调</a:t>
            </a:r>
            <a:endParaRPr sz="1600" b="1" dirty="0">
              <a:solidFill>
                <a:srgbClr val="17324D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Microsoft YaHei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6D8A430-98C4-4584-8CFE-DFB548BB7774}"/>
              </a:ext>
            </a:extLst>
          </p:cNvPr>
          <p:cNvSpPr>
            <a:spLocks noGrp="1"/>
          </p:cNvSpPr>
          <p:nvPr/>
        </p:nvSpPr>
        <p:spPr>
          <a:xfrm>
            <a:off x="6357097" y="3871632"/>
            <a:ext cx="3562350" cy="1752600"/>
          </a:xfrm>
          <a:prstGeom prst="roundRect">
            <a:avLst>
              <a:gd name="adj" fmla="val 8152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CBE938AF-0CAF-4C4A-B458-E3B8B39B48B1}"/>
              </a:ext>
            </a:extLst>
          </p:cNvPr>
          <p:cNvSpPr>
            <a:spLocks noGrp="1"/>
          </p:cNvSpPr>
          <p:nvPr/>
        </p:nvSpPr>
        <p:spPr>
          <a:xfrm>
            <a:off x="6357097" y="3871632"/>
            <a:ext cx="3562350" cy="95250"/>
          </a:xfrm>
          <a:prstGeom prst="roundRect">
            <a:avLst>
              <a:gd name="adj" fmla="val 50000"/>
            </a:avLst>
          </a:prstGeom>
          <a:solidFill>
            <a:srgbClr val="10B7C5"/>
          </a:solidFill>
          <a:ln w="0">
            <a:solidFill>
              <a:srgbClr val="10B7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5CE1EDD-3507-496C-BB09-8352370F0C2F}"/>
              </a:ext>
            </a:extLst>
          </p:cNvPr>
          <p:cNvSpPr>
            <a:spLocks noGrp="1"/>
          </p:cNvSpPr>
          <p:nvPr/>
        </p:nvSpPr>
        <p:spPr>
          <a:xfrm>
            <a:off x="6528547" y="4081182"/>
            <a:ext cx="3219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500" b="1">
                <a:solidFill>
                  <a:srgbClr val="10B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dirty="0" err="1">
                <a:solidFill>
                  <a:srgbClr val="10B7C5"/>
                </a:solidFill>
                <a:latin typeface="Microsoft YaHei"/>
                <a:ea typeface="Microsoft YaHei"/>
                <a:cs typeface="Microsoft YaHei"/>
              </a:rPr>
              <a:t>朱炳政｜分析与文档</a:t>
            </a:r>
            <a:r>
              <a:rPr sz="2200" b="1" dirty="0">
                <a:solidFill>
                  <a:srgbClr val="10B7C5"/>
                </a:solidFill>
                <a:latin typeface="Microsoft YaHei"/>
                <a:ea typeface="Microsoft YaHei"/>
                <a:cs typeface="Microsoft YaHei"/>
              </a:rPr>
              <a:t> R5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4A67F10-B48E-4CF5-8AC3-5036C5917657}"/>
              </a:ext>
            </a:extLst>
          </p:cNvPr>
          <p:cNvSpPr>
            <a:spLocks noGrp="1"/>
          </p:cNvSpPr>
          <p:nvPr/>
        </p:nvSpPr>
        <p:spPr>
          <a:xfrm>
            <a:off x="6528547" y="4557432"/>
            <a:ext cx="32194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17324D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Microsoft YaHei"/>
              </a:rPr>
              <a:t>配对统计与数据可视化</a:t>
            </a:r>
            <a:endParaRPr sz="1600" b="1" dirty="0">
              <a:solidFill>
                <a:srgbClr val="17324D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Microsoft YaHei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17324D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Microsoft YaHei"/>
              </a:rPr>
              <a:t>阶段报告、最终报告与答辩材料</a:t>
            </a:r>
            <a:endParaRPr sz="1600" b="1" dirty="0">
              <a:solidFill>
                <a:srgbClr val="17324D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82397534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946</Words>
  <Application>Microsoft Office PowerPoint</Application>
  <DocSecurity>0</DocSecurity>
  <PresentationFormat>宽屏</PresentationFormat>
  <Paragraphs>249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3" baseType="lpstr">
      <vt:lpstr>华文中宋</vt:lpstr>
      <vt:lpstr>微软雅黑</vt:lpstr>
      <vt:lpstr>微软雅黑</vt:lpstr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emma1220kunby@126.com</cp:lastModifiedBy>
  <cp:revision>8</cp:revision>
  <dcterms:created xsi:type="dcterms:W3CDTF">2026-09-20T03:41:41Z</dcterms:created>
  <dcterms:modified xsi:type="dcterms:W3CDTF">2026-10-09T08:39:13Z</dcterms:modified>
</cp:coreProperties>
</file>