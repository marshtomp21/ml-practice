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99A9"/>
    <a:srgbClr val="1670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封面延续 M1 的克莱因蓝瑞士风。右侧热图为生成的教学示意，不代表真实实验结果或方法排名。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M3 完成默认设置下的统一比较。参数扫描、梯度类交叉比较和最终统计仍属于后续工作。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M1 完成问题与方案，M2 打通流程，M3 完成 KernelSHAP 接入及第一轮四方法统一比较。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四种方法并列进入统一框架，并非连续执行。统一记录实际前向次数与归因耗时。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ImageNet 固定 10 张，CHNCXR 固定 10 张。每个数据域 320 条实验记录完整。KernelSHAP 的 200 次运行设计矩阵全部满秩。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本页只总结互补优势，不合并指标、不计算综合得分，也不形成最终排名。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未提供四个组合的绝对 AUC 数值，因此本页只呈现材料明确支持的领先关系，不绘制虚构坐标。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RISE 的跨种子 Spearman 为 0.9920–0.9943，Top-20% Jaccard 为 0.8873–0.9230。异常组合仍需预算扫描验证。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Ablation 的实际前向次数随区域数变化。LIME、RISE 和 KernelSHAP 的默认预算均为 1024，但 RISE 仍有更高的遮蔽生成与处理成本。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CHNCXR 的定位异常是 M4 的优先诊断对象。病灶面积、粒度、基线和模型真实依赖均可能影响结果。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RQ1 获得阶段性回答。RQ2 仍需参数扫描，RQ3 仍需预算扫描与梯度类交叉比较。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医学域定位诊断、KernelSHAP 预算扫描、RISE 权衡分析为优先任务。OrdShap 为探索性选做实验。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M5 将完成配对统计、置信区间、显著性检验、最终研究问题回答和可复现交付。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团队采用模块负责制与相邻模块交叉复核。分工来自项目 README，阶段结论来自 M3 中期检查材料。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C8D73851-6774-4962-8E63-1DDE2F77B8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rgbClr val="00206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3233A3F-79FB-45E1-A4E2-6FB7F88FC4AE}"/>
              </a:ext>
            </a:extLst>
          </p:cNvPr>
          <p:cNvSpPr>
            <a:spLocks noGrp="1"/>
          </p:cNvSpPr>
          <p:nvPr/>
        </p:nvSpPr>
        <p:spPr>
          <a:xfrm>
            <a:off x="6591300" y="26894"/>
            <a:ext cx="5600700" cy="6858000"/>
          </a:xfrm>
          <a:prstGeom prst="rect">
            <a:avLst/>
          </a:prstGeom>
          <a:solidFill>
            <a:srgbClr val="002060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C87EDA-29A8-4E04-A42D-10AE5C60609F}"/>
              </a:ext>
            </a:extLst>
          </p:cNvPr>
          <p:cNvSpPr>
            <a:spLocks noGrp="1"/>
          </p:cNvSpPr>
          <p:nvPr/>
        </p:nvSpPr>
        <p:spPr>
          <a:xfrm>
            <a:off x="685800" y="1118851"/>
            <a:ext cx="561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机器学习综合实践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FE9A34-8E3F-4411-8A82-20E217F1C366}"/>
              </a:ext>
            </a:extLst>
          </p:cNvPr>
          <p:cNvSpPr>
            <a:spLocks noGrp="1"/>
          </p:cNvSpPr>
          <p:nvPr/>
        </p:nvSpPr>
        <p:spPr>
          <a:xfrm>
            <a:off x="685800" y="1747501"/>
            <a:ext cx="6286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3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图像分类特征归因方法的</a:t>
            </a:r>
            <a:endParaRPr sz="39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3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质量</a:t>
            </a:r>
            <a:r>
              <a:rPr sz="39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sz="3900" b="1" dirty="0" err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效率</a:t>
            </a:r>
            <a:r>
              <a:rPr sz="3900" b="1" dirty="0" err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比较</a:t>
            </a:r>
            <a:endParaRPr sz="3900" b="1" dirty="0">
              <a:solidFill>
                <a:srgbClr val="081D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664206-2D09-456E-BD42-C7547738D895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0" dirty="0" err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实验实现与初步比较</a:t>
            </a:r>
            <a:endParaRPr sz="1900" b="0" dirty="0">
              <a:solidFill>
                <a:srgbClr val="61758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9EEAEC27-3803-4AC0-9416-348D70AF472B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5810250" cy="0"/>
          </a:xfrm>
          <a:prstGeom prst="line">
            <a:avLst/>
          </a:prstGeom>
          <a:noFill/>
          <a:ln w="11430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7E59CE-88D6-4D9A-8585-0C5C428D87E3}"/>
              </a:ext>
            </a:extLst>
          </p:cNvPr>
          <p:cNvSpPr>
            <a:spLocks noGrp="1"/>
          </p:cNvSpPr>
          <p:nvPr/>
        </p:nvSpPr>
        <p:spPr>
          <a:xfrm>
            <a:off x="685800" y="4286250"/>
            <a:ext cx="628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4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G01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小组成员：陈纪仰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朱炳政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杜孟泽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张泰瑜</a:t>
            </a: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400" b="0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邹研泽</a:t>
            </a:r>
            <a:endParaRPr sz="1400" b="0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A86B60-E1B1-4DB2-851D-3F8AD23B9E8E}"/>
              </a:ext>
            </a:extLst>
          </p:cNvPr>
          <p:cNvSpPr>
            <a:spLocks noGrp="1"/>
          </p:cNvSpPr>
          <p:nvPr/>
        </p:nvSpPr>
        <p:spPr>
          <a:xfrm>
            <a:off x="685800" y="4762237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400" b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0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日期：2026/9/20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62800" y="986842"/>
            <a:ext cx="4324350" cy="4324350"/>
          </a:xfrm>
          <a:prstGeom prst="roundRect">
            <a:avLst>
              <a:gd name="adj" fmla="val 3409"/>
            </a:avLst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21F7F3EA-932E-4305-A387-17EFEB176110}"/>
              </a:ext>
            </a:extLst>
          </p:cNvPr>
          <p:cNvSpPr>
            <a:spLocks noGrp="1"/>
          </p:cNvSpPr>
          <p:nvPr/>
        </p:nvSpPr>
        <p:spPr>
          <a:xfrm>
            <a:off x="7650248" y="5354393"/>
            <a:ext cx="3352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同一图像，不同解释方法</a:t>
            </a:r>
            <a:endParaRPr sz="15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8321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5C6EFD18-9B6C-4390-8C6A-E3735D139176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B659C9E-B649-4515-B6EF-DC0991FE794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从实验设计进入统一比较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234558-A616-49C2-963D-16D8B3989F0F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0F4C54-B528-492A-9128-C6AB64E91AD7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29DB09-2E2F-4CD6-8F2B-3C85340B6462}"/>
              </a:ext>
            </a:extLst>
          </p:cNvPr>
          <p:cNvSpPr>
            <a:spLocks noGrp="1"/>
          </p:cNvSpPr>
          <p:nvPr/>
        </p:nvSpPr>
        <p:spPr>
          <a:xfrm>
            <a:off x="857250" y="1374963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CA979D-A5EC-4F74-890E-0ACAC487E69B}"/>
              </a:ext>
            </a:extLst>
          </p:cNvPr>
          <p:cNvSpPr>
            <a:spLocks noGrp="1"/>
          </p:cNvSpPr>
          <p:nvPr/>
        </p:nvSpPr>
        <p:spPr>
          <a:xfrm>
            <a:off x="1028700" y="15083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B70FF0-2713-4DA9-889B-CD5BC1F616F1}"/>
              </a:ext>
            </a:extLst>
          </p:cNvPr>
          <p:cNvSpPr>
            <a:spLocks noGrp="1"/>
          </p:cNvSpPr>
          <p:nvPr/>
        </p:nvSpPr>
        <p:spPr>
          <a:xfrm>
            <a:off x="1028700" y="1794063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 × 效率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2742869-25C2-457D-A19B-BCFB4830646B}"/>
              </a:ext>
            </a:extLst>
          </p:cNvPr>
          <p:cNvSpPr>
            <a:spLocks noGrp="1"/>
          </p:cNvSpPr>
          <p:nvPr/>
        </p:nvSpPr>
        <p:spPr>
          <a:xfrm>
            <a:off x="3212475" y="1374963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98C74DE-53C0-4552-93C1-1F0AD05C8B7E}"/>
              </a:ext>
            </a:extLst>
          </p:cNvPr>
          <p:cNvSpPr>
            <a:spLocks noGrp="1"/>
          </p:cNvSpPr>
          <p:nvPr/>
        </p:nvSpPr>
        <p:spPr>
          <a:xfrm>
            <a:off x="3383925" y="15083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3E424D2-7E49-4890-B49A-086D626E3671}"/>
              </a:ext>
            </a:extLst>
          </p:cNvPr>
          <p:cNvSpPr>
            <a:spLocks noGrp="1"/>
          </p:cNvSpPr>
          <p:nvPr/>
        </p:nvSpPr>
        <p:spPr>
          <a:xfrm>
            <a:off x="3383925" y="1794063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参数敏感性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3C9F858-04C3-4304-84CA-5ECDBDA8D29E}"/>
              </a:ext>
            </a:extLst>
          </p:cNvPr>
          <p:cNvSpPr>
            <a:spLocks noGrp="1"/>
          </p:cNvSpPr>
          <p:nvPr/>
        </p:nvSpPr>
        <p:spPr>
          <a:xfrm>
            <a:off x="5567700" y="1374963"/>
            <a:ext cx="2286000" cy="819150"/>
          </a:xfrm>
          <a:prstGeom prst="roundRect">
            <a:avLst>
              <a:gd name="adj" fmla="val 17442"/>
            </a:avLst>
          </a:prstGeom>
          <a:solidFill>
            <a:srgbClr val="0799A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>
              <a:solidFill>
                <a:srgbClr val="0799A9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68C5026-623A-4727-A97B-8F8CBF273BDC}"/>
              </a:ext>
            </a:extLst>
          </p:cNvPr>
          <p:cNvSpPr>
            <a:spLocks noGrp="1"/>
          </p:cNvSpPr>
          <p:nvPr/>
        </p:nvSpPr>
        <p:spPr>
          <a:xfrm>
            <a:off x="5739150" y="1508313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RQ3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51E62CD-6B88-4960-A8AD-8E50ADED595E}"/>
              </a:ext>
            </a:extLst>
          </p:cNvPr>
          <p:cNvSpPr>
            <a:spLocks noGrp="1"/>
          </p:cNvSpPr>
          <p:nvPr/>
        </p:nvSpPr>
        <p:spPr>
          <a:xfrm>
            <a:off x="5739150" y="1794063"/>
            <a:ext cx="19431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理论 × 实践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04F3608-281E-4ECD-A4DF-E6D7907591AF}"/>
              </a:ext>
            </a:extLst>
          </p:cNvPr>
          <p:cNvSpPr>
            <a:spLocks noGrp="1"/>
          </p:cNvSpPr>
          <p:nvPr/>
        </p:nvSpPr>
        <p:spPr>
          <a:xfrm>
            <a:off x="9372600" y="1432113"/>
            <a:ext cx="2133600" cy="685800"/>
          </a:xfrm>
          <a:prstGeom prst="roundRect">
            <a:avLst>
              <a:gd name="adj" fmla="val 22222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142793D-5B25-4F32-8503-55A13A292A02}"/>
              </a:ext>
            </a:extLst>
          </p:cNvPr>
          <p:cNvSpPr>
            <a:spLocks noGrp="1"/>
          </p:cNvSpPr>
          <p:nvPr/>
        </p:nvSpPr>
        <p:spPr>
          <a:xfrm>
            <a:off x="9372600" y="2156013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四种核心方法统一实验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9B694446-B8C2-4434-ADBF-922D10CB27CC}"/>
              </a:ext>
            </a:extLst>
          </p:cNvPr>
          <p:cNvSpPr>
            <a:spLocks noGrp="1"/>
          </p:cNvSpPr>
          <p:nvPr/>
        </p:nvSpPr>
        <p:spPr>
          <a:xfrm>
            <a:off x="8025150" y="1641662"/>
            <a:ext cx="1233150" cy="304799"/>
          </a:xfrm>
          <a:prstGeom prst="rightArrow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3720B4-A070-47ED-BDF1-91035425FC55}"/>
              </a:ext>
            </a:extLst>
          </p:cNvPr>
          <p:cNvSpPr>
            <a:spLocks noGrp="1"/>
          </p:cNvSpPr>
          <p:nvPr/>
        </p:nvSpPr>
        <p:spPr>
          <a:xfrm>
            <a:off x="704850" y="2571750"/>
            <a:ext cx="495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本阶段已完成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C373A682-2F51-42C3-AB3B-211F21CE5542}"/>
              </a:ext>
            </a:extLst>
          </p:cNvPr>
          <p:cNvSpPr>
            <a:spLocks noGrp="1"/>
          </p:cNvSpPr>
          <p:nvPr/>
        </p:nvSpPr>
        <p:spPr>
          <a:xfrm>
            <a:off x="2152650" y="2724150"/>
            <a:ext cx="35052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044F161-3680-428A-AE67-17050C2FFA17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86376F-8C19-482F-B52D-B0E05B2512DC}"/>
              </a:ext>
            </a:extLst>
          </p:cNvPr>
          <p:cNvSpPr>
            <a:spLocks noGrp="1"/>
          </p:cNvSpPr>
          <p:nvPr/>
        </p:nvSpPr>
        <p:spPr>
          <a:xfrm>
            <a:off x="742950" y="3067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F74666D-CCE2-4F9C-BCCA-88011FF38A47}"/>
              </a:ext>
            </a:extLst>
          </p:cNvPr>
          <p:cNvSpPr>
            <a:spLocks noGrp="1"/>
          </p:cNvSpPr>
          <p:nvPr/>
        </p:nvSpPr>
        <p:spPr>
          <a:xfrm>
            <a:off x="1104900" y="30099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核心方法实现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7BD3C166-327A-4A14-9CA6-E5C2EC6E35CA}"/>
              </a:ext>
            </a:extLst>
          </p:cNvPr>
          <p:cNvSpPr>
            <a:spLocks noGrp="1"/>
          </p:cNvSpPr>
          <p:nvPr/>
        </p:nvSpPr>
        <p:spPr>
          <a:xfrm>
            <a:off x="3181350" y="3067050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0185FE6-07AC-45E1-94E8-B33DC0316B0E}"/>
              </a:ext>
            </a:extLst>
          </p:cNvPr>
          <p:cNvSpPr>
            <a:spLocks noGrp="1"/>
          </p:cNvSpPr>
          <p:nvPr/>
        </p:nvSpPr>
        <p:spPr>
          <a:xfrm>
            <a:off x="3181350" y="30670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64D070F-4666-4AA3-97DA-4C09D1E99EBD}"/>
              </a:ext>
            </a:extLst>
          </p:cNvPr>
          <p:cNvSpPr>
            <a:spLocks noGrp="1"/>
          </p:cNvSpPr>
          <p:nvPr/>
        </p:nvSpPr>
        <p:spPr>
          <a:xfrm>
            <a:off x="3543300" y="30099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端到端实验流程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CAB77B44-F36E-4C7B-B2EC-C65B38356A35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9BB8689-278A-4EB5-A2CB-8756948B0FE7}"/>
              </a:ext>
            </a:extLst>
          </p:cNvPr>
          <p:cNvSpPr>
            <a:spLocks noGrp="1"/>
          </p:cNvSpPr>
          <p:nvPr/>
        </p:nvSpPr>
        <p:spPr>
          <a:xfrm>
            <a:off x="742950" y="37528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4868B9E-F3E6-46A7-BC20-19005BAE5B69}"/>
              </a:ext>
            </a:extLst>
          </p:cNvPr>
          <p:cNvSpPr>
            <a:spLocks noGrp="1"/>
          </p:cNvSpPr>
          <p:nvPr/>
        </p:nvSpPr>
        <p:spPr>
          <a:xfrm>
            <a:off x="1104900" y="36957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默认配置统一实验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FE8F8CF6-06AE-4531-99D7-6AB151BC20CF}"/>
              </a:ext>
            </a:extLst>
          </p:cNvPr>
          <p:cNvSpPr>
            <a:spLocks noGrp="1"/>
          </p:cNvSpPr>
          <p:nvPr/>
        </p:nvSpPr>
        <p:spPr>
          <a:xfrm>
            <a:off x="3181350" y="3752850"/>
            <a:ext cx="285750" cy="2857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2E3B22D-CEBA-4BB1-A752-60974DB2B95D}"/>
              </a:ext>
            </a:extLst>
          </p:cNvPr>
          <p:cNvSpPr>
            <a:spLocks noGrp="1"/>
          </p:cNvSpPr>
          <p:nvPr/>
        </p:nvSpPr>
        <p:spPr>
          <a:xfrm>
            <a:off x="3181350" y="375285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1EDCD0-AF88-404B-ABF6-263BC5C004D3}"/>
              </a:ext>
            </a:extLst>
          </p:cNvPr>
          <p:cNvSpPr>
            <a:spLocks noGrp="1"/>
          </p:cNvSpPr>
          <p:nvPr/>
        </p:nvSpPr>
        <p:spPr>
          <a:xfrm>
            <a:off x="3543300" y="3695700"/>
            <a:ext cx="1905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第一轮结果比较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6F1EEE6-2D5B-460E-86F5-F4625AD24892}"/>
              </a:ext>
            </a:extLst>
          </p:cNvPr>
          <p:cNvSpPr>
            <a:spLocks noGrp="1"/>
          </p:cNvSpPr>
          <p:nvPr/>
        </p:nvSpPr>
        <p:spPr>
          <a:xfrm>
            <a:off x="6324600" y="2571750"/>
            <a:ext cx="5181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待 M4 / M5 完成</a:t>
            </a:r>
          </a:p>
        </p:txBody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4FBA682D-B29F-4976-884D-7A2D82E593AB}"/>
              </a:ext>
            </a:extLst>
          </p:cNvPr>
          <p:cNvSpPr>
            <a:spLocks noGrp="1"/>
          </p:cNvSpPr>
          <p:nvPr/>
        </p:nvSpPr>
        <p:spPr>
          <a:xfrm>
            <a:off x="7981950" y="2724150"/>
            <a:ext cx="3524250" cy="0"/>
          </a:xfrm>
          <a:prstGeom prst="line">
            <a:avLst/>
          </a:prstGeom>
          <a:noFill/>
          <a:ln w="952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0830CBEF-0C4F-4250-AFCF-47F97D944EF0}"/>
              </a:ext>
            </a:extLst>
          </p:cNvPr>
          <p:cNvSpPr>
            <a:spLocks noGrp="1"/>
          </p:cNvSpPr>
          <p:nvPr/>
        </p:nvSpPr>
        <p:spPr>
          <a:xfrm>
            <a:off x="6324600" y="3009900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参数扫描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02223663-CB1F-4DD3-9359-535496711B03}"/>
              </a:ext>
            </a:extLst>
          </p:cNvPr>
          <p:cNvSpPr>
            <a:spLocks noGrp="1"/>
          </p:cNvSpPr>
          <p:nvPr/>
        </p:nvSpPr>
        <p:spPr>
          <a:xfrm>
            <a:off x="8915400" y="3009900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梯度类交叉比较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6D8B52E5-7EAA-45F5-A33E-3DBB7F718E28}"/>
              </a:ext>
            </a:extLst>
          </p:cNvPr>
          <p:cNvSpPr>
            <a:spLocks noGrp="1"/>
          </p:cNvSpPr>
          <p:nvPr/>
        </p:nvSpPr>
        <p:spPr>
          <a:xfrm>
            <a:off x="6324600" y="3695700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最终统计确认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D55AECD-D865-4D28-8F29-FE6F926B57A1}"/>
              </a:ext>
            </a:extLst>
          </p:cNvPr>
          <p:cNvSpPr>
            <a:spLocks noGrp="1"/>
          </p:cNvSpPr>
          <p:nvPr/>
        </p:nvSpPr>
        <p:spPr>
          <a:xfrm>
            <a:off x="8915400" y="3695700"/>
            <a:ext cx="2362200" cy="4572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最终方法建议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EA6D519A-82FA-4CC7-B731-953ACD8470C9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10820400" cy="552450"/>
          </a:xfrm>
          <a:prstGeom prst="roundRect">
            <a:avLst>
              <a:gd name="adj" fmla="val 24138"/>
            </a:avLst>
          </a:prstGeom>
          <a:solidFill>
            <a:srgbClr val="EAF3FB"/>
          </a:solidFill>
          <a:ln w="12383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00" b="1" dirty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但 </a:t>
            </a:r>
            <a:r>
              <a:rPr sz="1900" b="1" dirty="0" err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当前结果</a:t>
            </a:r>
            <a:r>
              <a:rPr sz="1900" b="1" dirty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 = </a:t>
            </a:r>
            <a:r>
              <a:rPr sz="1900" b="1" dirty="0" err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阶段性证据</a:t>
            </a:r>
            <a:r>
              <a:rPr sz="1900" b="1" dirty="0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　　≠　　</a:t>
            </a:r>
            <a:r>
              <a:rPr sz="1900" b="1" dirty="0" err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最终方法排名</a:t>
            </a:r>
            <a:endParaRPr sz="1900" b="1" dirty="0">
              <a:solidFill>
                <a:srgbClr val="002FA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81D92B15-7F09-4DDD-A21C-9E6C16D4924B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10820400" cy="590550"/>
          </a:xfrm>
          <a:prstGeom prst="roundRect">
            <a:avLst>
              <a:gd name="adj" fmla="val 19355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本阶段</a:t>
            </a:r>
            <a:r>
              <a:rPr sz="18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的重点是确认不同优势能否在统一口径下稳定观察</a:t>
            </a:r>
            <a:endParaRPr sz="18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754550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666A4870-2739-4233-9FD8-70D4243C76D5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7AAA8D-2EC4-426E-9708-C70828DB0C3D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研究问题逐步转化为可运行实验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B66FC1-4099-438A-8416-4BF2F8AFFA57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7485870-EAE1-46E3-B662-2BD9FC614D6B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088D12DC-4C04-4F82-9513-50B412104136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3086100" cy="3714750"/>
          </a:xfrm>
          <a:prstGeom prst="roundRect">
            <a:avLst>
              <a:gd name="adj" fmla="val 5556"/>
            </a:avLst>
          </a:prstGeom>
          <a:solidFill>
            <a:srgbClr val="F6FAFD"/>
          </a:solidFill>
          <a:ln w="1524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D34C78B-8AAA-4469-A890-7280F8FA104C}"/>
              </a:ext>
            </a:extLst>
          </p:cNvPr>
          <p:cNvSpPr>
            <a:spLocks noGrp="1"/>
          </p:cNvSpPr>
          <p:nvPr/>
        </p:nvSpPr>
        <p:spPr>
          <a:xfrm>
            <a:off x="876300" y="158115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M1｜问题与方案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B9729D85-F359-4DDE-BE96-305CBB0C6C68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7051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2C3E35-3C92-4EAD-AFAC-B292C4191880}"/>
              </a:ext>
            </a:extLst>
          </p:cNvPr>
          <p:cNvSpPr>
            <a:spLocks noGrp="1"/>
          </p:cNvSpPr>
          <p:nvPr/>
        </p:nvSpPr>
        <p:spPr>
          <a:xfrm>
            <a:off x="914400" y="2343150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RQ1–RQ3</a:t>
            </a: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数据域与模型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统一实验口径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参数范围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8EF60EE-689F-422D-A503-C096577E91C4}"/>
              </a:ext>
            </a:extLst>
          </p:cNvPr>
          <p:cNvSpPr>
            <a:spLocks noGrp="1"/>
          </p:cNvSpPr>
          <p:nvPr/>
        </p:nvSpPr>
        <p:spPr>
          <a:xfrm>
            <a:off x="876300" y="4362450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081D3A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可执行实验任务书</a:t>
            </a:r>
            <a:endParaRPr sz="1300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5F536EF-A520-41C9-AD10-D99BDEC151C9}"/>
              </a:ext>
            </a:extLst>
          </p:cNvPr>
          <p:cNvSpPr>
            <a:spLocks noGrp="1"/>
          </p:cNvSpPr>
          <p:nvPr/>
        </p:nvSpPr>
        <p:spPr>
          <a:xfrm>
            <a:off x="3771900" y="3048000"/>
            <a:ext cx="781050" cy="2857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F6990C-94CF-4895-8292-07C3B6B9C600}"/>
              </a:ext>
            </a:extLst>
          </p:cNvPr>
          <p:cNvSpPr>
            <a:spLocks noGrp="1"/>
          </p:cNvSpPr>
          <p:nvPr/>
        </p:nvSpPr>
        <p:spPr>
          <a:xfrm>
            <a:off x="4552950" y="1390650"/>
            <a:ext cx="3086100" cy="3714750"/>
          </a:xfrm>
          <a:prstGeom prst="roundRect">
            <a:avLst>
              <a:gd name="adj" fmla="val 5556"/>
            </a:avLst>
          </a:prstGeom>
          <a:solidFill>
            <a:srgbClr val="F6FAFD"/>
          </a:solidFill>
          <a:ln w="1524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6CDA4A-8E46-4AF7-B2CA-48F714BC90A2}"/>
              </a:ext>
            </a:extLst>
          </p:cNvPr>
          <p:cNvSpPr>
            <a:spLocks noGrp="1"/>
          </p:cNvSpPr>
          <p:nvPr/>
        </p:nvSpPr>
        <p:spPr>
          <a:xfrm>
            <a:off x="4743450" y="158115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M2｜端到端流程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59309ED4-9E8B-43ED-9CCB-CA74F075CC92}"/>
              </a:ext>
            </a:extLst>
          </p:cNvPr>
          <p:cNvSpPr>
            <a:spLocks noGrp="1"/>
          </p:cNvSpPr>
          <p:nvPr/>
        </p:nvSpPr>
        <p:spPr>
          <a:xfrm>
            <a:off x="4743450" y="2095500"/>
            <a:ext cx="27051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300593A-ECAD-4588-B684-F82DD8928545}"/>
              </a:ext>
            </a:extLst>
          </p:cNvPr>
          <p:cNvSpPr>
            <a:spLocks noGrp="1"/>
          </p:cNvSpPr>
          <p:nvPr/>
        </p:nvSpPr>
        <p:spPr>
          <a:xfrm>
            <a:off x="4781550" y="2343150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Ablation / LIME / RISE</a:t>
            </a: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数据检查与共同正确样本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</a:t>
            </a: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归因</a:t>
            </a:r>
            <a:r>
              <a:rPr sz="1600" b="1" dirty="0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600" b="1" dirty="0" err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评价</a:t>
            </a:r>
            <a:endParaRPr sz="1600" b="1" dirty="0">
              <a:solidFill>
                <a:srgbClr val="17324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C6C753F-A437-4EDC-9FCA-32123350E145}"/>
              </a:ext>
            </a:extLst>
          </p:cNvPr>
          <p:cNvSpPr>
            <a:spLocks noGrp="1"/>
          </p:cNvSpPr>
          <p:nvPr/>
        </p:nvSpPr>
        <p:spPr>
          <a:xfrm>
            <a:off x="4743450" y="4362450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1670D2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端到端流程验证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7CB3D31C-9C4C-4C14-8999-65F947611578}"/>
              </a:ext>
            </a:extLst>
          </p:cNvPr>
          <p:cNvSpPr>
            <a:spLocks noGrp="1"/>
          </p:cNvSpPr>
          <p:nvPr/>
        </p:nvSpPr>
        <p:spPr>
          <a:xfrm>
            <a:off x="7639050" y="3048000"/>
            <a:ext cx="781050" cy="2857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3D4F089-F9FA-4AAD-A14B-79D965566981}"/>
              </a:ext>
            </a:extLst>
          </p:cNvPr>
          <p:cNvSpPr>
            <a:spLocks noGrp="1"/>
          </p:cNvSpPr>
          <p:nvPr/>
        </p:nvSpPr>
        <p:spPr>
          <a:xfrm>
            <a:off x="8420100" y="1390650"/>
            <a:ext cx="3086100" cy="3714750"/>
          </a:xfrm>
          <a:prstGeom prst="roundRect">
            <a:avLst>
              <a:gd name="adj" fmla="val 5556"/>
            </a:avLst>
          </a:prstGeom>
          <a:solidFill>
            <a:srgbClr val="002FA7"/>
          </a:solidFill>
          <a:ln w="1524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9C40C32-90DE-4F4A-84AA-73F00955D2D2}"/>
              </a:ext>
            </a:extLst>
          </p:cNvPr>
          <p:cNvSpPr>
            <a:spLocks noGrp="1"/>
          </p:cNvSpPr>
          <p:nvPr/>
        </p:nvSpPr>
        <p:spPr>
          <a:xfrm>
            <a:off x="8610600" y="1581150"/>
            <a:ext cx="2705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M3｜统一比较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C580D9E0-7DBD-4AC4-92FD-FF029950A33C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2705100" cy="0"/>
          </a:xfrm>
          <a:prstGeom prst="line">
            <a:avLst/>
          </a:prstGeom>
          <a:noFill/>
          <a:ln w="9525">
            <a:solidFill>
              <a:srgbClr val="6D91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1D49F05-E0AC-43A3-B63A-4E6777B93E1A}"/>
              </a:ext>
            </a:extLst>
          </p:cNvPr>
          <p:cNvSpPr>
            <a:spLocks noGrp="1"/>
          </p:cNvSpPr>
          <p:nvPr/>
        </p:nvSpPr>
        <p:spPr>
          <a:xfrm>
            <a:off x="8648700" y="2343150"/>
            <a:ext cx="2628900" cy="1790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KernelSHAP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四方法统一接口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数据域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× 2 </a:t>
            </a: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  <a:p>
            <a:pPr algn="l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四类评价</a:t>
            </a:r>
            <a:r>
              <a:rPr sz="16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 ✓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824644C-930B-4665-A9C4-D79644555065}"/>
              </a:ext>
            </a:extLst>
          </p:cNvPr>
          <p:cNvSpPr>
            <a:spLocks noGrp="1"/>
          </p:cNvSpPr>
          <p:nvPr/>
        </p:nvSpPr>
        <p:spPr>
          <a:xfrm>
            <a:off x="8610600" y="4362450"/>
            <a:ext cx="270510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第一轮可比较、可审计证据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7E19BD83-AF3D-4733-87B4-5ABD62748FFA}"/>
              </a:ext>
            </a:extLst>
          </p:cNvPr>
          <p:cNvSpPr>
            <a:spLocks noGrp="1"/>
          </p:cNvSpPr>
          <p:nvPr/>
        </p:nvSpPr>
        <p:spPr>
          <a:xfrm>
            <a:off x="1790700" y="5600700"/>
            <a:ext cx="16764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45D5506F-4F6C-480C-893A-299510751055}"/>
              </a:ext>
            </a:extLst>
          </p:cNvPr>
          <p:cNvSpPr>
            <a:spLocks noGrp="1"/>
          </p:cNvSpPr>
          <p:nvPr/>
        </p:nvSpPr>
        <p:spPr>
          <a:xfrm>
            <a:off x="3524250" y="5695950"/>
            <a:ext cx="400050" cy="209550"/>
          </a:xfrm>
          <a:prstGeom prst="rightArrow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9564DB9B-3217-4C88-A34B-1F354FCA35AF}"/>
              </a:ext>
            </a:extLst>
          </p:cNvPr>
          <p:cNvSpPr>
            <a:spLocks noGrp="1"/>
          </p:cNvSpPr>
          <p:nvPr/>
        </p:nvSpPr>
        <p:spPr>
          <a:xfrm>
            <a:off x="4152900" y="5600700"/>
            <a:ext cx="16764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实验方案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617127F3-3BE3-4C08-ABA7-304E2E9E8E83}"/>
              </a:ext>
            </a:extLst>
          </p:cNvPr>
          <p:cNvSpPr>
            <a:spLocks noGrp="1"/>
          </p:cNvSpPr>
          <p:nvPr/>
        </p:nvSpPr>
        <p:spPr>
          <a:xfrm>
            <a:off x="5886450" y="5695950"/>
            <a:ext cx="400050" cy="209550"/>
          </a:xfrm>
          <a:prstGeom prst="rightArrow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2C0B86FD-4AEF-41F0-9E28-6CF99CF06165}"/>
              </a:ext>
            </a:extLst>
          </p:cNvPr>
          <p:cNvSpPr>
            <a:spLocks noGrp="1"/>
          </p:cNvSpPr>
          <p:nvPr/>
        </p:nvSpPr>
        <p:spPr>
          <a:xfrm>
            <a:off x="6515100" y="5600700"/>
            <a:ext cx="16764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工程实现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77B344DD-3688-4A61-AFE9-A10EC5D1A1F6}"/>
              </a:ext>
            </a:extLst>
          </p:cNvPr>
          <p:cNvSpPr>
            <a:spLocks noGrp="1"/>
          </p:cNvSpPr>
          <p:nvPr/>
        </p:nvSpPr>
        <p:spPr>
          <a:xfrm>
            <a:off x="8248650" y="5695950"/>
            <a:ext cx="400050" cy="209550"/>
          </a:xfrm>
          <a:prstGeom prst="rightArrow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0B7C948B-9012-4137-9E40-31C120A09D88}"/>
              </a:ext>
            </a:extLst>
          </p:cNvPr>
          <p:cNvSpPr>
            <a:spLocks noGrp="1"/>
          </p:cNvSpPr>
          <p:nvPr/>
        </p:nvSpPr>
        <p:spPr>
          <a:xfrm>
            <a:off x="8877300" y="5600700"/>
            <a:ext cx="1676400" cy="40005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统一比较</a:t>
            </a:r>
          </a:p>
        </p:txBody>
      </p:sp>
    </p:spTree>
    <p:extLst>
      <p:ext uri="{BB962C8B-B14F-4D97-AF65-F5344CB8AC3E}">
        <p14:creationId xmlns:p14="http://schemas.microsoft.com/office/powerpoint/2010/main" val="103799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7B75FCA3-326D-4F20-83B8-DD166698A753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13F498-83F2-4933-8FD6-798FFBDBD32A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四种方法已接入统一实验链路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7F7ED62-9A97-47D1-A35F-3C7FAD7D3E77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F1FDF9C-C5A5-4CFE-90F4-550C2FA1F276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9268068-771D-4C1A-AEA4-13BFF975EA46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C7365E3-7AD5-4BC7-BDEE-15E56FB0B81D}"/>
              </a:ext>
            </a:extLst>
          </p:cNvPr>
          <p:cNvSpPr>
            <a:spLocks noGrp="1"/>
          </p:cNvSpPr>
          <p:nvPr/>
        </p:nvSpPr>
        <p:spPr>
          <a:xfrm>
            <a:off x="590550" y="1200150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081D3A"/>
          </a:solidFill>
          <a:ln w="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9E89ACC-4D29-42AA-9EDB-D2660DD7C5D1}"/>
              </a:ext>
            </a:extLst>
          </p:cNvPr>
          <p:cNvSpPr>
            <a:spLocks noGrp="1"/>
          </p:cNvSpPr>
          <p:nvPr/>
        </p:nvSpPr>
        <p:spPr>
          <a:xfrm>
            <a:off x="762000" y="14287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Ablation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648113-9BEA-400B-A096-750B251F10C5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逐区域消融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D8365EE-D3E3-45DA-820A-FC4661EF62CD}"/>
              </a:ext>
            </a:extLst>
          </p:cNvPr>
          <p:cNvSpPr>
            <a:spLocks noGrp="1"/>
          </p:cNvSpPr>
          <p:nvPr/>
        </p:nvSpPr>
        <p:spPr>
          <a:xfrm>
            <a:off x="3448050" y="1200150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CDB0C25-4C2C-4E1A-9C89-E77535269B8C}"/>
              </a:ext>
            </a:extLst>
          </p:cNvPr>
          <p:cNvSpPr>
            <a:spLocks noGrp="1"/>
          </p:cNvSpPr>
          <p:nvPr/>
        </p:nvSpPr>
        <p:spPr>
          <a:xfrm>
            <a:off x="3448050" y="1200150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9A1416E-D384-423B-810D-0284A370167D}"/>
              </a:ext>
            </a:extLst>
          </p:cNvPr>
          <p:cNvSpPr>
            <a:spLocks noGrp="1"/>
          </p:cNvSpPr>
          <p:nvPr/>
        </p:nvSpPr>
        <p:spPr>
          <a:xfrm>
            <a:off x="3619500" y="14287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LIME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72D39C-0AA8-4D6D-8CF8-C74C5941319F}"/>
              </a:ext>
            </a:extLst>
          </p:cNvPr>
          <p:cNvSpPr>
            <a:spLocks noGrp="1"/>
          </p:cNvSpPr>
          <p:nvPr/>
        </p:nvSpPr>
        <p:spPr>
          <a:xfrm>
            <a:off x="36195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局部代理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32A3B1D-9835-4287-8381-F63F608EB3CE}"/>
              </a:ext>
            </a:extLst>
          </p:cNvPr>
          <p:cNvSpPr>
            <a:spLocks noGrp="1"/>
          </p:cNvSpPr>
          <p:nvPr/>
        </p:nvSpPr>
        <p:spPr>
          <a:xfrm>
            <a:off x="6305550" y="1200150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461CE18-DCFD-457E-9456-E53D929D838F}"/>
              </a:ext>
            </a:extLst>
          </p:cNvPr>
          <p:cNvSpPr>
            <a:spLocks noGrp="1"/>
          </p:cNvSpPr>
          <p:nvPr/>
        </p:nvSpPr>
        <p:spPr>
          <a:xfrm>
            <a:off x="6305550" y="1200150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71B8C2-2ABE-429B-8C86-9AD90BAE82AC}"/>
              </a:ext>
            </a:extLst>
          </p:cNvPr>
          <p:cNvSpPr>
            <a:spLocks noGrp="1"/>
          </p:cNvSpPr>
          <p:nvPr/>
        </p:nvSpPr>
        <p:spPr>
          <a:xfrm>
            <a:off x="6477000" y="14287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RISE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F3E4FA4-2091-4157-9ED5-C92C67893C16}"/>
              </a:ext>
            </a:extLst>
          </p:cNvPr>
          <p:cNvSpPr>
            <a:spLocks noGrp="1"/>
          </p:cNvSpPr>
          <p:nvPr/>
        </p:nvSpPr>
        <p:spPr>
          <a:xfrm>
            <a:off x="64770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随机软掩码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79A9929-F5E6-4E71-895E-3A59BC2C897D}"/>
              </a:ext>
            </a:extLst>
          </p:cNvPr>
          <p:cNvSpPr>
            <a:spLocks noGrp="1"/>
          </p:cNvSpPr>
          <p:nvPr/>
        </p:nvSpPr>
        <p:spPr>
          <a:xfrm>
            <a:off x="9163050" y="1200150"/>
            <a:ext cx="2438400" cy="1123950"/>
          </a:xfrm>
          <a:prstGeom prst="roundRect">
            <a:avLst>
              <a:gd name="adj" fmla="val 11864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F74740F-D727-4254-9E30-50ADCA90C727}"/>
              </a:ext>
            </a:extLst>
          </p:cNvPr>
          <p:cNvSpPr>
            <a:spLocks noGrp="1"/>
          </p:cNvSpPr>
          <p:nvPr/>
        </p:nvSpPr>
        <p:spPr>
          <a:xfrm>
            <a:off x="9163050" y="1200150"/>
            <a:ext cx="2438400" cy="11430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CE7427C-6B47-44EF-8B83-DF828EFFF630}"/>
              </a:ext>
            </a:extLst>
          </p:cNvPr>
          <p:cNvSpPr>
            <a:spLocks noGrp="1"/>
          </p:cNvSpPr>
          <p:nvPr/>
        </p:nvSpPr>
        <p:spPr>
          <a:xfrm>
            <a:off x="9334500" y="1428750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KernelSHAP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531C10A-F109-47AF-9E94-E5EFD81E3EF9}"/>
              </a:ext>
            </a:extLst>
          </p:cNvPr>
          <p:cNvSpPr>
            <a:spLocks noGrp="1"/>
          </p:cNvSpPr>
          <p:nvPr/>
        </p:nvSpPr>
        <p:spPr>
          <a:xfrm>
            <a:off x="9334500" y="180975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Shapley 近似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7F1C674-9B53-43B8-A466-1BE3F8EF8AED}"/>
              </a:ext>
            </a:extLst>
          </p:cNvPr>
          <p:cNvSpPr>
            <a:spLocks noGrp="1"/>
          </p:cNvSpPr>
          <p:nvPr/>
        </p:nvSpPr>
        <p:spPr>
          <a:xfrm>
            <a:off x="51435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输入图像</a:t>
            </a:r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693430C2-C7ED-45DE-8410-C0F3A3DF779E}"/>
              </a:ext>
            </a:extLst>
          </p:cNvPr>
          <p:cNvSpPr>
            <a:spLocks noGrp="1"/>
          </p:cNvSpPr>
          <p:nvPr/>
        </p:nvSpPr>
        <p:spPr>
          <a:xfrm>
            <a:off x="2105025" y="308610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BD4F6396-3ECA-4FFD-82BD-9917D6B4FDA1}"/>
              </a:ext>
            </a:extLst>
          </p:cNvPr>
          <p:cNvSpPr>
            <a:spLocks noGrp="1"/>
          </p:cNvSpPr>
          <p:nvPr/>
        </p:nvSpPr>
        <p:spPr>
          <a:xfrm>
            <a:off x="243840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区域 / 随机网格</a:t>
            </a:r>
          </a:p>
        </p:txBody>
      </p:sp>
      <p:sp>
        <p:nvSpPr>
          <p:cNvPr id="28" name="箭头: 右 27">
            <a:extLst>
              <a:ext uri="{FF2B5EF4-FFF2-40B4-BE49-F238E27FC236}">
                <a16:creationId xmlns:a16="http://schemas.microsoft.com/office/drawing/2014/main" id="{982ACCFE-839B-4125-81D5-04647836C574}"/>
              </a:ext>
            </a:extLst>
          </p:cNvPr>
          <p:cNvSpPr>
            <a:spLocks noGrp="1"/>
          </p:cNvSpPr>
          <p:nvPr/>
        </p:nvSpPr>
        <p:spPr>
          <a:xfrm>
            <a:off x="4029075" y="308610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1E86AEEC-0E05-4ABB-ACA8-2436D107672C}"/>
              </a:ext>
            </a:extLst>
          </p:cNvPr>
          <p:cNvSpPr>
            <a:spLocks noGrp="1"/>
          </p:cNvSpPr>
          <p:nvPr/>
        </p:nvSpPr>
        <p:spPr>
          <a:xfrm>
            <a:off x="436245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扰动 / 联盟采样</a:t>
            </a:r>
          </a:p>
        </p:txBody>
      </p:sp>
      <p:sp>
        <p:nvSpPr>
          <p:cNvPr id="30" name="箭头: 右 29">
            <a:extLst>
              <a:ext uri="{FF2B5EF4-FFF2-40B4-BE49-F238E27FC236}">
                <a16:creationId xmlns:a16="http://schemas.microsoft.com/office/drawing/2014/main" id="{037A36A1-E6A2-4E10-AB7D-B6AD59E6C21D}"/>
              </a:ext>
            </a:extLst>
          </p:cNvPr>
          <p:cNvSpPr>
            <a:spLocks noGrp="1"/>
          </p:cNvSpPr>
          <p:nvPr/>
        </p:nvSpPr>
        <p:spPr>
          <a:xfrm>
            <a:off x="5953125" y="308610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DBA3E707-16A6-40B2-9A94-B7C36C22387D}"/>
              </a:ext>
            </a:extLst>
          </p:cNvPr>
          <p:cNvSpPr>
            <a:spLocks noGrp="1"/>
          </p:cNvSpPr>
          <p:nvPr/>
        </p:nvSpPr>
        <p:spPr>
          <a:xfrm>
            <a:off x="628650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模型 pre-Softmax logit</a:t>
            </a:r>
          </a:p>
        </p:txBody>
      </p:sp>
      <p:sp>
        <p:nvSpPr>
          <p:cNvPr id="32" name="箭头: 右 31">
            <a:extLst>
              <a:ext uri="{FF2B5EF4-FFF2-40B4-BE49-F238E27FC236}">
                <a16:creationId xmlns:a16="http://schemas.microsoft.com/office/drawing/2014/main" id="{F5E86A6A-B1B6-487E-B0B2-3DFFCA92F9C7}"/>
              </a:ext>
            </a:extLst>
          </p:cNvPr>
          <p:cNvSpPr>
            <a:spLocks noGrp="1"/>
          </p:cNvSpPr>
          <p:nvPr/>
        </p:nvSpPr>
        <p:spPr>
          <a:xfrm>
            <a:off x="7877175" y="308610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0167160-7576-42E3-95CA-2801D932E4FF}"/>
              </a:ext>
            </a:extLst>
          </p:cNvPr>
          <p:cNvSpPr>
            <a:spLocks noGrp="1"/>
          </p:cNvSpPr>
          <p:nvPr/>
        </p:nvSpPr>
        <p:spPr>
          <a:xfrm>
            <a:off x="821055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有符号归因</a:t>
            </a:r>
          </a:p>
        </p:txBody>
      </p:sp>
      <p:sp>
        <p:nvSpPr>
          <p:cNvPr id="34" name="箭头: 右 33">
            <a:extLst>
              <a:ext uri="{FF2B5EF4-FFF2-40B4-BE49-F238E27FC236}">
                <a16:creationId xmlns:a16="http://schemas.microsoft.com/office/drawing/2014/main" id="{4A7D66B1-9FFA-4CAB-A658-AF47540D05CC}"/>
              </a:ext>
            </a:extLst>
          </p:cNvPr>
          <p:cNvSpPr>
            <a:spLocks noGrp="1"/>
          </p:cNvSpPr>
          <p:nvPr/>
        </p:nvSpPr>
        <p:spPr>
          <a:xfrm>
            <a:off x="9801225" y="3086100"/>
            <a:ext cx="30480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87BF9A54-D48B-42E0-9B2D-842BC2667577}"/>
              </a:ext>
            </a:extLst>
          </p:cNvPr>
          <p:cNvSpPr>
            <a:spLocks noGrp="1"/>
          </p:cNvSpPr>
          <p:nvPr/>
        </p:nvSpPr>
        <p:spPr>
          <a:xfrm>
            <a:off x="10134600" y="2895600"/>
            <a:ext cx="1562100" cy="590550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统一评价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C68D822-1552-4F64-A53F-4D152EB95465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统一实验口径</a:t>
            </a:r>
          </a:p>
        </p:txBody>
      </p:sp>
      <p:sp>
        <p:nvSpPr>
          <p:cNvPr id="37" name="直接连接符 36">
            <a:extLst>
              <a:ext uri="{FF2B5EF4-FFF2-40B4-BE49-F238E27FC236}">
                <a16:creationId xmlns:a16="http://schemas.microsoft.com/office/drawing/2014/main" id="{417D399D-CE51-43B5-A2DC-E61BA600959C}"/>
              </a:ext>
            </a:extLst>
          </p:cNvPr>
          <p:cNvSpPr>
            <a:spLocks noGrp="1"/>
          </p:cNvSpPr>
          <p:nvPr/>
        </p:nvSpPr>
        <p:spPr>
          <a:xfrm>
            <a:off x="2095500" y="4000500"/>
            <a:ext cx="94107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2D60D6A4-2C6E-4431-B9DE-02E8A16B2555}"/>
              </a:ext>
            </a:extLst>
          </p:cNvPr>
          <p:cNvSpPr>
            <a:spLocks noGrp="1"/>
          </p:cNvSpPr>
          <p:nvPr/>
        </p:nvSpPr>
        <p:spPr>
          <a:xfrm>
            <a:off x="685800" y="4305300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统一样本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5E0CF97-2DE4-429D-8A48-60F4C425BE34}"/>
              </a:ext>
            </a:extLst>
          </p:cNvPr>
          <p:cNvSpPr>
            <a:spLocks noGrp="1"/>
          </p:cNvSpPr>
          <p:nvPr/>
        </p:nvSpPr>
        <p:spPr>
          <a:xfrm>
            <a:off x="2838450" y="4305300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统一输出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7544D6D8-68FB-4DC0-BA18-60B891887735}"/>
              </a:ext>
            </a:extLst>
          </p:cNvPr>
          <p:cNvSpPr>
            <a:spLocks noGrp="1"/>
          </p:cNvSpPr>
          <p:nvPr/>
        </p:nvSpPr>
        <p:spPr>
          <a:xfrm>
            <a:off x="4991100" y="4305300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统一预算记录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7CE4D732-419A-4CA5-B98A-7A440193CC2F}"/>
              </a:ext>
            </a:extLst>
          </p:cNvPr>
          <p:cNvSpPr>
            <a:spLocks noGrp="1"/>
          </p:cNvSpPr>
          <p:nvPr/>
        </p:nvSpPr>
        <p:spPr>
          <a:xfrm>
            <a:off x="7143750" y="4305300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统一计时</a:t>
            </a: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30F8CC2-45E6-45D6-AE00-1F7625181338}"/>
              </a:ext>
            </a:extLst>
          </p:cNvPr>
          <p:cNvSpPr>
            <a:spLocks noGrp="1"/>
          </p:cNvSpPr>
          <p:nvPr/>
        </p:nvSpPr>
        <p:spPr>
          <a:xfrm>
            <a:off x="9296400" y="4305300"/>
            <a:ext cx="192405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统一结果格式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3B0C7CB0-5F15-4B2D-B1DB-F38155E8F66D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914400"/>
          </a:xfrm>
          <a:prstGeom prst="roundRect">
            <a:avLst>
              <a:gd name="adj" fmla="val 15625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AAB2C8AB-EE87-4458-BCBD-FDEE59A7397F}"/>
              </a:ext>
            </a:extLst>
          </p:cNvPr>
          <p:cNvSpPr>
            <a:spLocks noGrp="1"/>
          </p:cNvSpPr>
          <p:nvPr/>
        </p:nvSpPr>
        <p:spPr>
          <a:xfrm>
            <a:off x="685800" y="5010150"/>
            <a:ext cx="10820400" cy="95250"/>
          </a:xfrm>
          <a:prstGeom prst="roundRect">
            <a:avLst>
              <a:gd name="adj" fmla="val 50000"/>
            </a:avLst>
          </a:prstGeom>
          <a:solidFill>
            <a:srgbClr val="10B7C5"/>
          </a:solidFill>
          <a:ln w="0">
            <a:solidFill>
              <a:srgbClr val="10B7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725C382C-3772-4F4F-8D22-2CD42449646B}"/>
              </a:ext>
            </a:extLst>
          </p:cNvPr>
          <p:cNvSpPr>
            <a:spLocks noGrp="1"/>
          </p:cNvSpPr>
          <p:nvPr/>
        </p:nvSpPr>
        <p:spPr>
          <a:xfrm>
            <a:off x="857250" y="5200650"/>
            <a:ext cx="10477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实验管理</a:t>
            </a: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C47BAF01-051E-476C-B8D0-14556DFE6DC2}"/>
              </a:ext>
            </a:extLst>
          </p:cNvPr>
          <p:cNvSpPr>
            <a:spLocks noGrp="1"/>
          </p:cNvSpPr>
          <p:nvPr/>
        </p:nvSpPr>
        <p:spPr>
          <a:xfrm>
            <a:off x="3048000" y="5467350"/>
            <a:ext cx="266700" cy="2667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C2AA298-0D6F-4270-8858-40D2895BE905}"/>
              </a:ext>
            </a:extLst>
          </p:cNvPr>
          <p:cNvSpPr>
            <a:spLocks noGrp="1"/>
          </p:cNvSpPr>
          <p:nvPr/>
        </p:nvSpPr>
        <p:spPr>
          <a:xfrm>
            <a:off x="3048000" y="54673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23266BD-3669-4610-9A80-74D2F61778CE}"/>
              </a:ext>
            </a:extLst>
          </p:cNvPr>
          <p:cNvSpPr>
            <a:spLocks noGrp="1"/>
          </p:cNvSpPr>
          <p:nvPr/>
        </p:nvSpPr>
        <p:spPr>
          <a:xfrm>
            <a:off x="3371850" y="54102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结果存储</a:t>
            </a:r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81640D25-075F-4747-B8B4-547507B4E14E}"/>
              </a:ext>
            </a:extLst>
          </p:cNvPr>
          <p:cNvSpPr>
            <a:spLocks noGrp="1"/>
          </p:cNvSpPr>
          <p:nvPr/>
        </p:nvSpPr>
        <p:spPr>
          <a:xfrm>
            <a:off x="5295900" y="5467350"/>
            <a:ext cx="266700" cy="2667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96FC3DE3-C52C-4985-B957-FD1CACEA289F}"/>
              </a:ext>
            </a:extLst>
          </p:cNvPr>
          <p:cNvSpPr>
            <a:spLocks noGrp="1"/>
          </p:cNvSpPr>
          <p:nvPr/>
        </p:nvSpPr>
        <p:spPr>
          <a:xfrm>
            <a:off x="5295900" y="54673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5825662-5A07-4325-891B-59C4DC020B74}"/>
              </a:ext>
            </a:extLst>
          </p:cNvPr>
          <p:cNvSpPr>
            <a:spLocks noGrp="1"/>
          </p:cNvSpPr>
          <p:nvPr/>
        </p:nvSpPr>
        <p:spPr>
          <a:xfrm>
            <a:off x="5619750" y="54102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断点恢复</a:t>
            </a:r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B58AC398-6C6D-490A-A43D-728C7455B20C}"/>
              </a:ext>
            </a:extLst>
          </p:cNvPr>
          <p:cNvSpPr>
            <a:spLocks noGrp="1"/>
          </p:cNvSpPr>
          <p:nvPr/>
        </p:nvSpPr>
        <p:spPr>
          <a:xfrm>
            <a:off x="7543800" y="5467350"/>
            <a:ext cx="266700" cy="2667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A0261BD-3EC8-43FF-AB7D-0150D9168A27}"/>
              </a:ext>
            </a:extLst>
          </p:cNvPr>
          <p:cNvSpPr>
            <a:spLocks noGrp="1"/>
          </p:cNvSpPr>
          <p:nvPr/>
        </p:nvSpPr>
        <p:spPr>
          <a:xfrm>
            <a:off x="7543800" y="5467350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AF55E07-8163-4CCA-9B50-F35624F0BE15}"/>
              </a:ext>
            </a:extLst>
          </p:cNvPr>
          <p:cNvSpPr>
            <a:spLocks noGrp="1"/>
          </p:cNvSpPr>
          <p:nvPr/>
        </p:nvSpPr>
        <p:spPr>
          <a:xfrm>
            <a:off x="7867650" y="5410200"/>
            <a:ext cx="1714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实验审计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0ABC32A-ED93-4F51-A481-D8BD005F5CF9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323850"/>
          </a:xfrm>
          <a:prstGeom prst="roundRect">
            <a:avLst>
              <a:gd name="adj" fmla="val 29412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方法内部机制不同，但输入、模型输出、预算统计和评价接口保持统一。</a:t>
            </a:r>
          </a:p>
        </p:txBody>
      </p:sp>
    </p:spTree>
    <p:extLst>
      <p:ext uri="{BB962C8B-B14F-4D97-AF65-F5344CB8AC3E}">
        <p14:creationId xmlns:p14="http://schemas.microsoft.com/office/powerpoint/2010/main" val="1678027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>
            <a:extLst>
              <a:ext uri="{FF2B5EF4-FFF2-40B4-BE49-F238E27FC236}">
                <a16:creationId xmlns:a16="http://schemas.microsoft.com/office/drawing/2014/main" id="{EABDD32C-33B1-49AF-A796-A935BF4B9126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BD178D6-E038-4786-A3A0-6B944F42A91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四个数据域 × 模型组合已完成初步实验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339557-085B-4654-9FE8-E8CE01D5FA68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88D93F-AF51-42C2-9003-04FD465E6207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6F069DE-6FFB-4FCB-8687-CF4503594137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实验覆盖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860D43-D3BA-46E0-83D5-47F8F45038E2}"/>
              </a:ext>
            </a:extLst>
          </p:cNvPr>
          <p:cNvSpPr>
            <a:spLocks noGrp="1"/>
          </p:cNvSpPr>
          <p:nvPr/>
        </p:nvSpPr>
        <p:spPr>
          <a:xfrm>
            <a:off x="6572250" y="1066800"/>
            <a:ext cx="4933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运行规模与数值审计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424DE7-9563-4E80-ABC8-E43753B06296}"/>
              </a:ext>
            </a:extLst>
          </p:cNvPr>
          <p:cNvSpPr>
            <a:spLocks noGrp="1"/>
          </p:cNvSpPr>
          <p:nvPr/>
        </p:nvSpPr>
        <p:spPr>
          <a:xfrm>
            <a:off x="1771650" y="15240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ResNet-50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7F1E16-479A-441C-804D-9F7D859E0878}"/>
              </a:ext>
            </a:extLst>
          </p:cNvPr>
          <p:cNvSpPr>
            <a:spLocks noGrp="1"/>
          </p:cNvSpPr>
          <p:nvPr/>
        </p:nvSpPr>
        <p:spPr>
          <a:xfrm>
            <a:off x="3486150" y="152400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VGG13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91CD1C-6A96-47D1-9FC8-E28D7A069256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990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ImageNet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75B544-6489-4699-9871-60D2B94D2528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990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CHNCXR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5BF5E41-AFBB-4C21-BD6E-D774C9D335B9}"/>
              </a:ext>
            </a:extLst>
          </p:cNvPr>
          <p:cNvSpPr>
            <a:spLocks noGrp="1"/>
          </p:cNvSpPr>
          <p:nvPr/>
        </p:nvSpPr>
        <p:spPr>
          <a:xfrm>
            <a:off x="1771650" y="192405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1670D2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64AD7CD0-25BE-40F4-BE2A-A1087AC202A7}"/>
              </a:ext>
            </a:extLst>
          </p:cNvPr>
          <p:cNvSpPr>
            <a:spLocks noGrp="1"/>
          </p:cNvSpPr>
          <p:nvPr/>
        </p:nvSpPr>
        <p:spPr>
          <a:xfrm>
            <a:off x="3486150" y="192405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1670D2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52E7B06-C39B-45C1-B7A7-8765172129E7}"/>
              </a:ext>
            </a:extLst>
          </p:cNvPr>
          <p:cNvSpPr>
            <a:spLocks noGrp="1"/>
          </p:cNvSpPr>
          <p:nvPr/>
        </p:nvSpPr>
        <p:spPr>
          <a:xfrm>
            <a:off x="1771650" y="270510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0799A9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D40B882-5E14-436C-ACBB-8078E54BFFF8}"/>
              </a:ext>
            </a:extLst>
          </p:cNvPr>
          <p:cNvSpPr>
            <a:spLocks noGrp="1"/>
          </p:cNvSpPr>
          <p:nvPr/>
        </p:nvSpPr>
        <p:spPr>
          <a:xfrm>
            <a:off x="3486150" y="2705100"/>
            <a:ext cx="1524000" cy="609600"/>
          </a:xfrm>
          <a:prstGeom prst="roundRect">
            <a:avLst>
              <a:gd name="adj" fmla="val 18750"/>
            </a:avLst>
          </a:prstGeom>
          <a:solidFill>
            <a:srgbClr val="0799A9"/>
          </a:solidFill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D50216D-3596-472A-90A7-0F87B14FE231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2400300" cy="1562100"/>
          </a:xfrm>
          <a:prstGeom prst="roundRect">
            <a:avLst>
              <a:gd name="adj" fmla="val 9146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60663CA-EB55-4DFD-88A2-2A15D74D201D}"/>
              </a:ext>
            </a:extLst>
          </p:cNvPr>
          <p:cNvSpPr>
            <a:spLocks noGrp="1"/>
          </p:cNvSpPr>
          <p:nvPr/>
        </p:nvSpPr>
        <p:spPr>
          <a:xfrm>
            <a:off x="685800" y="3676650"/>
            <a:ext cx="240030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D7563D-79E2-4B89-B839-5F7ECA2F918E}"/>
              </a:ext>
            </a:extLst>
          </p:cNvPr>
          <p:cNvSpPr>
            <a:spLocks noGrp="1"/>
          </p:cNvSpPr>
          <p:nvPr/>
        </p:nvSpPr>
        <p:spPr>
          <a:xfrm>
            <a:off x="857250" y="3867150"/>
            <a:ext cx="205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ImageNet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9BEEC78-03E3-4B11-8A86-10D175B0A4F1}"/>
              </a:ext>
            </a:extLst>
          </p:cNvPr>
          <p:cNvSpPr>
            <a:spLocks noGrp="1"/>
          </p:cNvSpPr>
          <p:nvPr/>
        </p:nvSpPr>
        <p:spPr>
          <a:xfrm>
            <a:off x="857250" y="41148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候选 500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66D5DF3-725E-46AD-A289-689D8C8D270A}"/>
              </a:ext>
            </a:extLst>
          </p:cNvPr>
          <p:cNvSpPr>
            <a:spLocks noGrp="1"/>
          </p:cNvSpPr>
          <p:nvPr/>
        </p:nvSpPr>
        <p:spPr>
          <a:xfrm>
            <a:off x="857250" y="44577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共同正确 374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383D20B3-BD0E-45BB-A0C7-01B74E1EC57B}"/>
              </a:ext>
            </a:extLst>
          </p:cNvPr>
          <p:cNvSpPr>
            <a:spLocks noGrp="1"/>
          </p:cNvSpPr>
          <p:nvPr/>
        </p:nvSpPr>
        <p:spPr>
          <a:xfrm>
            <a:off x="857250" y="4857750"/>
            <a:ext cx="205740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本阶段固定 10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3502E99B-1E84-479D-9EB6-21F60B50D7B3}"/>
              </a:ext>
            </a:extLst>
          </p:cNvPr>
          <p:cNvSpPr>
            <a:spLocks noGrp="1"/>
          </p:cNvSpPr>
          <p:nvPr/>
        </p:nvSpPr>
        <p:spPr>
          <a:xfrm>
            <a:off x="3257550" y="3676650"/>
            <a:ext cx="2400300" cy="1562100"/>
          </a:xfrm>
          <a:prstGeom prst="roundRect">
            <a:avLst>
              <a:gd name="adj" fmla="val 9146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5427AA08-C808-483E-BF5C-78E97E4A2208}"/>
              </a:ext>
            </a:extLst>
          </p:cNvPr>
          <p:cNvSpPr>
            <a:spLocks noGrp="1"/>
          </p:cNvSpPr>
          <p:nvPr/>
        </p:nvSpPr>
        <p:spPr>
          <a:xfrm>
            <a:off x="3257550" y="3676650"/>
            <a:ext cx="2400300" cy="952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354B62E-8F9B-4B7B-A916-A21B8C1C6C66}"/>
              </a:ext>
            </a:extLst>
          </p:cNvPr>
          <p:cNvSpPr>
            <a:spLocks noGrp="1"/>
          </p:cNvSpPr>
          <p:nvPr/>
        </p:nvSpPr>
        <p:spPr>
          <a:xfrm>
            <a:off x="3429000" y="3867150"/>
            <a:ext cx="2057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CHNCXR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F84171-32C2-4E5B-8012-7DA985167F8B}"/>
              </a:ext>
            </a:extLst>
          </p:cNvPr>
          <p:cNvSpPr>
            <a:spLocks noGrp="1"/>
          </p:cNvSpPr>
          <p:nvPr/>
        </p:nvSpPr>
        <p:spPr>
          <a:xfrm>
            <a:off x="3429000" y="41148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候选 662｜共同正确 434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A9F9052-5947-4F44-99A0-C738C2F0C38C}"/>
              </a:ext>
            </a:extLst>
          </p:cNvPr>
          <p:cNvSpPr>
            <a:spLocks noGrp="1"/>
          </p:cNvSpPr>
          <p:nvPr/>
        </p:nvSpPr>
        <p:spPr>
          <a:xfrm>
            <a:off x="3429000" y="4457700"/>
            <a:ext cx="2057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固定 10：5 阳性 + 5 阴性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BF87C0D-B6EB-459B-8C81-E48F3B62767D}"/>
              </a:ext>
            </a:extLst>
          </p:cNvPr>
          <p:cNvSpPr>
            <a:spLocks noGrp="1"/>
          </p:cNvSpPr>
          <p:nvPr/>
        </p:nvSpPr>
        <p:spPr>
          <a:xfrm>
            <a:off x="3429000" y="4857750"/>
            <a:ext cx="2057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定位性仅评估有掩码阳性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770C5BBE-31B8-448D-B871-B640128A8333}"/>
              </a:ext>
            </a:extLst>
          </p:cNvPr>
          <p:cNvSpPr>
            <a:spLocks noGrp="1"/>
          </p:cNvSpPr>
          <p:nvPr/>
        </p:nvSpPr>
        <p:spPr>
          <a:xfrm>
            <a:off x="6572250" y="1466850"/>
            <a:ext cx="2266950" cy="914400"/>
          </a:xfrm>
          <a:prstGeom prst="roundRect">
            <a:avLst>
              <a:gd name="adj" fmla="val 1354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059AB43-96B7-4DE2-B3BA-172E937965DD}"/>
              </a:ext>
            </a:extLst>
          </p:cNvPr>
          <p:cNvSpPr>
            <a:spLocks noGrp="1"/>
          </p:cNvSpPr>
          <p:nvPr/>
        </p:nvSpPr>
        <p:spPr>
          <a:xfrm>
            <a:off x="6724650" y="158115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2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320 / 320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A82878A-EEC8-4E4C-8FA9-C4F6535EB623}"/>
              </a:ext>
            </a:extLst>
          </p:cNvPr>
          <p:cNvSpPr>
            <a:spLocks noGrp="1"/>
          </p:cNvSpPr>
          <p:nvPr/>
        </p:nvSpPr>
        <p:spPr>
          <a:xfrm>
            <a:off x="6724650" y="1981200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每个数据域完整记录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4D378E68-D796-4F19-A976-F27F1D1469A1}"/>
              </a:ext>
            </a:extLst>
          </p:cNvPr>
          <p:cNvSpPr>
            <a:spLocks noGrp="1"/>
          </p:cNvSpPr>
          <p:nvPr/>
        </p:nvSpPr>
        <p:spPr>
          <a:xfrm>
            <a:off x="9029700" y="1466850"/>
            <a:ext cx="2266950" cy="914400"/>
          </a:xfrm>
          <a:prstGeom prst="roundRect">
            <a:avLst>
              <a:gd name="adj" fmla="val 1354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3969D2E-322B-490B-845C-EDA3838B5EB0}"/>
              </a:ext>
            </a:extLst>
          </p:cNvPr>
          <p:cNvSpPr>
            <a:spLocks noGrp="1"/>
          </p:cNvSpPr>
          <p:nvPr/>
        </p:nvSpPr>
        <p:spPr>
          <a:xfrm>
            <a:off x="9182100" y="158115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2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617,942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C6C98C-7746-4C86-84FD-37110355DE48}"/>
              </a:ext>
            </a:extLst>
          </p:cNvPr>
          <p:cNvSpPr>
            <a:spLocks noGrp="1"/>
          </p:cNvSpPr>
          <p:nvPr/>
        </p:nvSpPr>
        <p:spPr>
          <a:xfrm>
            <a:off x="9182100" y="1981200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基础归因前向输入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85DACA36-FE3A-4E55-9702-F45F5021F2FA}"/>
              </a:ext>
            </a:extLst>
          </p:cNvPr>
          <p:cNvSpPr>
            <a:spLocks noGrp="1"/>
          </p:cNvSpPr>
          <p:nvPr/>
        </p:nvSpPr>
        <p:spPr>
          <a:xfrm>
            <a:off x="6572250" y="2571750"/>
            <a:ext cx="2266950" cy="914400"/>
          </a:xfrm>
          <a:prstGeom prst="roundRect">
            <a:avLst>
              <a:gd name="adj" fmla="val 1354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9811D9E-4DCE-4787-AFCD-05E6E6B0747E}"/>
              </a:ext>
            </a:extLst>
          </p:cNvPr>
          <p:cNvSpPr>
            <a:spLocks noGrp="1"/>
          </p:cNvSpPr>
          <p:nvPr/>
        </p:nvSpPr>
        <p:spPr>
          <a:xfrm>
            <a:off x="6724650" y="268605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6,179,420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AF73C89-4F12-43CF-A62F-B83C49479EF6}"/>
              </a:ext>
            </a:extLst>
          </p:cNvPr>
          <p:cNvSpPr>
            <a:spLocks noGrp="1"/>
          </p:cNvSpPr>
          <p:nvPr/>
        </p:nvSpPr>
        <p:spPr>
          <a:xfrm>
            <a:off x="6724650" y="3086100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稳定性重算前向输入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3B4F955C-EE73-43AA-904E-A7F60E212B2B}"/>
              </a:ext>
            </a:extLst>
          </p:cNvPr>
          <p:cNvSpPr>
            <a:spLocks noGrp="1"/>
          </p:cNvSpPr>
          <p:nvPr/>
        </p:nvSpPr>
        <p:spPr>
          <a:xfrm>
            <a:off x="9029700" y="2571750"/>
            <a:ext cx="2266950" cy="914400"/>
          </a:xfrm>
          <a:prstGeom prst="roundRect">
            <a:avLst>
              <a:gd name="adj" fmla="val 1354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91F7C40-28F9-44D2-9274-2789E5BD9AE6}"/>
              </a:ext>
            </a:extLst>
          </p:cNvPr>
          <p:cNvSpPr>
            <a:spLocks noGrp="1"/>
          </p:cNvSpPr>
          <p:nvPr/>
        </p:nvSpPr>
        <p:spPr>
          <a:xfrm>
            <a:off x="9182100" y="268605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2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26,880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9048C85C-337C-4256-9FC4-5DD711CB6605}"/>
              </a:ext>
            </a:extLst>
          </p:cNvPr>
          <p:cNvSpPr>
            <a:spLocks noGrp="1"/>
          </p:cNvSpPr>
          <p:nvPr/>
        </p:nvSpPr>
        <p:spPr>
          <a:xfrm>
            <a:off x="9182100" y="3086100"/>
            <a:ext cx="1962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曲线评价前向输入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BEC7AF52-E602-4560-8657-B84E75413E48}"/>
              </a:ext>
            </a:extLst>
          </p:cNvPr>
          <p:cNvSpPr>
            <a:spLocks noGrp="1"/>
          </p:cNvSpPr>
          <p:nvPr/>
        </p:nvSpPr>
        <p:spPr>
          <a:xfrm>
            <a:off x="6572250" y="3810000"/>
            <a:ext cx="2266950" cy="666750"/>
          </a:xfrm>
          <a:prstGeom prst="roundRect">
            <a:avLst>
              <a:gd name="adj" fmla="val 17143"/>
            </a:avLst>
          </a:prstGeom>
          <a:solidFill>
            <a:srgbClr val="EAF8F3"/>
          </a:solidFill>
          <a:ln w="9525">
            <a:solidFill>
              <a:srgbClr val="17A673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80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0 / 400</a:t>
            </a:r>
          </a:p>
          <a:p>
            <a:pPr algn="ctr">
              <a:defRPr sz="180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A673"/>
                </a:solidFill>
                <a:latin typeface="Microsoft YaHei"/>
                <a:ea typeface="Microsoft YaHei"/>
                <a:cs typeface="Microsoft YaHei"/>
              </a:rPr>
              <a:t>类别变化</a:t>
            </a:r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FEAAB2A2-7BB7-47AC-857D-C8D228FB2146}"/>
              </a:ext>
            </a:extLst>
          </p:cNvPr>
          <p:cNvSpPr>
            <a:spLocks noGrp="1"/>
          </p:cNvSpPr>
          <p:nvPr/>
        </p:nvSpPr>
        <p:spPr>
          <a:xfrm>
            <a:off x="9010650" y="3810000"/>
            <a:ext cx="2495550" cy="666750"/>
          </a:xfrm>
          <a:prstGeom prst="roundRect">
            <a:avLst>
              <a:gd name="adj" fmla="val 17143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轻微扰动后</a:t>
            </a:r>
          </a:p>
          <a:p>
            <a:pPr algn="ctr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分类目标保持稳定</a:t>
            </a: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206D0D79-948A-44BD-B7BA-711D10D5EC39}"/>
              </a:ext>
            </a:extLst>
          </p:cNvPr>
          <p:cNvSpPr>
            <a:spLocks noGrp="1"/>
          </p:cNvSpPr>
          <p:nvPr/>
        </p:nvSpPr>
        <p:spPr>
          <a:xfrm>
            <a:off x="6572250" y="4705350"/>
            <a:ext cx="4933950" cy="1066800"/>
          </a:xfrm>
          <a:prstGeom prst="roundRect">
            <a:avLst>
              <a:gd name="adj" fmla="val 13393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F24AD18-7B8B-4CEF-9A15-D3F80FEC1A97}"/>
              </a:ext>
            </a:extLst>
          </p:cNvPr>
          <p:cNvSpPr>
            <a:spLocks noGrp="1"/>
          </p:cNvSpPr>
          <p:nvPr/>
        </p:nvSpPr>
        <p:spPr>
          <a:xfrm>
            <a:off x="6572250" y="4705350"/>
            <a:ext cx="4933950" cy="9525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9FADDF0-435A-4CBD-94E0-B1BEB07B8D70}"/>
              </a:ext>
            </a:extLst>
          </p:cNvPr>
          <p:cNvSpPr>
            <a:spLocks noGrp="1"/>
          </p:cNvSpPr>
          <p:nvPr/>
        </p:nvSpPr>
        <p:spPr>
          <a:xfrm>
            <a:off x="6743700" y="4895850"/>
            <a:ext cx="4591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KernelSHAP 数值检查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DC0495E-7FEF-4B45-B443-444AEA26ABCA}"/>
              </a:ext>
            </a:extLst>
          </p:cNvPr>
          <p:cNvSpPr>
            <a:spLocks noGrp="1"/>
          </p:cNvSpPr>
          <p:nvPr/>
        </p:nvSpPr>
        <p:spPr>
          <a:xfrm>
            <a:off x="6762750" y="5105400"/>
            <a:ext cx="1352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200 次运行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07B3317-34E4-4454-84D9-5725DB1A0D0C}"/>
              </a:ext>
            </a:extLst>
          </p:cNvPr>
          <p:cNvSpPr>
            <a:spLocks noGrp="1"/>
          </p:cNvSpPr>
          <p:nvPr/>
        </p:nvSpPr>
        <p:spPr>
          <a:xfrm>
            <a:off x="8172450" y="510540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设计矩阵全部满秩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114FAD7B-CDF6-4845-A163-CC11F5B12137}"/>
              </a:ext>
            </a:extLst>
          </p:cNvPr>
          <p:cNvSpPr>
            <a:spLocks noGrp="1"/>
          </p:cNvSpPr>
          <p:nvPr/>
        </p:nvSpPr>
        <p:spPr>
          <a:xfrm>
            <a:off x="9734550" y="5010150"/>
            <a:ext cx="1600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最大 residual</a:t>
            </a:r>
          </a:p>
          <a:p>
            <a:pPr algn="ctr">
              <a:def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2.22 × 10⁻¹⁶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9B41818F-3DCD-4197-A768-2FCB74736BE0}"/>
              </a:ext>
            </a:extLst>
          </p:cNvPr>
          <p:cNvSpPr>
            <a:spLocks noGrp="1"/>
          </p:cNvSpPr>
          <p:nvPr/>
        </p:nvSpPr>
        <p:spPr>
          <a:xfrm>
            <a:off x="685800" y="6153150"/>
            <a:ext cx="10820400" cy="323850"/>
          </a:xfrm>
          <a:prstGeom prst="roundRect">
            <a:avLst>
              <a:gd name="adj" fmla="val 29412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当前实验同时完成了样本、预算和求解状态的完整性检查。</a:t>
            </a:r>
          </a:p>
        </p:txBody>
      </p:sp>
    </p:spTree>
    <p:extLst>
      <p:ext uri="{BB962C8B-B14F-4D97-AF65-F5344CB8AC3E}">
        <p14:creationId xmlns:p14="http://schemas.microsoft.com/office/powerpoint/2010/main" val="775331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5B888483-3D4F-4307-B855-E7F660ED44B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F008A5-7B24-4B4D-9E2E-DDFC8D7994E4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不同方法呈现互补优势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628D959-5BA8-403A-A24C-B661905965D4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F23E097-3C80-4560-A5D1-AB2D30BF54AD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5BE20010-EE5A-475E-9B33-2A7F5F410B64}"/>
              </a:ext>
            </a:extLst>
          </p:cNvPr>
          <p:cNvSpPr>
            <a:spLocks noGrp="1"/>
          </p:cNvSpPr>
          <p:nvPr/>
        </p:nvSpPr>
        <p:spPr>
          <a:xfrm>
            <a:off x="495300" y="1333500"/>
            <a:ext cx="2514600" cy="3143250"/>
          </a:xfrm>
          <a:prstGeom prst="roundRect">
            <a:avLst>
              <a:gd name="adj" fmla="val 6061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8F1F82D-4037-49C6-8777-12A17064C7CD}"/>
              </a:ext>
            </a:extLst>
          </p:cNvPr>
          <p:cNvSpPr>
            <a:spLocks noGrp="1"/>
          </p:cNvSpPr>
          <p:nvPr/>
        </p:nvSpPr>
        <p:spPr>
          <a:xfrm>
            <a:off x="495300" y="1333500"/>
            <a:ext cx="2514600" cy="13335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1B8C17-7647-4CF8-B7A3-E0B1E3F3F501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忠实性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AA3008-B8E8-440F-B3AC-5070F7A61647}"/>
              </a:ext>
            </a:extLst>
          </p:cNvPr>
          <p:cNvSpPr>
            <a:spLocks noGrp="1"/>
          </p:cNvSpPr>
          <p:nvPr/>
        </p:nvSpPr>
        <p:spPr>
          <a:xfrm>
            <a:off x="685800" y="2209800"/>
            <a:ext cx="2133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20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LIME / KernelSHAP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47CC558B-C6F1-42EF-879E-0E3201901EBC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20574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A2E775-2C34-4967-827A-76460A356BA5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当前领先组</a:t>
            </a:r>
          </a:p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领先者随数据域与模型变化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E4754F4-2752-421A-95E8-693F73BB3843}"/>
              </a:ext>
            </a:extLst>
          </p:cNvPr>
          <p:cNvSpPr>
            <a:spLocks noGrp="1"/>
          </p:cNvSpPr>
          <p:nvPr/>
        </p:nvSpPr>
        <p:spPr>
          <a:xfrm>
            <a:off x="895350" y="4057650"/>
            <a:ext cx="72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插入 ↑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318D9D-63A7-4F38-ABCC-3F814993D866}"/>
              </a:ext>
            </a:extLst>
          </p:cNvPr>
          <p:cNvSpPr>
            <a:spLocks noGrp="1"/>
          </p:cNvSpPr>
          <p:nvPr/>
        </p:nvSpPr>
        <p:spPr>
          <a:xfrm>
            <a:off x="1885950" y="4057650"/>
            <a:ext cx="72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删除 ↓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9CBEC59-3F9E-4888-BFC6-5F30BDA2DCB4}"/>
              </a:ext>
            </a:extLst>
          </p:cNvPr>
          <p:cNvSpPr>
            <a:spLocks noGrp="1"/>
          </p:cNvSpPr>
          <p:nvPr/>
        </p:nvSpPr>
        <p:spPr>
          <a:xfrm>
            <a:off x="3390900" y="1333500"/>
            <a:ext cx="2514600" cy="3143250"/>
          </a:xfrm>
          <a:prstGeom prst="roundRect">
            <a:avLst>
              <a:gd name="adj" fmla="val 6061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4E1DEEE-71B6-4EE9-8A28-94E48766B26F}"/>
              </a:ext>
            </a:extLst>
          </p:cNvPr>
          <p:cNvSpPr>
            <a:spLocks noGrp="1"/>
          </p:cNvSpPr>
          <p:nvPr/>
        </p:nvSpPr>
        <p:spPr>
          <a:xfrm>
            <a:off x="3390900" y="1333500"/>
            <a:ext cx="2514600" cy="1333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224A4D8-A244-44CE-B238-E720295C4754}"/>
              </a:ext>
            </a:extLst>
          </p:cNvPr>
          <p:cNvSpPr>
            <a:spLocks noGrp="1"/>
          </p:cNvSpPr>
          <p:nvPr/>
        </p:nvSpPr>
        <p:spPr>
          <a:xfrm>
            <a:off x="3581400" y="16192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稳定性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EC033E-4433-4A67-8F06-4E6105EE5602}"/>
              </a:ext>
            </a:extLst>
          </p:cNvPr>
          <p:cNvSpPr>
            <a:spLocks noGrp="1"/>
          </p:cNvSpPr>
          <p:nvPr/>
        </p:nvSpPr>
        <p:spPr>
          <a:xfrm>
            <a:off x="3581400" y="2209800"/>
            <a:ext cx="2133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24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RISE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6ACEE51-6AE2-40B8-A1B2-98F5BF8CA748}"/>
              </a:ext>
            </a:extLst>
          </p:cNvPr>
          <p:cNvSpPr>
            <a:spLocks noGrp="1"/>
          </p:cNvSpPr>
          <p:nvPr/>
        </p:nvSpPr>
        <p:spPr>
          <a:xfrm>
            <a:off x="3619500" y="3105150"/>
            <a:ext cx="20574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B1C5DCA-480B-4572-B7D7-A6862CAAE370}"/>
              </a:ext>
            </a:extLst>
          </p:cNvPr>
          <p:cNvSpPr>
            <a:spLocks noGrp="1"/>
          </p:cNvSpPr>
          <p:nvPr/>
        </p:nvSpPr>
        <p:spPr>
          <a:xfrm>
            <a:off x="3619500" y="3314700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输入扰动稳定</a:t>
            </a:r>
          </a:p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跨随机种子稳定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39791F4-B854-4B97-9B3C-3F55DDA433BF}"/>
              </a:ext>
            </a:extLst>
          </p:cNvPr>
          <p:cNvSpPr>
            <a:spLocks noGrp="1"/>
          </p:cNvSpPr>
          <p:nvPr/>
        </p:nvSpPr>
        <p:spPr>
          <a:xfrm>
            <a:off x="6286500" y="1333500"/>
            <a:ext cx="2514600" cy="3143250"/>
          </a:xfrm>
          <a:prstGeom prst="roundRect">
            <a:avLst>
              <a:gd name="adj" fmla="val 6061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5F7CC36-4FBB-4FD6-8A49-D7CAEB612BBE}"/>
              </a:ext>
            </a:extLst>
          </p:cNvPr>
          <p:cNvSpPr>
            <a:spLocks noGrp="1"/>
          </p:cNvSpPr>
          <p:nvPr/>
        </p:nvSpPr>
        <p:spPr>
          <a:xfrm>
            <a:off x="6286500" y="1333500"/>
            <a:ext cx="2514600" cy="1333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7D4F62D-9E23-4EAA-BCED-279AFDFB23D2}"/>
              </a:ext>
            </a:extLst>
          </p:cNvPr>
          <p:cNvSpPr>
            <a:spLocks noGrp="1"/>
          </p:cNvSpPr>
          <p:nvPr/>
        </p:nvSpPr>
        <p:spPr>
          <a:xfrm>
            <a:off x="6477000" y="16192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效率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045D4A2-70CF-44BE-897B-58DCB8CFD235}"/>
              </a:ext>
            </a:extLst>
          </p:cNvPr>
          <p:cNvSpPr>
            <a:spLocks noGrp="1"/>
          </p:cNvSpPr>
          <p:nvPr/>
        </p:nvSpPr>
        <p:spPr>
          <a:xfrm>
            <a:off x="6477000" y="2209800"/>
            <a:ext cx="2133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24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Ablation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0DA86FBF-CCE5-4A43-AC3F-8C08AC50D38E}"/>
              </a:ext>
            </a:extLst>
          </p:cNvPr>
          <p:cNvSpPr>
            <a:spLocks noGrp="1"/>
          </p:cNvSpPr>
          <p:nvPr/>
        </p:nvSpPr>
        <p:spPr>
          <a:xfrm>
            <a:off x="6515100" y="3105150"/>
            <a:ext cx="20574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24B542-DF37-4C65-9FE7-9D3705976668}"/>
              </a:ext>
            </a:extLst>
          </p:cNvPr>
          <p:cNvSpPr>
            <a:spLocks noGrp="1"/>
          </p:cNvSpPr>
          <p:nvPr/>
        </p:nvSpPr>
        <p:spPr>
          <a:xfrm>
            <a:off x="6515100" y="3314700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实际模型调用少</a:t>
            </a:r>
          </a:p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归因耗时最低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BE1D19E6-6B0A-4F77-95A3-6CB5D36EF254}"/>
              </a:ext>
            </a:extLst>
          </p:cNvPr>
          <p:cNvSpPr>
            <a:spLocks noGrp="1"/>
          </p:cNvSpPr>
          <p:nvPr/>
        </p:nvSpPr>
        <p:spPr>
          <a:xfrm>
            <a:off x="9182100" y="1333500"/>
            <a:ext cx="2514600" cy="3143250"/>
          </a:xfrm>
          <a:prstGeom prst="roundRect">
            <a:avLst>
              <a:gd name="adj" fmla="val 6061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E0684DB-961E-4A32-A234-99FD2D85FD41}"/>
              </a:ext>
            </a:extLst>
          </p:cNvPr>
          <p:cNvSpPr>
            <a:spLocks noGrp="1"/>
          </p:cNvSpPr>
          <p:nvPr/>
        </p:nvSpPr>
        <p:spPr>
          <a:xfrm>
            <a:off x="9182100" y="1333500"/>
            <a:ext cx="2514600" cy="133350"/>
          </a:xfrm>
          <a:prstGeom prst="roundRect">
            <a:avLst>
              <a:gd name="adj" fmla="val 50000"/>
            </a:avLst>
          </a:prstGeom>
          <a:solidFill>
            <a:srgbClr val="F47A24"/>
          </a:solidFill>
          <a:ln w="0">
            <a:solidFill>
              <a:srgbClr val="F47A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B88D135-D202-4478-AC71-8AD1508DCE57}"/>
              </a:ext>
            </a:extLst>
          </p:cNvPr>
          <p:cNvSpPr>
            <a:spLocks noGrp="1"/>
          </p:cNvSpPr>
          <p:nvPr/>
        </p:nvSpPr>
        <p:spPr>
          <a:xfrm>
            <a:off x="9372600" y="1619250"/>
            <a:ext cx="2133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定位性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81B5FF0-2A39-40D3-B71D-1999858B0CB3}"/>
              </a:ext>
            </a:extLst>
          </p:cNvPr>
          <p:cNvSpPr>
            <a:spLocks noGrp="1"/>
          </p:cNvSpPr>
          <p:nvPr/>
        </p:nvSpPr>
        <p:spPr>
          <a:xfrm>
            <a:off x="9372600" y="2209800"/>
            <a:ext cx="21336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24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数据域差异</a:t>
            </a: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0D7C13DF-7C12-4860-9F48-09BAA3D104F3}"/>
              </a:ext>
            </a:extLst>
          </p:cNvPr>
          <p:cNvSpPr>
            <a:spLocks noGrp="1"/>
          </p:cNvSpPr>
          <p:nvPr/>
        </p:nvSpPr>
        <p:spPr>
          <a:xfrm>
            <a:off x="9410700" y="3105150"/>
            <a:ext cx="205740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F6ABF78-CFEE-441D-8799-3E922F5D4052}"/>
              </a:ext>
            </a:extLst>
          </p:cNvPr>
          <p:cNvSpPr>
            <a:spLocks noGrp="1"/>
          </p:cNvSpPr>
          <p:nvPr/>
        </p:nvSpPr>
        <p:spPr>
          <a:xfrm>
            <a:off x="9410700" y="3314700"/>
            <a:ext cx="2057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ImageNet 可观察定位</a:t>
            </a:r>
          </a:p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CHNCXR 接近失效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98B890D5-76C4-4104-84C2-E1FEB3AEAA13}"/>
              </a:ext>
            </a:extLst>
          </p:cNvPr>
          <p:cNvSpPr>
            <a:spLocks noGrp="1"/>
          </p:cNvSpPr>
          <p:nvPr/>
        </p:nvSpPr>
        <p:spPr>
          <a:xfrm>
            <a:off x="10039350" y="4038600"/>
            <a:ext cx="800100" cy="285750"/>
          </a:xfrm>
          <a:prstGeom prst="roundRect">
            <a:avLst>
              <a:gd name="adj" fmla="val 46667"/>
            </a:avLst>
          </a:prstGeom>
          <a:solidFill>
            <a:srgbClr val="F47A24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待诊断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01025735-8044-4535-8C51-BC209FAB4F98}"/>
              </a:ext>
            </a:extLst>
          </p:cNvPr>
          <p:cNvSpPr>
            <a:spLocks noGrp="1"/>
          </p:cNvSpPr>
          <p:nvPr/>
        </p:nvSpPr>
        <p:spPr>
          <a:xfrm>
            <a:off x="685800" y="4838700"/>
            <a:ext cx="10820400" cy="685800"/>
          </a:xfrm>
          <a:prstGeom prst="roundRect">
            <a:avLst>
              <a:gd name="adj" fmla="val 19444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没有单一方法同时支配质量、稳定性和计算成本。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36F8A72-4B7E-48A2-B831-8A25FB804964}"/>
              </a:ext>
            </a:extLst>
          </p:cNvPr>
          <p:cNvSpPr>
            <a:spLocks noGrp="1"/>
          </p:cNvSpPr>
          <p:nvPr/>
        </p:nvSpPr>
        <p:spPr>
          <a:xfrm>
            <a:off x="3714750" y="5753100"/>
            <a:ext cx="228600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默认设置下的初步结果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487981A0-926C-429E-A012-AD5A0845167E}"/>
              </a:ext>
            </a:extLst>
          </p:cNvPr>
          <p:cNvSpPr>
            <a:spLocks noGrp="1"/>
          </p:cNvSpPr>
          <p:nvPr/>
        </p:nvSpPr>
        <p:spPr>
          <a:xfrm>
            <a:off x="6191250" y="5753100"/>
            <a:ext cx="2286000" cy="323850"/>
          </a:xfrm>
          <a:prstGeom prst="roundRect">
            <a:avLst>
              <a:gd name="adj" fmla="val 50000"/>
            </a:avLst>
          </a:prstGeom>
          <a:solidFill>
            <a:srgbClr val="EEF2F6"/>
          </a:solidFill>
          <a:ln w="9525">
            <a:solidFill>
              <a:srgbClr val="DCE6EF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尚未完成参数扫描</a:t>
            </a:r>
          </a:p>
        </p:txBody>
      </p:sp>
    </p:spTree>
    <p:extLst>
      <p:ext uri="{BB962C8B-B14F-4D97-AF65-F5344CB8AC3E}">
        <p14:creationId xmlns:p14="http://schemas.microsoft.com/office/powerpoint/2010/main" val="2089282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8B5CAEEE-FAF5-4DD6-9C1C-D2595156784D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4CB8AD-5961-4CBA-9B95-04186754F2EB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LIME 与 KernelSHAP 构成忠实性领先组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2F5886-DB3A-4419-BD69-E199AFE0232D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303495-0015-4123-8448-CCD3884067FE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B5F5D6-09E3-4881-862B-470DF534994C}"/>
              </a:ext>
            </a:extLst>
          </p:cNvPr>
          <p:cNvSpPr>
            <a:spLocks noGrp="1"/>
          </p:cNvSpPr>
          <p:nvPr/>
        </p:nvSpPr>
        <p:spPr>
          <a:xfrm>
            <a:off x="685800" y="1009650"/>
            <a:ext cx="4476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3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Insertion AUC ↑　　Deletion AUC ↓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B19835A-94AA-40B6-8507-D81B16ED394B}"/>
              </a:ext>
            </a:extLst>
          </p:cNvPr>
          <p:cNvSpPr>
            <a:spLocks noGrp="1"/>
          </p:cNvSpPr>
          <p:nvPr/>
        </p:nvSpPr>
        <p:spPr>
          <a:xfrm>
            <a:off x="9105900" y="990600"/>
            <a:ext cx="2400300" cy="323850"/>
          </a:xfrm>
          <a:prstGeom prst="roundRect">
            <a:avLst>
              <a:gd name="adj" fmla="val 50000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默认设置下的初步结果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C747E97-5EB1-44B4-82FA-925D7DCA3A5E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5353050" cy="1638300"/>
          </a:xfrm>
          <a:prstGeom prst="roundRect">
            <a:avLst>
              <a:gd name="adj" fmla="val 8721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19050AB8-7616-4BE8-8A04-6F364332A969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535305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77A3AB-1ED6-4943-A6D0-4744AC3864E9}"/>
              </a:ext>
            </a:extLst>
          </p:cNvPr>
          <p:cNvSpPr>
            <a:spLocks noGrp="1"/>
          </p:cNvSpPr>
          <p:nvPr/>
        </p:nvSpPr>
        <p:spPr>
          <a:xfrm>
            <a:off x="857250" y="1695450"/>
            <a:ext cx="5010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ImageNet × ResNet-50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4E04FD-959E-4F51-8E7E-2D4530045CB2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2343150" cy="400050"/>
          </a:xfrm>
          <a:prstGeom prst="roundRect">
            <a:avLst>
              <a:gd name="adj" fmla="val 23810"/>
            </a:avLst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Insertion：LIME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0A7B296-6054-4819-9BAD-12DD5ADB0B0A}"/>
              </a:ext>
            </a:extLst>
          </p:cNvPr>
          <p:cNvSpPr>
            <a:spLocks noGrp="1"/>
          </p:cNvSpPr>
          <p:nvPr/>
        </p:nvSpPr>
        <p:spPr>
          <a:xfrm>
            <a:off x="3448050" y="2133600"/>
            <a:ext cx="2343150" cy="400050"/>
          </a:xfrm>
          <a:prstGeom prst="roundRect">
            <a:avLst>
              <a:gd name="adj" fmla="val 23810"/>
            </a:avLst>
          </a:prstGeom>
          <a:solidFill>
            <a:srgbClr val="EAF8F7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Deletion：KernelSHAP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546978-DC6B-4B1F-83CE-D0A132B954E9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领先组：LIME / KernelSHAP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A0009CB-AC89-4170-A43E-D2350CD79CD1}"/>
              </a:ext>
            </a:extLst>
          </p:cNvPr>
          <p:cNvSpPr>
            <a:spLocks noGrp="1"/>
          </p:cNvSpPr>
          <p:nvPr/>
        </p:nvSpPr>
        <p:spPr>
          <a:xfrm>
            <a:off x="6153150" y="1504950"/>
            <a:ext cx="5353050" cy="1638300"/>
          </a:xfrm>
          <a:prstGeom prst="roundRect">
            <a:avLst>
              <a:gd name="adj" fmla="val 8721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DDDD529C-51A0-4DD6-9F3D-407FB4391AFB}"/>
              </a:ext>
            </a:extLst>
          </p:cNvPr>
          <p:cNvSpPr>
            <a:spLocks noGrp="1"/>
          </p:cNvSpPr>
          <p:nvPr/>
        </p:nvSpPr>
        <p:spPr>
          <a:xfrm>
            <a:off x="6153150" y="1504950"/>
            <a:ext cx="535305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19CB47-973E-43C4-B30D-DFF9579BA42A}"/>
              </a:ext>
            </a:extLst>
          </p:cNvPr>
          <p:cNvSpPr>
            <a:spLocks noGrp="1"/>
          </p:cNvSpPr>
          <p:nvPr/>
        </p:nvSpPr>
        <p:spPr>
          <a:xfrm>
            <a:off x="6324600" y="1695450"/>
            <a:ext cx="5010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ImageNet × VGG13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E61E8EA-DB7D-4D45-B3BE-60010890FE36}"/>
              </a:ext>
            </a:extLst>
          </p:cNvPr>
          <p:cNvSpPr>
            <a:spLocks noGrp="1"/>
          </p:cNvSpPr>
          <p:nvPr/>
        </p:nvSpPr>
        <p:spPr>
          <a:xfrm>
            <a:off x="6362700" y="2133600"/>
            <a:ext cx="2343150" cy="400050"/>
          </a:xfrm>
          <a:prstGeom prst="roundRect">
            <a:avLst>
              <a:gd name="adj" fmla="val 23810"/>
            </a:avLst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Insertion：LIME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3E3E2548-BD8C-44D4-B3E5-8153AC31573D}"/>
              </a:ext>
            </a:extLst>
          </p:cNvPr>
          <p:cNvSpPr>
            <a:spLocks noGrp="1"/>
          </p:cNvSpPr>
          <p:nvPr/>
        </p:nvSpPr>
        <p:spPr>
          <a:xfrm>
            <a:off x="8915400" y="2133600"/>
            <a:ext cx="2343150" cy="400050"/>
          </a:xfrm>
          <a:prstGeom prst="roundRect">
            <a:avLst>
              <a:gd name="adj" fmla="val 23810"/>
            </a:avLst>
          </a:prstGeom>
          <a:solidFill>
            <a:srgbClr val="EAF8F7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Deletion：LIME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AC3E29E-5572-4B8A-868A-B1BC3274682D}"/>
              </a:ext>
            </a:extLst>
          </p:cNvPr>
          <p:cNvSpPr>
            <a:spLocks noGrp="1"/>
          </p:cNvSpPr>
          <p:nvPr/>
        </p:nvSpPr>
        <p:spPr>
          <a:xfrm>
            <a:off x="6362700" y="264795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领先组：LIME / KernelSHAP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E1FC5A5-32A1-47A3-B8A6-23AF1E5283DA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5353050" cy="1638300"/>
          </a:xfrm>
          <a:prstGeom prst="roundRect">
            <a:avLst>
              <a:gd name="adj" fmla="val 8721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20F79A2-3368-40DD-9BC4-6BDCA7BA02A1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5353050" cy="952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4CCD95C-3B7B-4DCB-A6AA-79D7FD0ABBBF}"/>
              </a:ext>
            </a:extLst>
          </p:cNvPr>
          <p:cNvSpPr>
            <a:spLocks noGrp="1"/>
          </p:cNvSpPr>
          <p:nvPr/>
        </p:nvSpPr>
        <p:spPr>
          <a:xfrm>
            <a:off x="857250" y="3619500"/>
            <a:ext cx="5010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CHNCXR × ResNet-50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AF2B421-D80C-4A10-A57B-4E7816FCF72F}"/>
              </a:ext>
            </a:extLst>
          </p:cNvPr>
          <p:cNvSpPr>
            <a:spLocks noGrp="1"/>
          </p:cNvSpPr>
          <p:nvPr/>
        </p:nvSpPr>
        <p:spPr>
          <a:xfrm>
            <a:off x="895350" y="4057650"/>
            <a:ext cx="2343150" cy="400050"/>
          </a:xfrm>
          <a:prstGeom prst="roundRect">
            <a:avLst>
              <a:gd name="adj" fmla="val 23810"/>
            </a:avLst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Insertion：KernelSHAP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EAC289BA-835D-4054-BBE8-D0ACBDB33D4A}"/>
              </a:ext>
            </a:extLst>
          </p:cNvPr>
          <p:cNvSpPr>
            <a:spLocks noGrp="1"/>
          </p:cNvSpPr>
          <p:nvPr/>
        </p:nvSpPr>
        <p:spPr>
          <a:xfrm>
            <a:off x="3448050" y="4057650"/>
            <a:ext cx="2343150" cy="400050"/>
          </a:xfrm>
          <a:prstGeom prst="roundRect">
            <a:avLst>
              <a:gd name="adj" fmla="val 23810"/>
            </a:avLst>
          </a:prstGeom>
          <a:solidFill>
            <a:srgbClr val="EAF8F7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Deletion：LIME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14D5A8-6AFB-4261-9D5A-7E744B0EB013}"/>
              </a:ext>
            </a:extLst>
          </p:cNvPr>
          <p:cNvSpPr>
            <a:spLocks noGrp="1"/>
          </p:cNvSpPr>
          <p:nvPr/>
        </p:nvSpPr>
        <p:spPr>
          <a:xfrm>
            <a:off x="895350" y="457200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领先组：LIME / KernelSHAP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5751677D-016C-47E0-81A0-DAAA88F80708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5353050" cy="1638300"/>
          </a:xfrm>
          <a:prstGeom prst="roundRect">
            <a:avLst>
              <a:gd name="adj" fmla="val 8721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6C02408-1C04-4FC1-87AF-247C93DA29DC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5353050" cy="952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01ED132-3530-4713-8236-B4AC9DA76134}"/>
              </a:ext>
            </a:extLst>
          </p:cNvPr>
          <p:cNvSpPr>
            <a:spLocks noGrp="1"/>
          </p:cNvSpPr>
          <p:nvPr/>
        </p:nvSpPr>
        <p:spPr>
          <a:xfrm>
            <a:off x="6324600" y="3619500"/>
            <a:ext cx="5010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CHNCXR × VGG13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1BB9D4F-C781-4659-9ED3-DDF194842279}"/>
              </a:ext>
            </a:extLst>
          </p:cNvPr>
          <p:cNvSpPr>
            <a:spLocks noGrp="1"/>
          </p:cNvSpPr>
          <p:nvPr/>
        </p:nvSpPr>
        <p:spPr>
          <a:xfrm>
            <a:off x="6362700" y="4057650"/>
            <a:ext cx="2343150" cy="400050"/>
          </a:xfrm>
          <a:prstGeom prst="roundRect">
            <a:avLst>
              <a:gd name="adj" fmla="val 23810"/>
            </a:avLst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Insertion：LIME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94859E3B-7031-4590-8385-B69E790DC044}"/>
              </a:ext>
            </a:extLst>
          </p:cNvPr>
          <p:cNvSpPr>
            <a:spLocks noGrp="1"/>
          </p:cNvSpPr>
          <p:nvPr/>
        </p:nvSpPr>
        <p:spPr>
          <a:xfrm>
            <a:off x="8915400" y="4057650"/>
            <a:ext cx="2343150" cy="400050"/>
          </a:xfrm>
          <a:prstGeom prst="roundRect">
            <a:avLst>
              <a:gd name="adj" fmla="val 23810"/>
            </a:avLst>
          </a:prstGeom>
          <a:solidFill>
            <a:srgbClr val="EAF8F7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Deletion：LIME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532E6F7-937C-48A0-B2DB-7A7F2718C773}"/>
              </a:ext>
            </a:extLst>
          </p:cNvPr>
          <p:cNvSpPr>
            <a:spLocks noGrp="1"/>
          </p:cNvSpPr>
          <p:nvPr/>
        </p:nvSpPr>
        <p:spPr>
          <a:xfrm>
            <a:off x="6362700" y="4572000"/>
            <a:ext cx="4895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领先组：LIME / KernelSHAP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968168D-25B7-40DE-BE34-EE064918D080}"/>
              </a:ext>
            </a:extLst>
          </p:cNvPr>
          <p:cNvSpPr>
            <a:spLocks noGrp="1"/>
          </p:cNvSpPr>
          <p:nvPr/>
        </p:nvSpPr>
        <p:spPr>
          <a:xfrm>
            <a:off x="685800" y="529590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LIME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89CB8B-2051-4648-B422-09D7544EB1EE}"/>
              </a:ext>
            </a:extLst>
          </p:cNvPr>
          <p:cNvSpPr>
            <a:spLocks noGrp="1"/>
          </p:cNvSpPr>
          <p:nvPr/>
        </p:nvSpPr>
        <p:spPr>
          <a:xfrm>
            <a:off x="1524000" y="5295900"/>
            <a:ext cx="4095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Insertion 4 组中 3 组领先｜Deletion 4 组中 3 组领先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2DD43A5-DBA6-4C6F-8E0B-E13897DF6A2C}"/>
              </a:ext>
            </a:extLst>
          </p:cNvPr>
          <p:cNvSpPr>
            <a:spLocks noGrp="1"/>
          </p:cNvSpPr>
          <p:nvPr/>
        </p:nvSpPr>
        <p:spPr>
          <a:xfrm>
            <a:off x="6153150" y="5295900"/>
            <a:ext cx="1257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RISE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1C5D6A6-6B0E-4893-8502-9DD16360AAF4}"/>
              </a:ext>
            </a:extLst>
          </p:cNvPr>
          <p:cNvSpPr>
            <a:spLocks noGrp="1"/>
          </p:cNvSpPr>
          <p:nvPr/>
        </p:nvSpPr>
        <p:spPr>
          <a:xfrm>
            <a:off x="6991350" y="5295900"/>
            <a:ext cx="4514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四个组合下忠实性整体低于 LIME / KernelSHAP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A22E1D39-77E8-4B11-8F7D-12EDB2F606D9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10820400" cy="495300"/>
          </a:xfrm>
          <a:prstGeom prst="roundRect">
            <a:avLst>
              <a:gd name="adj" fmla="val 19231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较高计算预算带来较强忠实性，但当前结果不足以支持单一复杂方法在所有条件下普遍领先。</a:t>
            </a:r>
          </a:p>
        </p:txBody>
      </p:sp>
    </p:spTree>
    <p:extLst>
      <p:ext uri="{BB962C8B-B14F-4D97-AF65-F5344CB8AC3E}">
        <p14:creationId xmlns:p14="http://schemas.microsoft.com/office/powerpoint/2010/main" val="1266018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 56">
            <a:extLst>
              <a:ext uri="{FF2B5EF4-FFF2-40B4-BE49-F238E27FC236}">
                <a16:creationId xmlns:a16="http://schemas.microsoft.com/office/drawing/2014/main" id="{7A463967-42A3-4A4A-A44A-C03FC9AF2500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D9F4B8-DACA-4E76-9012-512846CFB1C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RISE 的核心优势是稳定性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5E50B8-FEF6-424C-88DC-C1563E32D2B3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611C40-AA72-4299-A467-5D58EDB3B465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5E9E5C3-6046-4DDA-B96A-59DC4B32C0F6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4343400" cy="4095750"/>
          </a:xfrm>
          <a:prstGeom prst="roundRect">
            <a:avLst>
              <a:gd name="adj" fmla="val 3488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16DD839-CCCE-48BD-AD1C-0F42003F479E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434340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628E37-8A4D-4F21-AA0D-3C6C4617C6BB}"/>
              </a:ext>
            </a:extLst>
          </p:cNvPr>
          <p:cNvSpPr>
            <a:spLocks noGrp="1"/>
          </p:cNvSpPr>
          <p:nvPr/>
        </p:nvSpPr>
        <p:spPr>
          <a:xfrm>
            <a:off x="857250" y="14859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输入扰动稳定性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106DAE8-46D7-475B-AD46-F28679079FFB}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162050" cy="1066800"/>
          </a:xfrm>
          <a:prstGeom prst="roundRect">
            <a:avLst>
              <a:gd name="adj" fmla="val 8929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3B2CA93-0B9F-4E91-8B56-0EC1CADD1008}"/>
              </a:ext>
            </a:extLst>
          </p:cNvPr>
          <p:cNvSpPr>
            <a:spLocks noGrp="1"/>
          </p:cNvSpPr>
          <p:nvPr/>
        </p:nvSpPr>
        <p:spPr>
          <a:xfrm>
            <a:off x="1371600" y="2343150"/>
            <a:ext cx="361950" cy="3619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C6AC624-C048-4590-AF2F-6ABC33269F29}"/>
              </a:ext>
            </a:extLst>
          </p:cNvPr>
          <p:cNvSpPr>
            <a:spLocks noGrp="1"/>
          </p:cNvSpPr>
          <p:nvPr/>
        </p:nvSpPr>
        <p:spPr>
          <a:xfrm>
            <a:off x="1485900" y="2457450"/>
            <a:ext cx="171450" cy="1714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35B160-3B90-4004-8EA5-78D03D603173}"/>
              </a:ext>
            </a:extLst>
          </p:cNvPr>
          <p:cNvSpPr>
            <a:spLocks noGrp="1"/>
          </p:cNvSpPr>
          <p:nvPr/>
        </p:nvSpPr>
        <p:spPr>
          <a:xfrm>
            <a:off x="990600" y="318135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原始图像归因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05226169-C588-4EEE-8308-E750A5EA9042}"/>
              </a:ext>
            </a:extLst>
          </p:cNvPr>
          <p:cNvSpPr>
            <a:spLocks noGrp="1"/>
          </p:cNvSpPr>
          <p:nvPr/>
        </p:nvSpPr>
        <p:spPr>
          <a:xfrm>
            <a:off x="2324100" y="2457450"/>
            <a:ext cx="400050" cy="22860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E529A7-1476-41CA-823B-81C5130A9A14}"/>
              </a:ext>
            </a:extLst>
          </p:cNvPr>
          <p:cNvSpPr>
            <a:spLocks noGrp="1"/>
          </p:cNvSpPr>
          <p:nvPr/>
        </p:nvSpPr>
        <p:spPr>
          <a:xfrm>
            <a:off x="2209800" y="28003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微小扰动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5E05428-D023-425A-9919-988AEC23E07B}"/>
              </a:ext>
            </a:extLst>
          </p:cNvPr>
          <p:cNvSpPr>
            <a:spLocks noGrp="1"/>
          </p:cNvSpPr>
          <p:nvPr/>
        </p:nvSpPr>
        <p:spPr>
          <a:xfrm>
            <a:off x="2914650" y="2076450"/>
            <a:ext cx="1162050" cy="1066800"/>
          </a:xfrm>
          <a:prstGeom prst="roundRect">
            <a:avLst>
              <a:gd name="adj" fmla="val 8929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A135D4E-4BC6-4341-8861-B3C0CCE15E29}"/>
              </a:ext>
            </a:extLst>
          </p:cNvPr>
          <p:cNvSpPr>
            <a:spLocks noGrp="1"/>
          </p:cNvSpPr>
          <p:nvPr/>
        </p:nvSpPr>
        <p:spPr>
          <a:xfrm>
            <a:off x="3314700" y="2362200"/>
            <a:ext cx="361950" cy="3619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5497819-048E-4504-A6C0-96E39A4ACDF5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171450" cy="1714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F60953-40D3-4024-971D-F980C146EDB4}"/>
              </a:ext>
            </a:extLst>
          </p:cNvPr>
          <p:cNvSpPr>
            <a:spLocks noGrp="1"/>
          </p:cNvSpPr>
          <p:nvPr/>
        </p:nvSpPr>
        <p:spPr>
          <a:xfrm>
            <a:off x="2914650" y="3181350"/>
            <a:ext cx="1162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扰动后归因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13BC9A-B5BC-4472-B4CE-B065FDF75034}"/>
              </a:ext>
            </a:extLst>
          </p:cNvPr>
          <p:cNvSpPr>
            <a:spLocks noGrp="1"/>
          </p:cNvSpPr>
          <p:nvPr/>
        </p:nvSpPr>
        <p:spPr>
          <a:xfrm>
            <a:off x="990600" y="3676650"/>
            <a:ext cx="3086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RISE：4 个数据域 × 模型组合均领先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5530BDE-6751-43C1-8949-28589002C2F2}"/>
              </a:ext>
            </a:extLst>
          </p:cNvPr>
          <p:cNvSpPr>
            <a:spLocks noGrp="1"/>
          </p:cNvSpPr>
          <p:nvPr/>
        </p:nvSpPr>
        <p:spPr>
          <a:xfrm>
            <a:off x="1047750" y="430530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Max-Sensitivity ↓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DE4E3D4-33BC-43CA-9B4C-CCEA9E9E9DE5}"/>
              </a:ext>
            </a:extLst>
          </p:cNvPr>
          <p:cNvSpPr>
            <a:spLocks noGrp="1"/>
          </p:cNvSpPr>
          <p:nvPr/>
        </p:nvSpPr>
        <p:spPr>
          <a:xfrm>
            <a:off x="2609850" y="430530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Cosine Similarity ↑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54DC43C8-B8A5-405C-B2FC-A84992E8B972}"/>
              </a:ext>
            </a:extLst>
          </p:cNvPr>
          <p:cNvSpPr>
            <a:spLocks noGrp="1"/>
          </p:cNvSpPr>
          <p:nvPr/>
        </p:nvSpPr>
        <p:spPr>
          <a:xfrm>
            <a:off x="5334000" y="1295400"/>
            <a:ext cx="6172200" cy="4095750"/>
          </a:xfrm>
          <a:prstGeom prst="roundRect">
            <a:avLst>
              <a:gd name="adj" fmla="val 3488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BFDEB4D5-3470-46DE-A5F7-5185E20E6EAE}"/>
              </a:ext>
            </a:extLst>
          </p:cNvPr>
          <p:cNvSpPr>
            <a:spLocks noGrp="1"/>
          </p:cNvSpPr>
          <p:nvPr/>
        </p:nvSpPr>
        <p:spPr>
          <a:xfrm>
            <a:off x="5334000" y="1295400"/>
            <a:ext cx="6172200" cy="952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1DA8931-8515-4270-8060-93042CAB8BCD}"/>
              </a:ext>
            </a:extLst>
          </p:cNvPr>
          <p:cNvSpPr>
            <a:spLocks noGrp="1"/>
          </p:cNvSpPr>
          <p:nvPr/>
        </p:nvSpPr>
        <p:spPr>
          <a:xfrm>
            <a:off x="5505450" y="1485900"/>
            <a:ext cx="5829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跨随机种子稳定性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9543671-4AA0-457B-8F5B-555468E129A8}"/>
              </a:ext>
            </a:extLst>
          </p:cNvPr>
          <p:cNvSpPr>
            <a:spLocks noGrp="1"/>
          </p:cNvSpPr>
          <p:nvPr/>
        </p:nvSpPr>
        <p:spPr>
          <a:xfrm>
            <a:off x="6781800" y="1752600"/>
            <a:ext cx="4114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0　　　　　　　　　0.5　　　　　　　　　1.0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8EF3A9B-FC31-426A-A7CB-E4745218BE51}"/>
              </a:ext>
            </a:extLst>
          </p:cNvPr>
          <p:cNvSpPr>
            <a:spLocks noGrp="1"/>
          </p:cNvSpPr>
          <p:nvPr/>
        </p:nvSpPr>
        <p:spPr>
          <a:xfrm>
            <a:off x="5562600" y="20764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RISE · Spearman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20C3B171-01BB-4D5F-8DC9-7B375E90D1AF}"/>
              </a:ext>
            </a:extLst>
          </p:cNvPr>
          <p:cNvSpPr>
            <a:spLocks noGrp="1"/>
          </p:cNvSpPr>
          <p:nvPr/>
        </p:nvSpPr>
        <p:spPr>
          <a:xfrm>
            <a:off x="6800850" y="2219325"/>
            <a:ext cx="4000500" cy="0"/>
          </a:xfrm>
          <a:prstGeom prst="line">
            <a:avLst/>
          </a:prstGeom>
          <a:noFill/>
          <a:ln w="2857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82E58665-48B0-4E04-B0F7-D74772984810}"/>
              </a:ext>
            </a:extLst>
          </p:cNvPr>
          <p:cNvSpPr>
            <a:spLocks noGrp="1"/>
          </p:cNvSpPr>
          <p:nvPr/>
        </p:nvSpPr>
        <p:spPr>
          <a:xfrm>
            <a:off x="10769346" y="2219325"/>
            <a:ext cx="9201" cy="0"/>
          </a:xfrm>
          <a:prstGeom prst="line">
            <a:avLst/>
          </a:prstGeom>
          <a:noFill/>
          <a:ln w="6667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2A303791-E972-4F45-A6A9-25E325350541}"/>
              </a:ext>
            </a:extLst>
          </p:cNvPr>
          <p:cNvSpPr>
            <a:spLocks noGrp="1"/>
          </p:cNvSpPr>
          <p:nvPr/>
        </p:nvSpPr>
        <p:spPr>
          <a:xfrm>
            <a:off x="10712196" y="2162175"/>
            <a:ext cx="114300" cy="114300"/>
          </a:xfrm>
          <a:prstGeom prst="ellipse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B732C6D8-AD6B-4D11-AAA8-6B5F7B8D24D4}"/>
              </a:ext>
            </a:extLst>
          </p:cNvPr>
          <p:cNvSpPr>
            <a:spLocks noGrp="1"/>
          </p:cNvSpPr>
          <p:nvPr/>
        </p:nvSpPr>
        <p:spPr>
          <a:xfrm>
            <a:off x="10721397" y="2162175"/>
            <a:ext cx="114300" cy="114300"/>
          </a:xfrm>
          <a:prstGeom prst="ellipse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FFD7338-A1BB-4A9F-AA6A-452E6E258021}"/>
              </a:ext>
            </a:extLst>
          </p:cNvPr>
          <p:cNvSpPr>
            <a:spLocks noGrp="1"/>
          </p:cNvSpPr>
          <p:nvPr/>
        </p:nvSpPr>
        <p:spPr>
          <a:xfrm>
            <a:off x="6800850" y="23431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0.9920–0.9943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866FC6B-341E-4A54-ACA2-4A7E74AE11B3}"/>
              </a:ext>
            </a:extLst>
          </p:cNvPr>
          <p:cNvSpPr>
            <a:spLocks noGrp="1"/>
          </p:cNvSpPr>
          <p:nvPr/>
        </p:nvSpPr>
        <p:spPr>
          <a:xfrm>
            <a:off x="5562600" y="262890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RISE · Jaccard</a:t>
            </a: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41F60A3C-7E93-4F67-BB5C-D3C1278245B0}"/>
              </a:ext>
            </a:extLst>
          </p:cNvPr>
          <p:cNvSpPr>
            <a:spLocks noGrp="1"/>
          </p:cNvSpPr>
          <p:nvPr/>
        </p:nvSpPr>
        <p:spPr>
          <a:xfrm>
            <a:off x="6800850" y="2771775"/>
            <a:ext cx="4000500" cy="0"/>
          </a:xfrm>
          <a:prstGeom prst="line">
            <a:avLst/>
          </a:prstGeom>
          <a:noFill/>
          <a:ln w="2857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6B4DBE6D-DEEB-4B6C-990A-7BD42B54C774}"/>
              </a:ext>
            </a:extLst>
          </p:cNvPr>
          <p:cNvSpPr>
            <a:spLocks noGrp="1"/>
          </p:cNvSpPr>
          <p:nvPr/>
        </p:nvSpPr>
        <p:spPr>
          <a:xfrm>
            <a:off x="10350494" y="2771775"/>
            <a:ext cx="142818" cy="0"/>
          </a:xfrm>
          <a:prstGeom prst="line">
            <a:avLst/>
          </a:prstGeom>
          <a:noFill/>
          <a:ln w="66675">
            <a:solidFill>
              <a:srgbClr val="10B7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8E1078F1-0F90-4734-BD04-6EF4A9627DAB}"/>
              </a:ext>
            </a:extLst>
          </p:cNvPr>
          <p:cNvSpPr>
            <a:spLocks noGrp="1"/>
          </p:cNvSpPr>
          <p:nvPr/>
        </p:nvSpPr>
        <p:spPr>
          <a:xfrm>
            <a:off x="10293344" y="2714625"/>
            <a:ext cx="114300" cy="1143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2EB2F077-AAEE-4B7F-89D0-20ACF4EE6040}"/>
              </a:ext>
            </a:extLst>
          </p:cNvPr>
          <p:cNvSpPr>
            <a:spLocks noGrp="1"/>
          </p:cNvSpPr>
          <p:nvPr/>
        </p:nvSpPr>
        <p:spPr>
          <a:xfrm>
            <a:off x="10436162" y="2714625"/>
            <a:ext cx="114300" cy="1143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249C9F9-468B-41D1-BC66-B93F90C24E9C}"/>
              </a:ext>
            </a:extLst>
          </p:cNvPr>
          <p:cNvSpPr>
            <a:spLocks noGrp="1"/>
          </p:cNvSpPr>
          <p:nvPr/>
        </p:nvSpPr>
        <p:spPr>
          <a:xfrm>
            <a:off x="6800850" y="28956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rPr>
              <a:t>0.8873–0.9230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8B9777E-75E0-4E86-9B1F-E404701A6D87}"/>
              </a:ext>
            </a:extLst>
          </p:cNvPr>
          <p:cNvSpPr>
            <a:spLocks noGrp="1"/>
          </p:cNvSpPr>
          <p:nvPr/>
        </p:nvSpPr>
        <p:spPr>
          <a:xfrm>
            <a:off x="5562600" y="32956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LIME · Spearman</a:t>
            </a: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B6F8A4E5-B062-48CB-AA77-B1D00C15EB1D}"/>
              </a:ext>
            </a:extLst>
          </p:cNvPr>
          <p:cNvSpPr>
            <a:spLocks noGrp="1"/>
          </p:cNvSpPr>
          <p:nvPr/>
        </p:nvSpPr>
        <p:spPr>
          <a:xfrm>
            <a:off x="6800850" y="3438525"/>
            <a:ext cx="4000500" cy="0"/>
          </a:xfrm>
          <a:prstGeom prst="line">
            <a:avLst/>
          </a:prstGeom>
          <a:noFill/>
          <a:ln w="2857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直接连接符 38">
            <a:extLst>
              <a:ext uri="{FF2B5EF4-FFF2-40B4-BE49-F238E27FC236}">
                <a16:creationId xmlns:a16="http://schemas.microsoft.com/office/drawing/2014/main" id="{ADADA6C2-624F-41F6-9D59-788BCEDFA681}"/>
              </a:ext>
            </a:extLst>
          </p:cNvPr>
          <p:cNvSpPr>
            <a:spLocks noGrp="1"/>
          </p:cNvSpPr>
          <p:nvPr/>
        </p:nvSpPr>
        <p:spPr>
          <a:xfrm>
            <a:off x="9054732" y="3438525"/>
            <a:ext cx="1309364" cy="0"/>
          </a:xfrm>
          <a:prstGeom prst="line">
            <a:avLst/>
          </a:prstGeom>
          <a:noFill/>
          <a:ln w="6667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0F4C97CD-BAA0-4693-8AA6-39F19E9301FD}"/>
              </a:ext>
            </a:extLst>
          </p:cNvPr>
          <p:cNvSpPr>
            <a:spLocks noGrp="1"/>
          </p:cNvSpPr>
          <p:nvPr/>
        </p:nvSpPr>
        <p:spPr>
          <a:xfrm>
            <a:off x="8997582" y="3381375"/>
            <a:ext cx="114300" cy="114300"/>
          </a:xfrm>
          <a:prstGeom prst="ellipse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AFBB6EB5-8886-4D0F-9A3B-F85CFE028722}"/>
              </a:ext>
            </a:extLst>
          </p:cNvPr>
          <p:cNvSpPr>
            <a:spLocks noGrp="1"/>
          </p:cNvSpPr>
          <p:nvPr/>
        </p:nvSpPr>
        <p:spPr>
          <a:xfrm>
            <a:off x="10306945" y="3381375"/>
            <a:ext cx="114300" cy="114300"/>
          </a:xfrm>
          <a:prstGeom prst="ellipse">
            <a:avLst/>
          </a:prstGeom>
          <a:solidFill>
            <a:srgbClr val="002FA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53824D3-A3D5-4BB0-BE9A-276B4BB43A0B}"/>
              </a:ext>
            </a:extLst>
          </p:cNvPr>
          <p:cNvSpPr>
            <a:spLocks noGrp="1"/>
          </p:cNvSpPr>
          <p:nvPr/>
        </p:nvSpPr>
        <p:spPr>
          <a:xfrm>
            <a:off x="6800850" y="35623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0.5634–0.8907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34332FB-0633-4356-B99C-1B0078126DC1}"/>
              </a:ext>
            </a:extLst>
          </p:cNvPr>
          <p:cNvSpPr>
            <a:spLocks noGrp="1"/>
          </p:cNvSpPr>
          <p:nvPr/>
        </p:nvSpPr>
        <p:spPr>
          <a:xfrm>
            <a:off x="5562600" y="384810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LIME · Jaccard</a:t>
            </a:r>
          </a:p>
        </p:txBody>
      </p:sp>
      <p:sp>
        <p:nvSpPr>
          <p:cNvPr id="44" name="直接连接符 43">
            <a:extLst>
              <a:ext uri="{FF2B5EF4-FFF2-40B4-BE49-F238E27FC236}">
                <a16:creationId xmlns:a16="http://schemas.microsoft.com/office/drawing/2014/main" id="{F59284F3-0342-4163-99C0-D60124F023E4}"/>
              </a:ext>
            </a:extLst>
          </p:cNvPr>
          <p:cNvSpPr>
            <a:spLocks noGrp="1"/>
          </p:cNvSpPr>
          <p:nvPr/>
        </p:nvSpPr>
        <p:spPr>
          <a:xfrm>
            <a:off x="6800850" y="3990975"/>
            <a:ext cx="4000500" cy="0"/>
          </a:xfrm>
          <a:prstGeom prst="line">
            <a:avLst/>
          </a:prstGeom>
          <a:noFill/>
          <a:ln w="2857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直接连接符 44">
            <a:extLst>
              <a:ext uri="{FF2B5EF4-FFF2-40B4-BE49-F238E27FC236}">
                <a16:creationId xmlns:a16="http://schemas.microsoft.com/office/drawing/2014/main" id="{DB0B4925-46AA-4BFA-BC1E-1BFC324D6A7C}"/>
              </a:ext>
            </a:extLst>
          </p:cNvPr>
          <p:cNvSpPr>
            <a:spLocks noGrp="1"/>
          </p:cNvSpPr>
          <p:nvPr/>
        </p:nvSpPr>
        <p:spPr>
          <a:xfrm>
            <a:off x="8637080" y="3990975"/>
            <a:ext cx="1199750" cy="0"/>
          </a:xfrm>
          <a:prstGeom prst="line">
            <a:avLst/>
          </a:prstGeom>
          <a:noFill/>
          <a:ln w="66675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F5DFDFB1-5DD4-40EF-96C1-3C8D3EEC8DF1}"/>
              </a:ext>
            </a:extLst>
          </p:cNvPr>
          <p:cNvSpPr>
            <a:spLocks noGrp="1"/>
          </p:cNvSpPr>
          <p:nvPr/>
        </p:nvSpPr>
        <p:spPr>
          <a:xfrm>
            <a:off x="8579930" y="3933825"/>
            <a:ext cx="114300" cy="114300"/>
          </a:xfrm>
          <a:prstGeom prst="ellipse">
            <a:avLst/>
          </a:prstGeom>
          <a:solidFill>
            <a:srgbClr val="0799A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86025108-51DD-4A7C-BED0-272528D3518A}"/>
              </a:ext>
            </a:extLst>
          </p:cNvPr>
          <p:cNvSpPr>
            <a:spLocks noGrp="1"/>
          </p:cNvSpPr>
          <p:nvPr/>
        </p:nvSpPr>
        <p:spPr>
          <a:xfrm>
            <a:off x="9779679" y="3933825"/>
            <a:ext cx="114300" cy="114300"/>
          </a:xfrm>
          <a:prstGeom prst="ellipse">
            <a:avLst/>
          </a:prstGeom>
          <a:solidFill>
            <a:srgbClr val="0799A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8DBFB4C3-0456-40F1-ACDB-7435A71CF0A5}"/>
              </a:ext>
            </a:extLst>
          </p:cNvPr>
          <p:cNvSpPr>
            <a:spLocks noGrp="1"/>
          </p:cNvSpPr>
          <p:nvPr/>
        </p:nvSpPr>
        <p:spPr>
          <a:xfrm>
            <a:off x="6800850" y="41148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0.4590–0.7589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B82D8198-8BE4-42EC-A03C-1BC1C4EBEC40}"/>
              </a:ext>
            </a:extLst>
          </p:cNvPr>
          <p:cNvSpPr>
            <a:spLocks noGrp="1"/>
          </p:cNvSpPr>
          <p:nvPr/>
        </p:nvSpPr>
        <p:spPr>
          <a:xfrm>
            <a:off x="5562600" y="4514850"/>
            <a:ext cx="11620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KernelSHAP · ρ</a:t>
            </a:r>
          </a:p>
        </p:txBody>
      </p:sp>
      <p:sp>
        <p:nvSpPr>
          <p:cNvPr id="50" name="直接连接符 49">
            <a:extLst>
              <a:ext uri="{FF2B5EF4-FFF2-40B4-BE49-F238E27FC236}">
                <a16:creationId xmlns:a16="http://schemas.microsoft.com/office/drawing/2014/main" id="{0B6380D6-EC81-4D07-9E41-56F6AAE4E461}"/>
              </a:ext>
            </a:extLst>
          </p:cNvPr>
          <p:cNvSpPr>
            <a:spLocks noGrp="1"/>
          </p:cNvSpPr>
          <p:nvPr/>
        </p:nvSpPr>
        <p:spPr>
          <a:xfrm>
            <a:off x="6800850" y="4657725"/>
            <a:ext cx="4000500" cy="0"/>
          </a:xfrm>
          <a:prstGeom prst="line">
            <a:avLst/>
          </a:prstGeom>
          <a:noFill/>
          <a:ln w="28575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直接连接符 50">
            <a:extLst>
              <a:ext uri="{FF2B5EF4-FFF2-40B4-BE49-F238E27FC236}">
                <a16:creationId xmlns:a16="http://schemas.microsoft.com/office/drawing/2014/main" id="{5F72AC7F-F1C5-4A6F-8FA4-BFB51BEF3971}"/>
              </a:ext>
            </a:extLst>
          </p:cNvPr>
          <p:cNvSpPr>
            <a:spLocks noGrp="1"/>
          </p:cNvSpPr>
          <p:nvPr/>
        </p:nvSpPr>
        <p:spPr>
          <a:xfrm>
            <a:off x="8143418" y="4657725"/>
            <a:ext cx="2035054" cy="0"/>
          </a:xfrm>
          <a:prstGeom prst="line">
            <a:avLst/>
          </a:prstGeom>
          <a:noFill/>
          <a:ln w="66675">
            <a:solidFill>
              <a:srgbClr val="F47A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2C0E7CDE-6AF1-4D9E-849E-E6C5F8F75A62}"/>
              </a:ext>
            </a:extLst>
          </p:cNvPr>
          <p:cNvSpPr>
            <a:spLocks noGrp="1"/>
          </p:cNvSpPr>
          <p:nvPr/>
        </p:nvSpPr>
        <p:spPr>
          <a:xfrm>
            <a:off x="8086268" y="4600575"/>
            <a:ext cx="114300" cy="11430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DE94AF44-C61A-43DD-8742-88E8C7096749}"/>
              </a:ext>
            </a:extLst>
          </p:cNvPr>
          <p:cNvSpPr>
            <a:spLocks noGrp="1"/>
          </p:cNvSpPr>
          <p:nvPr/>
        </p:nvSpPr>
        <p:spPr>
          <a:xfrm>
            <a:off x="10121322" y="4600575"/>
            <a:ext cx="114300" cy="11430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7203062-F767-441A-B477-6A06D458A3BB}"/>
              </a:ext>
            </a:extLst>
          </p:cNvPr>
          <p:cNvSpPr>
            <a:spLocks noGrp="1"/>
          </p:cNvSpPr>
          <p:nvPr/>
        </p:nvSpPr>
        <p:spPr>
          <a:xfrm>
            <a:off x="6800850" y="47815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0.3356–0.8443</a:t>
            </a:r>
          </a:p>
        </p:txBody>
      </p:sp>
      <p:sp>
        <p:nvSpPr>
          <p:cNvPr id="55" name="矩形: 圆角 54">
            <a:extLst>
              <a:ext uri="{FF2B5EF4-FFF2-40B4-BE49-F238E27FC236}">
                <a16:creationId xmlns:a16="http://schemas.microsoft.com/office/drawing/2014/main" id="{C0B0AF40-392B-49F3-9A4D-407B20588ED0}"/>
              </a:ext>
            </a:extLst>
          </p:cNvPr>
          <p:cNvSpPr>
            <a:spLocks noGrp="1"/>
          </p:cNvSpPr>
          <p:nvPr/>
        </p:nvSpPr>
        <p:spPr>
          <a:xfrm>
            <a:off x="5334000" y="5562600"/>
            <a:ext cx="6172200" cy="438150"/>
          </a:xfrm>
          <a:prstGeom prst="roundRect">
            <a:avLst>
              <a:gd name="adj" fmla="val 21739"/>
            </a:avLst>
          </a:prstGeom>
          <a:solidFill>
            <a:srgbClr val="FFF4EA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值得进一步检查：KernelSHAP × ImageNet–ResNet-50</a:t>
            </a:r>
          </a:p>
          <a:p>
            <a:pPr algn="ctr">
              <a:defRPr sz="11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Spearman = 0.3356，出现明显跨种子波动</a:t>
            </a:r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81CC8133-0849-4B40-A38B-671D0357C427}"/>
              </a:ext>
            </a:extLst>
          </p:cNvPr>
          <p:cNvSpPr>
            <a:spLocks noGrp="1"/>
          </p:cNvSpPr>
          <p:nvPr/>
        </p:nvSpPr>
        <p:spPr>
          <a:xfrm>
            <a:off x="685800" y="6172200"/>
            <a:ext cx="10820400" cy="323850"/>
          </a:xfrm>
          <a:prstGeom prst="roundRect">
            <a:avLst>
              <a:gd name="adj" fmla="val 29412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归因质量较高，并不意味着归因结果天然稳定。</a:t>
            </a:r>
          </a:p>
        </p:txBody>
      </p:sp>
    </p:spTree>
    <p:extLst>
      <p:ext uri="{BB962C8B-B14F-4D97-AF65-F5344CB8AC3E}">
        <p14:creationId xmlns:p14="http://schemas.microsoft.com/office/powerpoint/2010/main" val="1786462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816A9BEB-E27E-4A07-8F39-BF96A8670A0E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D39CFE-A0F1-4491-A416-AA83662B47B5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相同前向预算不等于相同运行成本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DC27691-4FCF-4CA5-8F4A-4373AC3EC1FF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6F3F38-8351-43D9-A47A-903A18D223DE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7FCE00-5BA1-4514-97FF-77C3B25EE68B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6858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横轴：实际模型前向次数　　纵轴：相对归因耗时（Ablation = 1）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90DFFFF7-3A68-46E7-AB1A-B7E0CFB22B30}"/>
              </a:ext>
            </a:extLst>
          </p:cNvPr>
          <p:cNvSpPr>
            <a:spLocks noGrp="1"/>
          </p:cNvSpPr>
          <p:nvPr/>
        </p:nvSpPr>
        <p:spPr>
          <a:xfrm>
            <a:off x="1200150" y="5257800"/>
            <a:ext cx="6858000" cy="0"/>
          </a:xfrm>
          <a:prstGeom prst="line">
            <a:avLst/>
          </a:prstGeom>
          <a:noFill/>
          <a:ln w="14288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3ADAFAC2-A3D6-4D2C-B22F-6FB19D7D621D}"/>
              </a:ext>
            </a:extLst>
          </p:cNvPr>
          <p:cNvSpPr>
            <a:spLocks noGrp="1"/>
          </p:cNvSpPr>
          <p:nvPr/>
        </p:nvSpPr>
        <p:spPr>
          <a:xfrm>
            <a:off x="1200150" y="1924050"/>
            <a:ext cx="0" cy="3333750"/>
          </a:xfrm>
          <a:prstGeom prst="line">
            <a:avLst/>
          </a:prstGeom>
          <a:noFill/>
          <a:ln w="14288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3C6E504C-538E-4AA2-9809-3A6D9400CB4A}"/>
              </a:ext>
            </a:extLst>
          </p:cNvPr>
          <p:cNvSpPr>
            <a:spLocks noGrp="1"/>
          </p:cNvSpPr>
          <p:nvPr/>
        </p:nvSpPr>
        <p:spPr>
          <a:xfrm>
            <a:off x="1200150" y="5257800"/>
            <a:ext cx="0" cy="7620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CC92AF-BFD4-43C0-B14A-887B1611F494}"/>
              </a:ext>
            </a:extLst>
          </p:cNvPr>
          <p:cNvSpPr>
            <a:spLocks noGrp="1"/>
          </p:cNvSpPr>
          <p:nvPr/>
        </p:nvSpPr>
        <p:spPr>
          <a:xfrm>
            <a:off x="914400" y="53721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EC606A6-7AB0-43B5-A217-096E412413D7}"/>
              </a:ext>
            </a:extLst>
          </p:cNvPr>
          <p:cNvSpPr>
            <a:spLocks noGrp="1"/>
          </p:cNvSpPr>
          <p:nvPr/>
        </p:nvSpPr>
        <p:spPr>
          <a:xfrm>
            <a:off x="2914650" y="5257800"/>
            <a:ext cx="0" cy="7620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FD479F-7B6F-4FFB-895B-9C8BACC163B8}"/>
              </a:ext>
            </a:extLst>
          </p:cNvPr>
          <p:cNvSpPr>
            <a:spLocks noGrp="1"/>
          </p:cNvSpPr>
          <p:nvPr/>
        </p:nvSpPr>
        <p:spPr>
          <a:xfrm>
            <a:off x="2628900" y="53721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6EC4A0AC-DAC2-4598-88B8-8686D8FAE5A9}"/>
              </a:ext>
            </a:extLst>
          </p:cNvPr>
          <p:cNvSpPr>
            <a:spLocks noGrp="1"/>
          </p:cNvSpPr>
          <p:nvPr/>
        </p:nvSpPr>
        <p:spPr>
          <a:xfrm>
            <a:off x="4629150" y="5257800"/>
            <a:ext cx="0" cy="7620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4156B46-D44D-46E2-A2AD-F8F3866B1722}"/>
              </a:ext>
            </a:extLst>
          </p:cNvPr>
          <p:cNvSpPr>
            <a:spLocks noGrp="1"/>
          </p:cNvSpPr>
          <p:nvPr/>
        </p:nvSpPr>
        <p:spPr>
          <a:xfrm>
            <a:off x="4343400" y="53721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AC912EBB-0A44-4A8E-9046-2884915482E7}"/>
              </a:ext>
            </a:extLst>
          </p:cNvPr>
          <p:cNvSpPr>
            <a:spLocks noGrp="1"/>
          </p:cNvSpPr>
          <p:nvPr/>
        </p:nvSpPr>
        <p:spPr>
          <a:xfrm>
            <a:off x="6343650" y="5257800"/>
            <a:ext cx="0" cy="7620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22481AB-D417-4863-BF15-6E2E297E380D}"/>
              </a:ext>
            </a:extLst>
          </p:cNvPr>
          <p:cNvSpPr>
            <a:spLocks noGrp="1"/>
          </p:cNvSpPr>
          <p:nvPr/>
        </p:nvSpPr>
        <p:spPr>
          <a:xfrm>
            <a:off x="6057900" y="53721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768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16BA5D45-1543-4823-9D42-12A3EFAB24EA}"/>
              </a:ext>
            </a:extLst>
          </p:cNvPr>
          <p:cNvSpPr>
            <a:spLocks noGrp="1"/>
          </p:cNvSpPr>
          <p:nvPr/>
        </p:nvSpPr>
        <p:spPr>
          <a:xfrm>
            <a:off x="8058150" y="5257800"/>
            <a:ext cx="0" cy="7620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E01824B-991A-462F-80E5-B111A523E705}"/>
              </a:ext>
            </a:extLst>
          </p:cNvPr>
          <p:cNvSpPr>
            <a:spLocks noGrp="1"/>
          </p:cNvSpPr>
          <p:nvPr/>
        </p:nvSpPr>
        <p:spPr>
          <a:xfrm>
            <a:off x="7772400" y="537210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1024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CFBB4F62-704E-4C68-83E7-ABA2D7BBE1A0}"/>
              </a:ext>
            </a:extLst>
          </p:cNvPr>
          <p:cNvSpPr>
            <a:spLocks noGrp="1"/>
          </p:cNvSpPr>
          <p:nvPr/>
        </p:nvSpPr>
        <p:spPr>
          <a:xfrm>
            <a:off x="1123950" y="5153620"/>
            <a:ext cx="76200" cy="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F7B189-CF63-4EF5-9654-387D2B661BD8}"/>
              </a:ext>
            </a:extLst>
          </p:cNvPr>
          <p:cNvSpPr>
            <a:spLocks noGrp="1"/>
          </p:cNvSpPr>
          <p:nvPr/>
        </p:nvSpPr>
        <p:spPr>
          <a:xfrm>
            <a:off x="723900" y="503932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DB87777E-C238-4BC6-84AC-F66196D87336}"/>
              </a:ext>
            </a:extLst>
          </p:cNvPr>
          <p:cNvSpPr>
            <a:spLocks noGrp="1"/>
          </p:cNvSpPr>
          <p:nvPr/>
        </p:nvSpPr>
        <p:spPr>
          <a:xfrm>
            <a:off x="1200150" y="5153620"/>
            <a:ext cx="6858000" cy="0"/>
          </a:xfrm>
          <a:prstGeom prst="line">
            <a:avLst/>
          </a:prstGeom>
          <a:noFill/>
          <a:ln w="7620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40139EC5-1879-4F53-A782-D9827B02FDDF}"/>
              </a:ext>
            </a:extLst>
          </p:cNvPr>
          <p:cNvSpPr>
            <a:spLocks noGrp="1"/>
          </p:cNvSpPr>
          <p:nvPr/>
        </p:nvSpPr>
        <p:spPr>
          <a:xfrm>
            <a:off x="1123950" y="4216003"/>
            <a:ext cx="76200" cy="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E88324-86D3-4AB2-99D0-982CD9A68126}"/>
              </a:ext>
            </a:extLst>
          </p:cNvPr>
          <p:cNvSpPr>
            <a:spLocks noGrp="1"/>
          </p:cNvSpPr>
          <p:nvPr/>
        </p:nvSpPr>
        <p:spPr>
          <a:xfrm>
            <a:off x="723900" y="4101703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3341A6D3-1F25-4D00-893F-27F99C9C68CF}"/>
              </a:ext>
            </a:extLst>
          </p:cNvPr>
          <p:cNvSpPr>
            <a:spLocks noGrp="1"/>
          </p:cNvSpPr>
          <p:nvPr/>
        </p:nvSpPr>
        <p:spPr>
          <a:xfrm>
            <a:off x="1200150" y="4216003"/>
            <a:ext cx="6858000" cy="0"/>
          </a:xfrm>
          <a:prstGeom prst="line">
            <a:avLst/>
          </a:prstGeom>
          <a:noFill/>
          <a:ln w="7620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DA7FCAB5-9602-44C4-8125-95D810F59905}"/>
              </a:ext>
            </a:extLst>
          </p:cNvPr>
          <p:cNvSpPr>
            <a:spLocks noGrp="1"/>
          </p:cNvSpPr>
          <p:nvPr/>
        </p:nvSpPr>
        <p:spPr>
          <a:xfrm>
            <a:off x="1123950" y="3174206"/>
            <a:ext cx="76200" cy="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F177AB-6461-4F82-890B-246510EF52CC}"/>
              </a:ext>
            </a:extLst>
          </p:cNvPr>
          <p:cNvSpPr>
            <a:spLocks noGrp="1"/>
          </p:cNvSpPr>
          <p:nvPr/>
        </p:nvSpPr>
        <p:spPr>
          <a:xfrm>
            <a:off x="723900" y="3059906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3D23716A-4241-4FA4-BA29-C1EB9DBC14C5}"/>
              </a:ext>
            </a:extLst>
          </p:cNvPr>
          <p:cNvSpPr>
            <a:spLocks noGrp="1"/>
          </p:cNvSpPr>
          <p:nvPr/>
        </p:nvSpPr>
        <p:spPr>
          <a:xfrm>
            <a:off x="1200150" y="3174206"/>
            <a:ext cx="6858000" cy="0"/>
          </a:xfrm>
          <a:prstGeom prst="line">
            <a:avLst/>
          </a:prstGeom>
          <a:noFill/>
          <a:ln w="7620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01B4C3D6-9CE1-4F4D-AF4D-89129294230D}"/>
              </a:ext>
            </a:extLst>
          </p:cNvPr>
          <p:cNvSpPr>
            <a:spLocks noGrp="1"/>
          </p:cNvSpPr>
          <p:nvPr/>
        </p:nvSpPr>
        <p:spPr>
          <a:xfrm>
            <a:off x="1123950" y="2132409"/>
            <a:ext cx="76200" cy="0"/>
          </a:xfrm>
          <a:prstGeom prst="line">
            <a:avLst/>
          </a:prstGeom>
          <a:noFill/>
          <a:ln w="9525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BAD9D02-5F15-4020-B366-4C9FAFBC1116}"/>
              </a:ext>
            </a:extLst>
          </p:cNvPr>
          <p:cNvSpPr>
            <a:spLocks noGrp="1"/>
          </p:cNvSpPr>
          <p:nvPr/>
        </p:nvSpPr>
        <p:spPr>
          <a:xfrm>
            <a:off x="723900" y="2018109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63D78D40-C1F9-4EA1-A6E8-4F0A6AC258FA}"/>
              </a:ext>
            </a:extLst>
          </p:cNvPr>
          <p:cNvSpPr>
            <a:spLocks noGrp="1"/>
          </p:cNvSpPr>
          <p:nvPr/>
        </p:nvSpPr>
        <p:spPr>
          <a:xfrm>
            <a:off x="1200150" y="2132409"/>
            <a:ext cx="6858000" cy="0"/>
          </a:xfrm>
          <a:prstGeom prst="line">
            <a:avLst/>
          </a:prstGeom>
          <a:noFill/>
          <a:ln w="7620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B48DCC2-A1ED-487D-A9DA-E57E56CB2AE8}"/>
              </a:ext>
            </a:extLst>
          </p:cNvPr>
          <p:cNvSpPr>
            <a:spLocks noGrp="1"/>
          </p:cNvSpPr>
          <p:nvPr/>
        </p:nvSpPr>
        <p:spPr>
          <a:xfrm>
            <a:off x="1684213" y="5058370"/>
            <a:ext cx="190500" cy="190500"/>
          </a:xfrm>
          <a:prstGeom prst="ellipse">
            <a:avLst/>
          </a:prstGeom>
          <a:solidFill>
            <a:srgbClr val="0799A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679B602-C1AA-430E-A11C-C9CE3F99C077}"/>
              </a:ext>
            </a:extLst>
          </p:cNvPr>
          <p:cNvSpPr>
            <a:spLocks noGrp="1"/>
          </p:cNvSpPr>
          <p:nvPr/>
        </p:nvSpPr>
        <p:spPr>
          <a:xfrm>
            <a:off x="1931863" y="496312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1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Ablation</a:t>
            </a: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EA63758-6F13-447C-900D-F7137E7D30A2}"/>
              </a:ext>
            </a:extLst>
          </p:cNvPr>
          <p:cNvSpPr>
            <a:spLocks noGrp="1"/>
          </p:cNvSpPr>
          <p:nvPr/>
        </p:nvSpPr>
        <p:spPr>
          <a:xfrm>
            <a:off x="7962900" y="3735288"/>
            <a:ext cx="190500" cy="190500"/>
          </a:xfrm>
          <a:prstGeom prst="ellipse">
            <a:avLst/>
          </a:prstGeom>
          <a:solidFill>
            <a:srgbClr val="002FA7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4635C21F-6034-474B-B5AD-023E483154CE}"/>
              </a:ext>
            </a:extLst>
          </p:cNvPr>
          <p:cNvSpPr>
            <a:spLocks noGrp="1"/>
          </p:cNvSpPr>
          <p:nvPr/>
        </p:nvSpPr>
        <p:spPr>
          <a:xfrm>
            <a:off x="7962900" y="3683198"/>
            <a:ext cx="190500" cy="190500"/>
          </a:xfrm>
          <a:prstGeom prst="ellipse">
            <a:avLst/>
          </a:prstGeom>
          <a:solidFill>
            <a:srgbClr val="1670D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D1B5B704-F9B1-4702-A7C1-3E3970432AA5}"/>
              </a:ext>
            </a:extLst>
          </p:cNvPr>
          <p:cNvSpPr>
            <a:spLocks noGrp="1"/>
          </p:cNvSpPr>
          <p:nvPr/>
        </p:nvSpPr>
        <p:spPr>
          <a:xfrm>
            <a:off x="7962900" y="2037159"/>
            <a:ext cx="190500" cy="190500"/>
          </a:xfrm>
          <a:prstGeom prst="ellipse">
            <a:avLst/>
          </a:prstGeom>
          <a:solidFill>
            <a:srgbClr val="F47A24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57C75DBB-106F-4623-94B0-603FE70B61F6}"/>
              </a:ext>
            </a:extLst>
          </p:cNvPr>
          <p:cNvSpPr>
            <a:spLocks noGrp="1"/>
          </p:cNvSpPr>
          <p:nvPr/>
        </p:nvSpPr>
        <p:spPr>
          <a:xfrm>
            <a:off x="8362950" y="1562100"/>
            <a:ext cx="3143250" cy="1028700"/>
          </a:xfrm>
          <a:prstGeom prst="roundRect">
            <a:avLst>
              <a:gd name="adj" fmla="val 11111"/>
            </a:avLst>
          </a:prstGeom>
          <a:solidFill>
            <a:srgbClr val="EAF8F7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Ablation</a:t>
            </a:r>
          </a:p>
          <a:p>
            <a:pPr algn="ctr">
              <a:defRPr sz="13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86.5–91 次前向</a:t>
            </a:r>
          </a:p>
          <a:p>
            <a:pPr algn="ctr">
              <a:defRPr sz="13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0.1912–0.2113 s / 图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349E5D1-0CC0-47E2-AE14-A2C471EED340}"/>
              </a:ext>
            </a:extLst>
          </p:cNvPr>
          <p:cNvSpPr>
            <a:spLocks noGrp="1"/>
          </p:cNvSpPr>
          <p:nvPr/>
        </p:nvSpPr>
        <p:spPr>
          <a:xfrm>
            <a:off x="8362950" y="2743200"/>
            <a:ext cx="3143250" cy="876300"/>
          </a:xfrm>
          <a:prstGeom prst="roundRect">
            <a:avLst>
              <a:gd name="adj" fmla="val 13043"/>
            </a:avLst>
          </a:prstGeom>
          <a:solidFill>
            <a:srgbClr val="EAF3FB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LIME / KernelSHAP</a:t>
            </a:r>
          </a:p>
          <a:p>
            <a:pPr algn="ctr">
              <a:defRPr sz="11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1024 次前向</a:t>
            </a:r>
          </a:p>
          <a:p>
            <a:pPr algn="ctr">
              <a:defRPr sz="11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约为 Ablation 的 13.5–14.4 倍</a:t>
            </a: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669CFF35-657B-47A9-95CD-25756DBA96C7}"/>
              </a:ext>
            </a:extLst>
          </p:cNvPr>
          <p:cNvSpPr>
            <a:spLocks noGrp="1"/>
          </p:cNvSpPr>
          <p:nvPr/>
        </p:nvSpPr>
        <p:spPr>
          <a:xfrm>
            <a:off x="8362950" y="3771900"/>
            <a:ext cx="3143250" cy="876300"/>
          </a:xfrm>
          <a:prstGeom prst="roundRect">
            <a:avLst>
              <a:gd name="adj" fmla="val 13043"/>
            </a:avLst>
          </a:prstGeom>
          <a:solidFill>
            <a:srgbClr val="FFF4EA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RISE</a:t>
            </a:r>
          </a:p>
          <a:p>
            <a:pPr algn="ctr">
              <a:defRPr sz="11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1024 次前向</a:t>
            </a:r>
          </a:p>
          <a:p>
            <a:pPr algn="ctr">
              <a:defRPr sz="11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约为 Ablation 的 28.9–31.1 倍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1423E2C8-6713-4100-9563-86736D3506B4}"/>
              </a:ext>
            </a:extLst>
          </p:cNvPr>
          <p:cNvSpPr>
            <a:spLocks noGrp="1"/>
          </p:cNvSpPr>
          <p:nvPr/>
        </p:nvSpPr>
        <p:spPr>
          <a:xfrm>
            <a:off x="8362950" y="4895850"/>
            <a:ext cx="6477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随机 mask</a:t>
            </a:r>
          </a:p>
        </p:txBody>
      </p:sp>
      <p:sp>
        <p:nvSpPr>
          <p:cNvPr id="39" name="箭头: 右 38">
            <a:extLst>
              <a:ext uri="{FF2B5EF4-FFF2-40B4-BE49-F238E27FC236}">
                <a16:creationId xmlns:a16="http://schemas.microsoft.com/office/drawing/2014/main" id="{B012E642-6705-471C-A5FE-5781A161031B}"/>
              </a:ext>
            </a:extLst>
          </p:cNvPr>
          <p:cNvSpPr>
            <a:spLocks noGrp="1"/>
          </p:cNvSpPr>
          <p:nvPr/>
        </p:nvSpPr>
        <p:spPr>
          <a:xfrm>
            <a:off x="9020175" y="4972050"/>
            <a:ext cx="152400" cy="152400"/>
          </a:xfrm>
          <a:prstGeom prst="rightArrow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18864D5-D8D0-40E3-9965-F753EA9E05C4}"/>
              </a:ext>
            </a:extLst>
          </p:cNvPr>
          <p:cNvSpPr>
            <a:spLocks noGrp="1"/>
          </p:cNvSpPr>
          <p:nvPr/>
        </p:nvSpPr>
        <p:spPr>
          <a:xfrm>
            <a:off x="9144000" y="4895850"/>
            <a:ext cx="6477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上采样</a:t>
            </a:r>
          </a:p>
        </p:txBody>
      </p:sp>
      <p:sp>
        <p:nvSpPr>
          <p:cNvPr id="41" name="箭头: 右 40">
            <a:extLst>
              <a:ext uri="{FF2B5EF4-FFF2-40B4-BE49-F238E27FC236}">
                <a16:creationId xmlns:a16="http://schemas.microsoft.com/office/drawing/2014/main" id="{55FC0A23-F09A-4B06-B8F4-E7AE03E88FEC}"/>
              </a:ext>
            </a:extLst>
          </p:cNvPr>
          <p:cNvSpPr>
            <a:spLocks noGrp="1"/>
          </p:cNvSpPr>
          <p:nvPr/>
        </p:nvSpPr>
        <p:spPr>
          <a:xfrm>
            <a:off x="9801225" y="4972050"/>
            <a:ext cx="152400" cy="152400"/>
          </a:xfrm>
          <a:prstGeom prst="rightArrow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D4499A59-B388-4D54-8530-08AA04723D51}"/>
              </a:ext>
            </a:extLst>
          </p:cNvPr>
          <p:cNvSpPr>
            <a:spLocks noGrp="1"/>
          </p:cNvSpPr>
          <p:nvPr/>
        </p:nvSpPr>
        <p:spPr>
          <a:xfrm>
            <a:off x="9925050" y="4895850"/>
            <a:ext cx="6477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平移</a:t>
            </a:r>
          </a:p>
        </p:txBody>
      </p:sp>
      <p:sp>
        <p:nvSpPr>
          <p:cNvPr id="43" name="箭头: 右 42">
            <a:extLst>
              <a:ext uri="{FF2B5EF4-FFF2-40B4-BE49-F238E27FC236}">
                <a16:creationId xmlns:a16="http://schemas.microsoft.com/office/drawing/2014/main" id="{281CABCA-32D6-47B1-A725-9A6AF586130F}"/>
              </a:ext>
            </a:extLst>
          </p:cNvPr>
          <p:cNvSpPr>
            <a:spLocks noGrp="1"/>
          </p:cNvSpPr>
          <p:nvPr/>
        </p:nvSpPr>
        <p:spPr>
          <a:xfrm>
            <a:off x="10582275" y="4972050"/>
            <a:ext cx="152400" cy="152400"/>
          </a:xfrm>
          <a:prstGeom prst="rightArrow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B0A62FFD-D3A3-4D15-8151-7E5ABF9013C7}"/>
              </a:ext>
            </a:extLst>
          </p:cNvPr>
          <p:cNvSpPr>
            <a:spLocks noGrp="1"/>
          </p:cNvSpPr>
          <p:nvPr/>
        </p:nvSpPr>
        <p:spPr>
          <a:xfrm>
            <a:off x="10706100" y="4895850"/>
            <a:ext cx="647700" cy="323850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裁剪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8F11FD93-D5E4-4102-A714-4528BB0F10CE}"/>
              </a:ext>
            </a:extLst>
          </p:cNvPr>
          <p:cNvSpPr>
            <a:spLocks noGrp="1"/>
          </p:cNvSpPr>
          <p:nvPr/>
        </p:nvSpPr>
        <p:spPr>
          <a:xfrm>
            <a:off x="685800" y="6076950"/>
            <a:ext cx="10820400" cy="438150"/>
          </a:xfrm>
          <a:prstGeom prst="roundRect">
            <a:avLst>
              <a:gd name="adj" fmla="val 21739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前向次数是主要预算单位，但遮蔽生成与数据处理开销同样影响真实耗时。</a:t>
            </a:r>
          </a:p>
        </p:txBody>
      </p:sp>
    </p:spTree>
    <p:extLst>
      <p:ext uri="{BB962C8B-B14F-4D97-AF65-F5344CB8AC3E}">
        <p14:creationId xmlns:p14="http://schemas.microsoft.com/office/powerpoint/2010/main" val="1732901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A790004D-AEB7-4944-ACC8-21A6C874EF6D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F15B4D-FF82-44CA-9083-183AF06BB43D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CHNCXR 定位性是当前最重要的待解释问题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2A9935-EF9F-47CD-8219-23175FC0DD4F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0C0F0D-EF51-4D6C-BF07-6C934AF0EB52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1A887C2-FC49-4551-A355-FAC104D9D6AD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5143500" cy="3238500"/>
          </a:xfrm>
          <a:prstGeom prst="roundRect">
            <a:avLst>
              <a:gd name="adj" fmla="val 4412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BA01FA2-F4F9-4E9E-A0BE-92C6D9F72597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7EF939-9EA2-4557-8D0C-3B28B9A7AE6B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480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ImageNet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F6300A22-6F47-4A57-843E-86DC0BD7D2B7}"/>
              </a:ext>
            </a:extLst>
          </p:cNvPr>
          <p:cNvSpPr>
            <a:spLocks noGrp="1"/>
          </p:cNvSpPr>
          <p:nvPr/>
        </p:nvSpPr>
        <p:spPr>
          <a:xfrm>
            <a:off x="6362700" y="1238250"/>
            <a:ext cx="5143500" cy="3238500"/>
          </a:xfrm>
          <a:prstGeom prst="roundRect">
            <a:avLst>
              <a:gd name="adj" fmla="val 4412"/>
            </a:avLst>
          </a:prstGeom>
          <a:solidFill>
            <a:srgbClr val="F6FAFD"/>
          </a:solidFill>
          <a:ln w="10478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F5662D2-9DF8-43E3-AD65-4E98F1295153}"/>
              </a:ext>
            </a:extLst>
          </p:cNvPr>
          <p:cNvSpPr>
            <a:spLocks noGrp="1"/>
          </p:cNvSpPr>
          <p:nvPr/>
        </p:nvSpPr>
        <p:spPr>
          <a:xfrm>
            <a:off x="6362700" y="1238250"/>
            <a:ext cx="5143500" cy="95250"/>
          </a:xfrm>
          <a:prstGeom prst="roundRect">
            <a:avLst>
              <a:gd name="adj" fmla="val 50000"/>
            </a:avLst>
          </a:prstGeom>
          <a:solidFill>
            <a:srgbClr val="F47A24"/>
          </a:solidFill>
          <a:ln w="0">
            <a:solidFill>
              <a:srgbClr val="F47A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CE87FD-FE8D-46EC-AD96-071EDACBB2A1}"/>
              </a:ext>
            </a:extLst>
          </p:cNvPr>
          <p:cNvSpPr>
            <a:spLocks noGrp="1"/>
          </p:cNvSpPr>
          <p:nvPr/>
        </p:nvSpPr>
        <p:spPr>
          <a:xfrm>
            <a:off x="6534150" y="1428750"/>
            <a:ext cx="48006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CHNCXR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3"/>
          <a:srcRect t="14019" b="14019"/>
          <a:stretch>
            <a:fillRect/>
          </a:stretch>
        </p:blipFill>
        <p:spPr>
          <a:xfrm>
            <a:off x="895350" y="1847850"/>
            <a:ext cx="2038350" cy="1466850"/>
          </a:xfrm>
          <a:prstGeom prst="roundRect">
            <a:avLst>
              <a:gd name="adj" fmla="val 6494"/>
            </a:avLst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CD832695-3A16-4525-9B78-30A2BAB3D70F}"/>
              </a:ext>
            </a:extLst>
          </p:cNvPr>
          <p:cNvSpPr>
            <a:spLocks noGrp="1"/>
          </p:cNvSpPr>
          <p:nvPr/>
        </p:nvSpPr>
        <p:spPr>
          <a:xfrm>
            <a:off x="1428750" y="2133600"/>
            <a:ext cx="1028700" cy="876300"/>
          </a:xfrm>
          <a:prstGeom prst="rect">
            <a:avLst/>
          </a:prstGeom>
          <a:noFill/>
          <a:ln w="28575">
            <a:solidFill>
              <a:srgbClr val="F47A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00ACD643-F76A-4C78-BE02-922CD7AF8F76}"/>
              </a:ext>
            </a:extLst>
          </p:cNvPr>
          <p:cNvSpPr>
            <a:spLocks noGrp="1"/>
          </p:cNvSpPr>
          <p:nvPr/>
        </p:nvSpPr>
        <p:spPr>
          <a:xfrm>
            <a:off x="3143250" y="1847850"/>
            <a:ext cx="1047750" cy="1466850"/>
          </a:xfrm>
          <a:prstGeom prst="roundRect">
            <a:avLst>
              <a:gd name="adj" fmla="val 9091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F18CC78B-626C-4669-A714-D67399FFAE4C}"/>
              </a:ext>
            </a:extLst>
          </p:cNvPr>
          <p:cNvSpPr>
            <a:spLocks noGrp="1"/>
          </p:cNvSpPr>
          <p:nvPr/>
        </p:nvSpPr>
        <p:spPr>
          <a:xfrm>
            <a:off x="3409950" y="2228850"/>
            <a:ext cx="647700" cy="64770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457C971-55F0-4F0E-B3C5-1A469EAA37ED}"/>
              </a:ext>
            </a:extLst>
          </p:cNvPr>
          <p:cNvSpPr>
            <a:spLocks noGrp="1"/>
          </p:cNvSpPr>
          <p:nvPr/>
        </p:nvSpPr>
        <p:spPr>
          <a:xfrm>
            <a:off x="3619500" y="2419350"/>
            <a:ext cx="304800" cy="30480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558D244-3ECD-45F5-9776-FE6A9276A6E2}"/>
              </a:ext>
            </a:extLst>
          </p:cNvPr>
          <p:cNvSpPr>
            <a:spLocks noGrp="1"/>
          </p:cNvSpPr>
          <p:nvPr/>
        </p:nvSpPr>
        <p:spPr>
          <a:xfrm>
            <a:off x="4362450" y="1809750"/>
            <a:ext cx="12573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正能量中位数</a:t>
            </a:r>
          </a:p>
          <a:p>
            <a:pPr algn="ctr">
              <a:def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0.3001–0.6742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4B4AD10E-304C-4F1A-910D-A8CD7F8B02E0}"/>
              </a:ext>
            </a:extLst>
          </p:cNvPr>
          <p:cNvSpPr>
            <a:spLocks noGrp="1"/>
          </p:cNvSpPr>
          <p:nvPr/>
        </p:nvSpPr>
        <p:spPr>
          <a:xfrm>
            <a:off x="4362450" y="2609850"/>
            <a:ext cx="1257300" cy="6667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Pointing Game</a:t>
            </a:r>
          </a:p>
          <a:p>
            <a:pPr algn="ctr">
              <a:defRPr sz="11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多数组合中位数 = 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514EFBB-3D66-44C6-91CE-C61F2D0DC88D}"/>
              </a:ext>
            </a:extLst>
          </p:cNvPr>
          <p:cNvSpPr>
            <a:spLocks noGrp="1"/>
          </p:cNvSpPr>
          <p:nvPr/>
        </p:nvSpPr>
        <p:spPr>
          <a:xfrm>
            <a:off x="895350" y="3562350"/>
            <a:ext cx="4724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归因热区与目标边界框存在较明确重合</a:t>
            </a:r>
          </a:p>
        </p:txBody>
      </p:sp>
      <p:pic>
        <p:nvPicPr>
          <p:cNvPr id="54" name="图片 53"/>
          <p:cNvPicPr>
            <a:picLocks noChangeAspect="1"/>
          </p:cNvPicPr>
          <p:nvPr/>
        </p:nvPicPr>
        <p:blipFill>
          <a:blip r:embed="rId4"/>
          <a:srcRect t="14019" b="14019"/>
          <a:stretch>
            <a:fillRect/>
          </a:stretch>
        </p:blipFill>
        <p:spPr>
          <a:xfrm>
            <a:off x="6572250" y="1847850"/>
            <a:ext cx="2038350" cy="1466850"/>
          </a:xfrm>
          <a:prstGeom prst="roundRect">
            <a:avLst>
              <a:gd name="adj" fmla="val 6494"/>
            </a:avLst>
          </a:prstGeom>
        </p:spPr>
      </p:pic>
      <p:sp>
        <p:nvSpPr>
          <p:cNvPr id="20" name="椭圆 19">
            <a:extLst>
              <a:ext uri="{FF2B5EF4-FFF2-40B4-BE49-F238E27FC236}">
                <a16:creationId xmlns:a16="http://schemas.microsoft.com/office/drawing/2014/main" id="{8BC0F72B-3B89-49AA-B21E-DE1BACC7E3A8}"/>
              </a:ext>
            </a:extLst>
          </p:cNvPr>
          <p:cNvSpPr>
            <a:spLocks noGrp="1"/>
          </p:cNvSpPr>
          <p:nvPr/>
        </p:nvSpPr>
        <p:spPr>
          <a:xfrm>
            <a:off x="7867650" y="2400300"/>
            <a:ext cx="133350" cy="133350"/>
          </a:xfrm>
          <a:prstGeom prst="ellipse">
            <a:avLst/>
          </a:prstGeom>
          <a:solidFill>
            <a:srgbClr val="10B7C5"/>
          </a:solidFill>
          <a:ln w="19050">
            <a:solidFill>
              <a:srgbClr val="F47A2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24A1A91-2279-4650-99C0-5BE206D35E40}"/>
              </a:ext>
            </a:extLst>
          </p:cNvPr>
          <p:cNvSpPr>
            <a:spLocks noGrp="1"/>
          </p:cNvSpPr>
          <p:nvPr/>
        </p:nvSpPr>
        <p:spPr>
          <a:xfrm>
            <a:off x="8820150" y="1847850"/>
            <a:ext cx="1047750" cy="1466850"/>
          </a:xfrm>
          <a:prstGeom prst="roundRect">
            <a:avLst>
              <a:gd name="adj" fmla="val 9091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39A2AE3E-DE31-4099-9530-CBBA11F197FC}"/>
              </a:ext>
            </a:extLst>
          </p:cNvPr>
          <p:cNvSpPr>
            <a:spLocks noGrp="1"/>
          </p:cNvSpPr>
          <p:nvPr/>
        </p:nvSpPr>
        <p:spPr>
          <a:xfrm>
            <a:off x="9296400" y="2590800"/>
            <a:ext cx="171450" cy="171450"/>
          </a:xfrm>
          <a:prstGeom prst="ellipse">
            <a:avLst/>
          </a:prstGeom>
          <a:solidFill>
            <a:srgbClr val="F47A2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97D0B6C3-21A9-408E-9EF4-548A57B77F5A}"/>
              </a:ext>
            </a:extLst>
          </p:cNvPr>
          <p:cNvSpPr>
            <a:spLocks noGrp="1"/>
          </p:cNvSpPr>
          <p:nvPr/>
        </p:nvSpPr>
        <p:spPr>
          <a:xfrm>
            <a:off x="9029700" y="2133600"/>
            <a:ext cx="533400" cy="533400"/>
          </a:xfrm>
          <a:prstGeom prst="ellipse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446F8214-4C58-4293-ACC0-40954145F513}"/>
              </a:ext>
            </a:extLst>
          </p:cNvPr>
          <p:cNvSpPr>
            <a:spLocks noGrp="1"/>
          </p:cNvSpPr>
          <p:nvPr/>
        </p:nvSpPr>
        <p:spPr>
          <a:xfrm>
            <a:off x="10039350" y="1809750"/>
            <a:ext cx="1257300" cy="666750"/>
          </a:xfrm>
          <a:prstGeom prst="roundRect">
            <a:avLst>
              <a:gd name="adj" fmla="val 14286"/>
            </a:avLst>
          </a:prstGeom>
          <a:solidFill>
            <a:srgbClr val="FFF4EA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正能量中位数</a:t>
            </a:r>
          </a:p>
          <a:p>
            <a:pPr algn="ctr">
              <a:def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0–0.0232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AED3DFD-902A-4536-96F6-788F55F7FCB5}"/>
              </a:ext>
            </a:extLst>
          </p:cNvPr>
          <p:cNvSpPr>
            <a:spLocks noGrp="1"/>
          </p:cNvSpPr>
          <p:nvPr/>
        </p:nvSpPr>
        <p:spPr>
          <a:xfrm>
            <a:off x="10039350" y="2609850"/>
            <a:ext cx="1257300" cy="666750"/>
          </a:xfrm>
          <a:prstGeom prst="roundRect">
            <a:avLst>
              <a:gd name="adj" fmla="val 14286"/>
            </a:avLst>
          </a:prstGeom>
          <a:solidFill>
            <a:srgbClr val="FFF4EA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8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Pointing Game</a:t>
            </a:r>
          </a:p>
          <a:p>
            <a:pPr algn="ctr">
              <a:defRPr sz="18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0 / 160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A04A66D-6939-4069-B828-6B0EED1202C2}"/>
              </a:ext>
            </a:extLst>
          </p:cNvPr>
          <p:cNvSpPr>
            <a:spLocks noGrp="1"/>
          </p:cNvSpPr>
          <p:nvPr/>
        </p:nvSpPr>
        <p:spPr>
          <a:xfrm>
            <a:off x="6572250" y="3562350"/>
            <a:ext cx="4724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D94A45"/>
                </a:solidFill>
                <a:latin typeface="Microsoft YaHei"/>
                <a:ea typeface="Microsoft YaHei"/>
                <a:cs typeface="Microsoft YaHei"/>
              </a:rPr>
              <a:t>ResNet-50 × RISE：25 条适用记录均为零正能量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C5E348B5-0E1C-43E3-B216-1699C98838DD}"/>
              </a:ext>
            </a:extLst>
          </p:cNvPr>
          <p:cNvSpPr>
            <a:spLocks noGrp="1"/>
          </p:cNvSpPr>
          <p:nvPr/>
        </p:nvSpPr>
        <p:spPr>
          <a:xfrm>
            <a:off x="685800" y="4724400"/>
            <a:ext cx="2533650" cy="419100"/>
          </a:xfrm>
          <a:prstGeom prst="roundRect">
            <a:avLst>
              <a:gd name="adj" fmla="val 22727"/>
            </a:avLst>
          </a:prstGeom>
          <a:solidFill>
            <a:srgbClr val="FFF4EA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1　小病灶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845E82D-36B8-491C-84C6-0844F955360F}"/>
              </a:ext>
            </a:extLst>
          </p:cNvPr>
          <p:cNvSpPr>
            <a:spLocks noGrp="1"/>
          </p:cNvSpPr>
          <p:nvPr/>
        </p:nvSpPr>
        <p:spPr>
          <a:xfrm>
            <a:off x="685800" y="51625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面积中位数 1.55%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AFC3AF6-98E9-426B-B157-4918A2354D13}"/>
              </a:ext>
            </a:extLst>
          </p:cNvPr>
          <p:cNvSpPr>
            <a:spLocks noGrp="1"/>
          </p:cNvSpPr>
          <p:nvPr/>
        </p:nvSpPr>
        <p:spPr>
          <a:xfrm>
            <a:off x="3390900" y="4724400"/>
            <a:ext cx="2533650" cy="419100"/>
          </a:xfrm>
          <a:prstGeom prst="roundRect">
            <a:avLst>
              <a:gd name="adj" fmla="val 22727"/>
            </a:avLst>
          </a:prstGeom>
          <a:solidFill>
            <a:srgbClr val="FFF4EA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2　SLIC n = 100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DB3730B-C0AA-4958-9A58-AE7320923F34}"/>
              </a:ext>
            </a:extLst>
          </p:cNvPr>
          <p:cNvSpPr>
            <a:spLocks noGrp="1"/>
          </p:cNvSpPr>
          <p:nvPr/>
        </p:nvSpPr>
        <p:spPr>
          <a:xfrm>
            <a:off x="3390900" y="51625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可能对病灶过粗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97480C4-78BB-41A3-9C74-F9EE5D147578}"/>
              </a:ext>
            </a:extLst>
          </p:cNvPr>
          <p:cNvSpPr>
            <a:spLocks noGrp="1"/>
          </p:cNvSpPr>
          <p:nvPr/>
        </p:nvSpPr>
        <p:spPr>
          <a:xfrm>
            <a:off x="6096000" y="4724400"/>
            <a:ext cx="2533650" cy="419100"/>
          </a:xfrm>
          <a:prstGeom prst="roundRect">
            <a:avLst>
              <a:gd name="adj" fmla="val 22727"/>
            </a:avLst>
          </a:prstGeom>
          <a:solidFill>
            <a:srgbClr val="FFF4EA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3　归一化零基线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B550B47-F204-4745-92C3-21CA399E9C99}"/>
              </a:ext>
            </a:extLst>
          </p:cNvPr>
          <p:cNvSpPr>
            <a:spLocks noGrp="1"/>
          </p:cNvSpPr>
          <p:nvPr/>
        </p:nvSpPr>
        <p:spPr>
          <a:xfrm>
            <a:off x="6096000" y="51625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可能产生分布外输入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B177916-C8E8-4E57-AFCC-7EE3AEA892D0}"/>
              </a:ext>
            </a:extLst>
          </p:cNvPr>
          <p:cNvSpPr>
            <a:spLocks noGrp="1"/>
          </p:cNvSpPr>
          <p:nvPr/>
        </p:nvSpPr>
        <p:spPr>
          <a:xfrm>
            <a:off x="8801100" y="4724400"/>
            <a:ext cx="2533650" cy="419100"/>
          </a:xfrm>
          <a:prstGeom prst="roundRect">
            <a:avLst>
              <a:gd name="adj" fmla="val 22727"/>
            </a:avLst>
          </a:prstGeom>
          <a:solidFill>
            <a:srgbClr val="FFF4EA"/>
          </a:solidFill>
          <a:ln w="9525">
            <a:solidFill>
              <a:srgbClr val="F47A24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4　模型关注区域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7974581-6703-43A5-9055-EBCA860DA1D3}"/>
              </a:ext>
            </a:extLst>
          </p:cNvPr>
          <p:cNvSpPr>
            <a:spLocks noGrp="1"/>
          </p:cNvSpPr>
          <p:nvPr/>
        </p:nvSpPr>
        <p:spPr>
          <a:xfrm>
            <a:off x="8801100" y="5162550"/>
            <a:ext cx="2533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可能包含病灶外线索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0FBB040B-6EAD-4727-9E75-A8E4CAA10763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820400" cy="628650"/>
          </a:xfrm>
          <a:prstGeom prst="roundRect">
            <a:avLst>
              <a:gd name="adj" fmla="val 15152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当前现象可能来自评价协议、解释粒度、遮蔽基线或模型真实依赖，</a:t>
            </a:r>
          </a:p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不能直接解释为某一种方法定位能力差。</a:t>
            </a:r>
          </a:p>
        </p:txBody>
      </p:sp>
    </p:spTree>
    <p:extLst>
      <p:ext uri="{BB962C8B-B14F-4D97-AF65-F5344CB8AC3E}">
        <p14:creationId xmlns:p14="http://schemas.microsoft.com/office/powerpoint/2010/main" val="120029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8DF9212-5049-4F77-A3B7-C5091798296E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8AB3522-978D-41C4-8444-16744605EDB8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M3 已形成部分答案，但仍需条件验证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96B831-016B-40D5-A8AB-9B1DA088BA8B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B55C83-665F-4D6B-BEE3-F93BA18237D6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9D406E7-C82E-4796-8F16-84D4E54833AF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2514600" cy="3829050"/>
          </a:xfrm>
          <a:prstGeom prst="roundRect">
            <a:avLst>
              <a:gd name="adj" fmla="val 568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5D9ED21-DAE7-4353-910C-D725043C61CB}"/>
              </a:ext>
            </a:extLst>
          </p:cNvPr>
          <p:cNvSpPr>
            <a:spLocks noGrp="1"/>
          </p:cNvSpPr>
          <p:nvPr/>
        </p:nvSpPr>
        <p:spPr>
          <a:xfrm>
            <a:off x="495300" y="1352550"/>
            <a:ext cx="2514600" cy="95250"/>
          </a:xfrm>
          <a:prstGeom prst="roundRect">
            <a:avLst>
              <a:gd name="adj" fmla="val 50000"/>
            </a:avLst>
          </a:prstGeom>
          <a:solidFill>
            <a:srgbClr val="081D3A"/>
          </a:solidFill>
          <a:ln w="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22ED01-68DD-46CF-866B-9E1AB29FF107}"/>
              </a:ext>
            </a:extLst>
          </p:cNvPr>
          <p:cNvSpPr>
            <a:spLocks noGrp="1"/>
          </p:cNvSpPr>
          <p:nvPr/>
        </p:nvSpPr>
        <p:spPr>
          <a:xfrm>
            <a:off x="666750" y="1600200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RQ1｜质量 × 效率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147B96-C3E8-4518-AFC7-3CDC800253F8}"/>
              </a:ext>
            </a:extLst>
          </p:cNvPr>
          <p:cNvSpPr>
            <a:spLocks noGrp="1"/>
          </p:cNvSpPr>
          <p:nvPr/>
        </p:nvSpPr>
        <p:spPr>
          <a:xfrm>
            <a:off x="666750" y="21336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B36D7C-FE67-4CAE-8551-9BCA43E35D72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21717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LIME / KernelSHAP 忠实性较强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RISE 稳定性最好但耗时最高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Ablation 计算成本最低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D45824D-9FA5-46FE-9507-C86A30D5AF6F}"/>
              </a:ext>
            </a:extLst>
          </p:cNvPr>
          <p:cNvSpPr>
            <a:spLocks noGrp="1"/>
          </p:cNvSpPr>
          <p:nvPr/>
        </p:nvSpPr>
        <p:spPr>
          <a:xfrm>
            <a:off x="666750" y="3943350"/>
            <a:ext cx="2171700" cy="895350"/>
          </a:xfrm>
          <a:prstGeom prst="roundRect">
            <a:avLst>
              <a:gd name="adj" fmla="val 12766"/>
            </a:avLst>
          </a:prstGeom>
          <a:solidFill>
            <a:srgbClr val="081D3A"/>
          </a:solidFill>
          <a:ln w="11430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额外计算可以换取部分质量优势，</a:t>
            </a:r>
          </a:p>
          <a:p>
            <a:pPr algn="ctr">
              <a:def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但收益维度随方法而异。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061B7C4-774D-4939-BDCB-41FCD823E814}"/>
              </a:ext>
            </a:extLst>
          </p:cNvPr>
          <p:cNvSpPr>
            <a:spLocks noGrp="1"/>
          </p:cNvSpPr>
          <p:nvPr/>
        </p:nvSpPr>
        <p:spPr>
          <a:xfrm>
            <a:off x="3390900" y="1352550"/>
            <a:ext cx="2514600" cy="3829050"/>
          </a:xfrm>
          <a:prstGeom prst="roundRect">
            <a:avLst>
              <a:gd name="adj" fmla="val 568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AD8E4B4-9646-4EC7-BC9F-865B3A878A94}"/>
              </a:ext>
            </a:extLst>
          </p:cNvPr>
          <p:cNvSpPr>
            <a:spLocks noGrp="1"/>
          </p:cNvSpPr>
          <p:nvPr/>
        </p:nvSpPr>
        <p:spPr>
          <a:xfrm>
            <a:off x="3390900" y="1352550"/>
            <a:ext cx="251460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A0D39C-05F3-4112-A16B-04E12F9AD27A}"/>
              </a:ext>
            </a:extLst>
          </p:cNvPr>
          <p:cNvSpPr>
            <a:spLocks noGrp="1"/>
          </p:cNvSpPr>
          <p:nvPr/>
        </p:nvSpPr>
        <p:spPr>
          <a:xfrm>
            <a:off x="3562350" y="1600200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RQ2｜参数敏感性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5EBCFBD-EC3B-4805-ABF0-B5F4DB7E3174}"/>
              </a:ext>
            </a:extLst>
          </p:cNvPr>
          <p:cNvSpPr>
            <a:spLocks noGrp="1"/>
          </p:cNvSpPr>
          <p:nvPr/>
        </p:nvSpPr>
        <p:spPr>
          <a:xfrm>
            <a:off x="3562350" y="21336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7837CA8-4351-4594-9ADD-2B952B2FDFD3}"/>
              </a:ext>
            </a:extLst>
          </p:cNvPr>
          <p:cNvSpPr>
            <a:spLocks noGrp="1"/>
          </p:cNvSpPr>
          <p:nvPr/>
        </p:nvSpPr>
        <p:spPr>
          <a:xfrm>
            <a:off x="3562350" y="2476500"/>
            <a:ext cx="21717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医学小病灶与当前粒度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存在明显不匹配风险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KernelSHAP 出现种子波动组合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71C461D-C979-4F00-8B88-2D3F01FF1C63}"/>
              </a:ext>
            </a:extLst>
          </p:cNvPr>
          <p:cNvSpPr>
            <a:spLocks noGrp="1"/>
          </p:cNvSpPr>
          <p:nvPr/>
        </p:nvSpPr>
        <p:spPr>
          <a:xfrm>
            <a:off x="3562350" y="3943350"/>
            <a:ext cx="21717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1430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尚未正式回答</a:t>
            </a:r>
          </a:p>
          <a:p>
            <a:pPr algn="ctr">
              <a:def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下一步：单因素参数扫描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5B704A9C-8C25-4192-B124-A2F9A1D1E90A}"/>
              </a:ext>
            </a:extLst>
          </p:cNvPr>
          <p:cNvSpPr>
            <a:spLocks noGrp="1"/>
          </p:cNvSpPr>
          <p:nvPr/>
        </p:nvSpPr>
        <p:spPr>
          <a:xfrm>
            <a:off x="6286500" y="1352550"/>
            <a:ext cx="2514600" cy="3829050"/>
          </a:xfrm>
          <a:prstGeom prst="roundRect">
            <a:avLst>
              <a:gd name="adj" fmla="val 568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92C9E6B-DD53-4507-912F-2DA46DA80D6E}"/>
              </a:ext>
            </a:extLst>
          </p:cNvPr>
          <p:cNvSpPr>
            <a:spLocks noGrp="1"/>
          </p:cNvSpPr>
          <p:nvPr/>
        </p:nvSpPr>
        <p:spPr>
          <a:xfrm>
            <a:off x="6286500" y="1352550"/>
            <a:ext cx="2514600" cy="952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7B1242-57DB-4BB5-A2D7-3EDFE22CDE7A}"/>
              </a:ext>
            </a:extLst>
          </p:cNvPr>
          <p:cNvSpPr>
            <a:spLocks noGrp="1"/>
          </p:cNvSpPr>
          <p:nvPr/>
        </p:nvSpPr>
        <p:spPr>
          <a:xfrm>
            <a:off x="6457950" y="1600200"/>
            <a:ext cx="2171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RQ3｜理论 × 实践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FD6246D-187C-4F7A-8688-DA3E392E61B6}"/>
              </a:ext>
            </a:extLst>
          </p:cNvPr>
          <p:cNvSpPr>
            <a:spLocks noGrp="1"/>
          </p:cNvSpPr>
          <p:nvPr/>
        </p:nvSpPr>
        <p:spPr>
          <a:xfrm>
            <a:off x="6457950" y="2133600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已有证据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B2A8053-2E85-419E-87E7-05067270DD21}"/>
              </a:ext>
            </a:extLst>
          </p:cNvPr>
          <p:cNvSpPr>
            <a:spLocks noGrp="1"/>
          </p:cNvSpPr>
          <p:nvPr/>
        </p:nvSpPr>
        <p:spPr>
          <a:xfrm>
            <a:off x="6457950" y="2476500"/>
            <a:ext cx="21717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KernelSHAP efficiency 约束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已通过数值检查</a:t>
            </a:r>
          </a:p>
          <a:p>
            <a:pPr algn="l">
              <a:def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未形成全面质量优势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3D00FD86-A9CA-41C9-8702-B38F0DE2D3EF}"/>
              </a:ext>
            </a:extLst>
          </p:cNvPr>
          <p:cNvSpPr>
            <a:spLocks noGrp="1"/>
          </p:cNvSpPr>
          <p:nvPr/>
        </p:nvSpPr>
        <p:spPr>
          <a:xfrm>
            <a:off x="6457950" y="3943350"/>
            <a:ext cx="2171700" cy="895350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1430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仍需预算扫描</a:t>
            </a:r>
          </a:p>
          <a:p>
            <a:pPr algn="ctr">
              <a:def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与梯度类交叉比较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D476637-A621-4D10-A7DE-E7C014E5FA4A}"/>
              </a:ext>
            </a:extLst>
          </p:cNvPr>
          <p:cNvSpPr>
            <a:spLocks noGrp="1"/>
          </p:cNvSpPr>
          <p:nvPr/>
        </p:nvSpPr>
        <p:spPr>
          <a:xfrm>
            <a:off x="9163050" y="171450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4AB88539-AA19-4F6F-BFE3-8B99414FD7F6}"/>
              </a:ext>
            </a:extLst>
          </p:cNvPr>
          <p:cNvSpPr>
            <a:spLocks noGrp="1"/>
          </p:cNvSpPr>
          <p:nvPr/>
        </p:nvSpPr>
        <p:spPr>
          <a:xfrm>
            <a:off x="10172700" y="2400300"/>
            <a:ext cx="361950" cy="361950"/>
          </a:xfrm>
          <a:prstGeom prst="ellipse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ADCD75-8BA2-4AFF-9C10-E4CD12EDC3F8}"/>
              </a:ext>
            </a:extLst>
          </p:cNvPr>
          <p:cNvSpPr>
            <a:spLocks noGrp="1"/>
          </p:cNvSpPr>
          <p:nvPr/>
        </p:nvSpPr>
        <p:spPr>
          <a:xfrm>
            <a:off x="10172700" y="240030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1461C47-9D90-49EF-B8A6-C637DB3B2DF4}"/>
              </a:ext>
            </a:extLst>
          </p:cNvPr>
          <p:cNvSpPr>
            <a:spLocks noGrp="1"/>
          </p:cNvSpPr>
          <p:nvPr/>
        </p:nvSpPr>
        <p:spPr>
          <a:xfrm>
            <a:off x="9353550" y="28765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RQ1：部分回答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EBF77FD-5910-4713-A5E7-87FE65E8CD5B}"/>
              </a:ext>
            </a:extLst>
          </p:cNvPr>
          <p:cNvSpPr>
            <a:spLocks noGrp="1"/>
          </p:cNvSpPr>
          <p:nvPr/>
        </p:nvSpPr>
        <p:spPr>
          <a:xfrm>
            <a:off x="10182225" y="35623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DCE6E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61C307-72B9-490E-A431-8A5105C1774A}"/>
              </a:ext>
            </a:extLst>
          </p:cNvPr>
          <p:cNvSpPr>
            <a:spLocks noGrp="1"/>
          </p:cNvSpPr>
          <p:nvPr/>
        </p:nvSpPr>
        <p:spPr>
          <a:xfrm>
            <a:off x="9353550" y="3981450"/>
            <a:ext cx="19621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RQ2 / RQ3：待验证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BEC8C4F-AB88-4140-B10E-D3ADED0E6108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820400" cy="609600"/>
          </a:xfrm>
          <a:prstGeom prst="roundRect">
            <a:avLst>
              <a:gd name="adj" fmla="val 18750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 已确认差异存在。M4 将验证这些差异是否由参数、数据域或方法机制造成。</a:t>
            </a:r>
          </a:p>
        </p:txBody>
      </p:sp>
    </p:spTree>
    <p:extLst>
      <p:ext uri="{BB962C8B-B14F-4D97-AF65-F5344CB8AC3E}">
        <p14:creationId xmlns:p14="http://schemas.microsoft.com/office/powerpoint/2010/main" val="1284181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209A554C-0B24-4380-9FB7-E8F81ADE49D4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02F96F-C569-4E24-ACF5-C548EE36DAD1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下一阶段：解释差异来源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7CF213-D837-429F-972E-218BCDFCC3AA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E705F5-73EC-4165-B1AF-EB36C8B0CD5A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F532E37B-959D-4684-8B8C-8D57D8495AA9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9038703-8574-4A76-979B-09457CE409E1}"/>
              </a:ext>
            </a:extLst>
          </p:cNvPr>
          <p:cNvSpPr>
            <a:spLocks noGrp="1"/>
          </p:cNvSpPr>
          <p:nvPr/>
        </p:nvSpPr>
        <p:spPr>
          <a:xfrm>
            <a:off x="857250" y="14287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F9ACD27-5266-42C2-B53C-9863175BC965}"/>
              </a:ext>
            </a:extLst>
          </p:cNvPr>
          <p:cNvSpPr>
            <a:spLocks noGrp="1"/>
          </p:cNvSpPr>
          <p:nvPr/>
        </p:nvSpPr>
        <p:spPr>
          <a:xfrm>
            <a:off x="1428750" y="14287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医学域定位诊断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014721-0F15-40CF-84A5-0F5E2E51FB04}"/>
              </a:ext>
            </a:extLst>
          </p:cNvPr>
          <p:cNvSpPr>
            <a:spLocks noGrp="1"/>
          </p:cNvSpPr>
          <p:nvPr/>
        </p:nvSpPr>
        <p:spPr>
          <a:xfrm>
            <a:off x="895350" y="18859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配置选择集：86 张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SLIC：50 / 100 / 200 / 300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RISE grid：4 / 7 / 10 / 14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遮蔽率：0.25 / 0.50 / 0.75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预算：256 / 512 / 1024 / 2048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6E6849-893D-4121-9E9D-57EFF71BB981}"/>
              </a:ext>
            </a:extLst>
          </p:cNvPr>
          <p:cNvSpPr>
            <a:spLocks noGrp="1"/>
          </p:cNvSpPr>
          <p:nvPr/>
        </p:nvSpPr>
        <p:spPr>
          <a:xfrm>
            <a:off x="895350" y="29718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单因素扫描，不做完整笛卡尔积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BACB0E0-C755-489F-85EC-F3704259F8AD}"/>
              </a:ext>
            </a:extLst>
          </p:cNvPr>
          <p:cNvSpPr>
            <a:spLocks noGrp="1"/>
          </p:cNvSpPr>
          <p:nvPr/>
        </p:nvSpPr>
        <p:spPr>
          <a:xfrm>
            <a:off x="6229350" y="12573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350880C-7166-4649-863F-F4EEF603E74B}"/>
              </a:ext>
            </a:extLst>
          </p:cNvPr>
          <p:cNvSpPr>
            <a:spLocks noGrp="1"/>
          </p:cNvSpPr>
          <p:nvPr/>
        </p:nvSpPr>
        <p:spPr>
          <a:xfrm>
            <a:off x="6400800" y="14287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B0963C-2116-4969-BFE3-D5A0A6460A09}"/>
              </a:ext>
            </a:extLst>
          </p:cNvPr>
          <p:cNvSpPr>
            <a:spLocks noGrp="1"/>
          </p:cNvSpPr>
          <p:nvPr/>
        </p:nvSpPr>
        <p:spPr>
          <a:xfrm>
            <a:off x="6972300" y="14287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KernelSHAP 预算扫描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AFCC801-DB47-49C3-9864-41E181434749}"/>
              </a:ext>
            </a:extLst>
          </p:cNvPr>
          <p:cNvSpPr>
            <a:spLocks noGrp="1"/>
          </p:cNvSpPr>
          <p:nvPr/>
        </p:nvSpPr>
        <p:spPr>
          <a:xfrm>
            <a:off x="6438900" y="18859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重点：ImageNet × ResNet-50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预算：256 / 512 / 1024 / 2048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检查：Spearman / Jaccard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判断稳定性收益是否值得额外计算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27DD105-BF26-4325-AC93-DD434D2DBA97}"/>
              </a:ext>
            </a:extLst>
          </p:cNvPr>
          <p:cNvSpPr>
            <a:spLocks noGrp="1"/>
          </p:cNvSpPr>
          <p:nvPr/>
        </p:nvSpPr>
        <p:spPr>
          <a:xfrm>
            <a:off x="6438900" y="29718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更高预算能否改善稳定性？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BDB483C-7EFB-48F5-8873-BCA3B3857D75}"/>
              </a:ext>
            </a:extLst>
          </p:cNvPr>
          <p:cNvSpPr>
            <a:spLocks noGrp="1"/>
          </p:cNvSpPr>
          <p:nvPr/>
        </p:nvSpPr>
        <p:spPr>
          <a:xfrm>
            <a:off x="685800" y="37338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BCDDCA9-E913-44C8-84AC-EBDD260CF3BA}"/>
              </a:ext>
            </a:extLst>
          </p:cNvPr>
          <p:cNvSpPr>
            <a:spLocks noGrp="1"/>
          </p:cNvSpPr>
          <p:nvPr/>
        </p:nvSpPr>
        <p:spPr>
          <a:xfrm>
            <a:off x="857250" y="39052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7C57808-CFA7-4DF0-AFD1-18F141FB2E5F}"/>
              </a:ext>
            </a:extLst>
          </p:cNvPr>
          <p:cNvSpPr>
            <a:spLocks noGrp="1"/>
          </p:cNvSpPr>
          <p:nvPr/>
        </p:nvSpPr>
        <p:spPr>
          <a:xfrm>
            <a:off x="1428750" y="39052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RISE 质量—成本权衡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E3161AA-F362-47F0-8329-CC13DE98A7B3}"/>
              </a:ext>
            </a:extLst>
          </p:cNvPr>
          <p:cNvSpPr>
            <a:spLocks noGrp="1"/>
          </p:cNvSpPr>
          <p:nvPr/>
        </p:nvSpPr>
        <p:spPr>
          <a:xfrm>
            <a:off x="895350" y="43624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网格：4 / 7 / 10 / 14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同步观察：忠实性、定位性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稳定性与归因时间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分析网格细化的多指标联动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E9DB7D1-C071-43CD-A13A-2DA9EE812A4C}"/>
              </a:ext>
            </a:extLst>
          </p:cNvPr>
          <p:cNvSpPr>
            <a:spLocks noGrp="1"/>
          </p:cNvSpPr>
          <p:nvPr/>
        </p:nvSpPr>
        <p:spPr>
          <a:xfrm>
            <a:off x="895350" y="54483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保持统一模型输出和预算计数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D2B94FA-4084-4097-92E3-AFC11098DF79}"/>
              </a:ext>
            </a:extLst>
          </p:cNvPr>
          <p:cNvSpPr>
            <a:spLocks noGrp="1"/>
          </p:cNvSpPr>
          <p:nvPr/>
        </p:nvSpPr>
        <p:spPr>
          <a:xfrm>
            <a:off x="6229350" y="3733800"/>
            <a:ext cx="5276850" cy="2095500"/>
          </a:xfrm>
          <a:prstGeom prst="roundRect">
            <a:avLst>
              <a:gd name="adj" fmla="val 6818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8CC4104-4428-4156-BA62-93886D3599D5}"/>
              </a:ext>
            </a:extLst>
          </p:cNvPr>
          <p:cNvSpPr>
            <a:spLocks noGrp="1"/>
          </p:cNvSpPr>
          <p:nvPr/>
        </p:nvSpPr>
        <p:spPr>
          <a:xfrm>
            <a:off x="6400800" y="3905250"/>
            <a:ext cx="457200" cy="323850"/>
          </a:xfrm>
          <a:prstGeom prst="roundRect">
            <a:avLst>
              <a:gd name="adj" fmla="val 29412"/>
            </a:avLst>
          </a:prstGeom>
          <a:solidFill>
            <a:srgbClr val="0799A9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E77A98C-D536-46BE-A392-65036F6067EF}"/>
              </a:ext>
            </a:extLst>
          </p:cNvPr>
          <p:cNvSpPr>
            <a:spLocks noGrp="1"/>
          </p:cNvSpPr>
          <p:nvPr/>
        </p:nvSpPr>
        <p:spPr>
          <a:xfrm>
            <a:off x="6972300" y="3905250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交叉比较与选做实验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79FBC9-5E93-47D1-8A31-D251F1871E12}"/>
              </a:ext>
            </a:extLst>
          </p:cNvPr>
          <p:cNvSpPr>
            <a:spLocks noGrp="1"/>
          </p:cNvSpPr>
          <p:nvPr/>
        </p:nvSpPr>
        <p:spPr>
          <a:xfrm>
            <a:off x="6438900" y="4362450"/>
            <a:ext cx="4857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IG / EG / Grad-CAM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与核心方法做同协议交叉比较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OrdShap：4 × 4 图块位置扰动</a:t>
            </a:r>
          </a:p>
          <a:p>
            <a:pPr algn="l">
              <a:def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核验二维图像包装与模型调用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19F4C59-943D-49FB-9B69-4416FE545303}"/>
              </a:ext>
            </a:extLst>
          </p:cNvPr>
          <p:cNvSpPr>
            <a:spLocks noGrp="1"/>
          </p:cNvSpPr>
          <p:nvPr/>
        </p:nvSpPr>
        <p:spPr>
          <a:xfrm>
            <a:off x="6438900" y="5448300"/>
            <a:ext cx="485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>
                <a:solidFill>
                  <a:srgbClr val="F47A24"/>
                </a:solidFill>
                <a:latin typeface="Microsoft YaHei"/>
                <a:ea typeface="Microsoft YaHei"/>
                <a:cs typeface="Microsoft YaHei"/>
              </a:rPr>
              <a:t>OrdShap 标记为探索性实验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10495893-9866-4CCE-8AD7-6C22BFBF8589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10820400" cy="381000"/>
          </a:xfrm>
          <a:prstGeom prst="roundRect">
            <a:avLst>
              <a:gd name="adj" fmla="val 25000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M4 针对 M3 已发现的问题开展定向验证，重点解释差异来源。</a:t>
            </a:r>
          </a:p>
        </p:txBody>
      </p:sp>
    </p:spTree>
    <p:extLst>
      <p:ext uri="{BB962C8B-B14F-4D97-AF65-F5344CB8AC3E}">
        <p14:creationId xmlns:p14="http://schemas.microsoft.com/office/powerpoint/2010/main" val="165942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95708A9-FAEB-4A6A-B04C-BB17DBA6C3D8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776E25B-4F2F-4D83-B152-93C6BFA959EC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从初步结果走向可复现结论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7A147B-A7BD-4A07-B778-818297D6982A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FD30B3-65FF-48AE-8940-445B28AB4A04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DBC2CEA-4A20-496A-9178-5703C0E54159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2571750" cy="2819400"/>
          </a:xfrm>
          <a:prstGeom prst="roundRect">
            <a:avLst>
              <a:gd name="adj" fmla="val 5926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B4A7CBC-E03A-42A5-8283-9501DA59929F}"/>
              </a:ext>
            </a:extLst>
          </p:cNvPr>
          <p:cNvSpPr>
            <a:spLocks noGrp="1"/>
          </p:cNvSpPr>
          <p:nvPr/>
        </p:nvSpPr>
        <p:spPr>
          <a:xfrm>
            <a:off x="876300" y="1562100"/>
            <a:ext cx="2190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M3｜已完成</a:t>
            </a:r>
          </a:p>
        </p:txBody>
      </p:sp>
      <p:sp>
        <p:nvSpPr>
          <p:cNvPr id="7" name="直接连接符 6">
            <a:extLst>
              <a:ext uri="{FF2B5EF4-FFF2-40B4-BE49-F238E27FC236}">
                <a16:creationId xmlns:a16="http://schemas.microsoft.com/office/drawing/2014/main" id="{B5F3A802-BF54-4354-AAFD-F2DCA2D98056}"/>
              </a:ext>
            </a:extLst>
          </p:cNvPr>
          <p:cNvSpPr>
            <a:spLocks noGrp="1"/>
          </p:cNvSpPr>
          <p:nvPr/>
        </p:nvSpPr>
        <p:spPr>
          <a:xfrm>
            <a:off x="876300" y="2076450"/>
            <a:ext cx="219075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376947-8BE7-4713-91A9-D9D5C6B2E14E}"/>
              </a:ext>
            </a:extLst>
          </p:cNvPr>
          <p:cNvSpPr>
            <a:spLocks noGrp="1"/>
          </p:cNvSpPr>
          <p:nvPr/>
        </p:nvSpPr>
        <p:spPr>
          <a:xfrm>
            <a:off x="895350" y="2324100"/>
            <a:ext cx="21526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统一实现</a:t>
            </a:r>
          </a:p>
          <a:p>
            <a:pPr algn="l"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默认配置初步比较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099198ED-B60B-4227-9484-F76E02F0C071}"/>
              </a:ext>
            </a:extLst>
          </p:cNvPr>
          <p:cNvSpPr>
            <a:spLocks noGrp="1"/>
          </p:cNvSpPr>
          <p:nvPr/>
        </p:nvSpPr>
        <p:spPr>
          <a:xfrm>
            <a:off x="3333750" y="2647950"/>
            <a:ext cx="2476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959EF62-8431-4DC3-9FBE-5783D775E3E1}"/>
              </a:ext>
            </a:extLst>
          </p:cNvPr>
          <p:cNvSpPr>
            <a:spLocks noGrp="1"/>
          </p:cNvSpPr>
          <p:nvPr/>
        </p:nvSpPr>
        <p:spPr>
          <a:xfrm>
            <a:off x="3581400" y="1352550"/>
            <a:ext cx="3429000" cy="2819400"/>
          </a:xfrm>
          <a:prstGeom prst="roundRect">
            <a:avLst>
              <a:gd name="adj" fmla="val 5405"/>
            </a:avLst>
          </a:prstGeom>
          <a:solidFill>
            <a:srgbClr val="1670D2"/>
          </a:solidFill>
          <a:ln w="9525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3AA407-1478-43F3-B486-7698B02067C6}"/>
              </a:ext>
            </a:extLst>
          </p:cNvPr>
          <p:cNvSpPr>
            <a:spLocks noGrp="1"/>
          </p:cNvSpPr>
          <p:nvPr/>
        </p:nvSpPr>
        <p:spPr>
          <a:xfrm>
            <a:off x="3771900" y="1562100"/>
            <a:ext cx="304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M4｜完整实验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FA541976-21FB-486D-9D75-D9BA637A3C9F}"/>
              </a:ext>
            </a:extLst>
          </p:cNvPr>
          <p:cNvSpPr>
            <a:spLocks noGrp="1"/>
          </p:cNvSpPr>
          <p:nvPr/>
        </p:nvSpPr>
        <p:spPr>
          <a:xfrm>
            <a:off x="3771900" y="2076450"/>
            <a:ext cx="3048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C828FD-BA30-49D0-ADAC-E4FE26467B14}"/>
              </a:ext>
            </a:extLst>
          </p:cNvPr>
          <p:cNvSpPr>
            <a:spLocks noGrp="1"/>
          </p:cNvSpPr>
          <p:nvPr/>
        </p:nvSpPr>
        <p:spPr>
          <a:xfrm>
            <a:off x="3790950" y="2324100"/>
            <a:ext cx="300990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参数敏感性与异常诊断</a:t>
            </a:r>
          </a:p>
          <a:p>
            <a:pPr algn="l"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梯度类交叉比较</a:t>
            </a:r>
          </a:p>
          <a:p>
            <a:pPr algn="l">
              <a:def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医学域配置冻结与最终评价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EC903DAA-57CD-43C2-B5C5-69F1D68D955A}"/>
              </a:ext>
            </a:extLst>
          </p:cNvPr>
          <p:cNvSpPr>
            <a:spLocks noGrp="1"/>
          </p:cNvSpPr>
          <p:nvPr/>
        </p:nvSpPr>
        <p:spPr>
          <a:xfrm>
            <a:off x="7086600" y="2647950"/>
            <a:ext cx="2476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CA82CEC-1155-4543-8D06-8B08A1571D62}"/>
              </a:ext>
            </a:extLst>
          </p:cNvPr>
          <p:cNvSpPr>
            <a:spLocks noGrp="1"/>
          </p:cNvSpPr>
          <p:nvPr/>
        </p:nvSpPr>
        <p:spPr>
          <a:xfrm>
            <a:off x="7334250" y="1352550"/>
            <a:ext cx="4171950" cy="2819400"/>
          </a:xfrm>
          <a:prstGeom prst="roundRect">
            <a:avLst>
              <a:gd name="adj" fmla="val 5405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EC33D9F-04BA-4966-95C1-9AFFB690EEDC}"/>
              </a:ext>
            </a:extLst>
          </p:cNvPr>
          <p:cNvSpPr>
            <a:spLocks noGrp="1"/>
          </p:cNvSpPr>
          <p:nvPr/>
        </p:nvSpPr>
        <p:spPr>
          <a:xfrm>
            <a:off x="7524750" y="1562100"/>
            <a:ext cx="3790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M5｜最终成果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AC60CC57-1A7A-45CE-8983-0C62CB6AB9C4}"/>
              </a:ext>
            </a:extLst>
          </p:cNvPr>
          <p:cNvSpPr>
            <a:spLocks noGrp="1"/>
          </p:cNvSpPr>
          <p:nvPr/>
        </p:nvSpPr>
        <p:spPr>
          <a:xfrm>
            <a:off x="7524750" y="2076450"/>
            <a:ext cx="3790950" cy="0"/>
          </a:xfrm>
          <a:prstGeom prst="line">
            <a:avLst/>
          </a:prstGeom>
          <a:noFill/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11F6E11-8423-484B-8DA3-5FDF2B705467}"/>
              </a:ext>
            </a:extLst>
          </p:cNvPr>
          <p:cNvSpPr>
            <a:spLocks noGrp="1"/>
          </p:cNvSpPr>
          <p:nvPr/>
        </p:nvSpPr>
        <p:spPr>
          <a:xfrm>
            <a:off x="7543800" y="2324100"/>
            <a:ext cx="37528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配对统计与置信区间</a:t>
            </a:r>
          </a:p>
          <a:p>
            <a:pPr algn="l"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Wilcoxon + Holm</a:t>
            </a:r>
          </a:p>
          <a:p>
            <a:pPr algn="l"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RQ1–RQ3 最终回答</a:t>
            </a:r>
          </a:p>
          <a:p>
            <a:pPr algn="l"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代码、结果与复现说明</a:t>
            </a:r>
          </a:p>
          <a:p>
            <a:pPr algn="l">
              <a:def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报告与答辩 PPT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CB2F959-1E8D-4DED-AF36-AD802AA4DA77}"/>
              </a:ext>
            </a:extLst>
          </p:cNvPr>
          <p:cNvSpPr>
            <a:spLocks noGrp="1"/>
          </p:cNvSpPr>
          <p:nvPr/>
        </p:nvSpPr>
        <p:spPr>
          <a:xfrm>
            <a:off x="685800" y="4514850"/>
            <a:ext cx="1082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配置选择与最终评价严格分离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8089D29-8073-4D61-82C6-996D9B397948}"/>
              </a:ext>
            </a:extLst>
          </p:cNvPr>
          <p:cNvSpPr>
            <a:spLocks noGrp="1"/>
          </p:cNvSpPr>
          <p:nvPr/>
        </p:nvSpPr>
        <p:spPr>
          <a:xfrm>
            <a:off x="1752600" y="4991100"/>
            <a:ext cx="2324100" cy="552450"/>
          </a:xfrm>
          <a:prstGeom prst="roundRect">
            <a:avLst>
              <a:gd name="adj" fmla="val 24138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配置选择</a:t>
            </a:r>
          </a:p>
        </p:txBody>
      </p:sp>
      <p:sp>
        <p:nvSpPr>
          <p:cNvPr id="21" name="箭头: 右 20">
            <a:extLst>
              <a:ext uri="{FF2B5EF4-FFF2-40B4-BE49-F238E27FC236}">
                <a16:creationId xmlns:a16="http://schemas.microsoft.com/office/drawing/2014/main" id="{38A93EDF-8489-4B6D-8D4F-1CD8C7363313}"/>
              </a:ext>
            </a:extLst>
          </p:cNvPr>
          <p:cNvSpPr>
            <a:spLocks noGrp="1"/>
          </p:cNvSpPr>
          <p:nvPr/>
        </p:nvSpPr>
        <p:spPr>
          <a:xfrm>
            <a:off x="4133850" y="5153025"/>
            <a:ext cx="2857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F408947-7942-444C-BE13-717AA3CFF271}"/>
              </a:ext>
            </a:extLst>
          </p:cNvPr>
          <p:cNvSpPr>
            <a:spLocks noGrp="1"/>
          </p:cNvSpPr>
          <p:nvPr/>
        </p:nvSpPr>
        <p:spPr>
          <a:xfrm>
            <a:off x="4476750" y="4991100"/>
            <a:ext cx="2324100" cy="552450"/>
          </a:xfrm>
          <a:prstGeom prst="roundRect">
            <a:avLst>
              <a:gd name="adj" fmla="val 24138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冻结配置 🔒</a:t>
            </a:r>
          </a:p>
        </p:txBody>
      </p:sp>
      <p:sp>
        <p:nvSpPr>
          <p:cNvPr id="23" name="箭头: 右 22">
            <a:extLst>
              <a:ext uri="{FF2B5EF4-FFF2-40B4-BE49-F238E27FC236}">
                <a16:creationId xmlns:a16="http://schemas.microsoft.com/office/drawing/2014/main" id="{867E9BE7-C38D-434E-ADBA-CEE6783772FF}"/>
              </a:ext>
            </a:extLst>
          </p:cNvPr>
          <p:cNvSpPr>
            <a:spLocks noGrp="1"/>
          </p:cNvSpPr>
          <p:nvPr/>
        </p:nvSpPr>
        <p:spPr>
          <a:xfrm>
            <a:off x="6858000" y="5153025"/>
            <a:ext cx="285750" cy="209550"/>
          </a:xfrm>
          <a:prstGeom prst="rightArrow">
            <a:avLst/>
          </a:prstGeom>
          <a:solidFill>
            <a:srgbClr val="1670D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DE44D50A-A23A-4B0A-99D6-AD050386CD11}"/>
              </a:ext>
            </a:extLst>
          </p:cNvPr>
          <p:cNvSpPr>
            <a:spLocks noGrp="1"/>
          </p:cNvSpPr>
          <p:nvPr/>
        </p:nvSpPr>
        <p:spPr>
          <a:xfrm>
            <a:off x="7200900" y="4991100"/>
            <a:ext cx="2324100" cy="552450"/>
          </a:xfrm>
          <a:prstGeom prst="roundRect">
            <a:avLst>
              <a:gd name="adj" fmla="val 24138"/>
            </a:avLst>
          </a:prstGeom>
          <a:solidFill>
            <a:srgbClr val="EAF3FB"/>
          </a:solidFill>
          <a:ln w="9525">
            <a:solidFill>
              <a:srgbClr val="B8D4E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最终评价一次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A05121BA-8E8E-4726-A66C-96F01C98B291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419100"/>
          </a:xfrm>
          <a:prstGeom prst="roundRect">
            <a:avLst>
              <a:gd name="adj" fmla="val 22727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冻结配置后再进入最终评价，避免根据测试结果反复调参。</a:t>
            </a:r>
          </a:p>
        </p:txBody>
      </p:sp>
    </p:spTree>
    <p:extLst>
      <p:ext uri="{BB962C8B-B14F-4D97-AF65-F5344CB8AC3E}">
        <p14:creationId xmlns:p14="http://schemas.microsoft.com/office/powerpoint/2010/main" val="872356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6AAC4375-F487-4D19-8CA0-198844BE6F1B}"/>
              </a:ext>
            </a:extLst>
          </p:cNvPr>
          <p:cNvSpPr>
            <a:spLocks noGrp="1"/>
          </p:cNvSpPr>
          <p:nvPr/>
        </p:nvSpPr>
        <p:spPr>
          <a:xfrm>
            <a:off x="685800" y="428625"/>
            <a:ext cx="57150" cy="381000"/>
          </a:xfrm>
          <a:prstGeom prst="rect">
            <a:avLst/>
          </a:prstGeom>
          <a:solidFill>
            <a:srgbClr val="10B7C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A5F8F04-9B5B-4009-B553-73ED16991E03}"/>
              </a:ext>
            </a:extLst>
          </p:cNvPr>
          <p:cNvSpPr>
            <a:spLocks noGrp="1"/>
          </p:cNvSpPr>
          <p:nvPr/>
        </p:nvSpPr>
        <p:spPr>
          <a:xfrm>
            <a:off x="876300" y="371475"/>
            <a:ext cx="857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模块负责制与交叉复核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2F3D36F-8BD5-4BE8-898C-448CDA42B0A5}"/>
              </a:ext>
            </a:extLst>
          </p:cNvPr>
          <p:cNvSpPr>
            <a:spLocks noGrp="1"/>
          </p:cNvSpPr>
          <p:nvPr/>
        </p:nvSpPr>
        <p:spPr>
          <a:xfrm>
            <a:off x="9525000" y="409575"/>
            <a:ext cx="1295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1758B"/>
                </a:solidFill>
                <a:latin typeface="Microsoft YaHei"/>
                <a:ea typeface="Microsoft YaHei"/>
                <a:cs typeface="Microsoft YaHei"/>
              </a:rPr>
              <a:t>M3 阶段汇报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0FF671-B42B-4A9B-A321-AD3CB0953BF9}"/>
              </a:ext>
            </a:extLst>
          </p:cNvPr>
          <p:cNvSpPr>
            <a:spLocks noGrp="1"/>
          </p:cNvSpPr>
          <p:nvPr/>
        </p:nvSpPr>
        <p:spPr>
          <a:xfrm>
            <a:off x="10877550" y="381000"/>
            <a:ext cx="6286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r">
              <a:def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2939E9FE-5147-4C19-905A-E865BA533E78}"/>
              </a:ext>
            </a:extLst>
          </p:cNvPr>
          <p:cNvSpPr>
            <a:spLocks noGrp="1"/>
          </p:cNvSpPr>
          <p:nvPr/>
        </p:nvSpPr>
        <p:spPr>
          <a:xfrm>
            <a:off x="495300" y="1219200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A11B0FB0-B1F1-4D5B-A13C-36E2FD117DC8}"/>
              </a:ext>
            </a:extLst>
          </p:cNvPr>
          <p:cNvSpPr>
            <a:spLocks noGrp="1"/>
          </p:cNvSpPr>
          <p:nvPr/>
        </p:nvSpPr>
        <p:spPr>
          <a:xfrm>
            <a:off x="495300" y="1219200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081D3A"/>
          </a:solidFill>
          <a:ln w="0">
            <a:solidFill>
              <a:srgbClr val="081D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7501B2-103B-48FE-B156-F333EC78FFF6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杜孟泽｜数据模块 R1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B1CD914-E492-47A9-943C-F815F0AB1C35}"/>
              </a:ext>
            </a:extLst>
          </p:cNvPr>
          <p:cNvSpPr>
            <a:spLocks noGrp="1"/>
          </p:cNvSpPr>
          <p:nvPr/>
        </p:nvSpPr>
        <p:spPr>
          <a:xfrm>
            <a:off x="666750" y="1905000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数据获取与合规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数据划分、预处理与 EDA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SLIC 与定位 mask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C47CC45-9DAC-4985-968E-944B35DE07B1}"/>
              </a:ext>
            </a:extLst>
          </p:cNvPr>
          <p:cNvSpPr>
            <a:spLocks noGrp="1"/>
          </p:cNvSpPr>
          <p:nvPr/>
        </p:nvSpPr>
        <p:spPr>
          <a:xfrm>
            <a:off x="2933700" y="25908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81D3A"/>
                </a:solidFill>
                <a:latin typeface="Microsoft YaHei"/>
                <a:ea typeface="Microsoft YaHei"/>
                <a:cs typeface="Microsoft YaHei"/>
              </a:rPr>
              <a:t>复核 R2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51994EB-E014-4D4B-8D90-D1CBA2E07F71}"/>
              </a:ext>
            </a:extLst>
          </p:cNvPr>
          <p:cNvSpPr>
            <a:spLocks noGrp="1"/>
          </p:cNvSpPr>
          <p:nvPr/>
        </p:nvSpPr>
        <p:spPr>
          <a:xfrm>
            <a:off x="4314825" y="1219200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8407945-9534-4A7F-99B4-A3A5A7E23541}"/>
              </a:ext>
            </a:extLst>
          </p:cNvPr>
          <p:cNvSpPr>
            <a:spLocks noGrp="1"/>
          </p:cNvSpPr>
          <p:nvPr/>
        </p:nvSpPr>
        <p:spPr>
          <a:xfrm>
            <a:off x="4314825" y="1219200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0">
            <a:solidFill>
              <a:srgbClr val="002FA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159577-73E8-40E0-923A-73579A32D9D4}"/>
              </a:ext>
            </a:extLst>
          </p:cNvPr>
          <p:cNvSpPr>
            <a:spLocks noGrp="1"/>
          </p:cNvSpPr>
          <p:nvPr/>
        </p:nvSpPr>
        <p:spPr>
          <a:xfrm>
            <a:off x="4486275" y="142875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张泰瑜｜模型模块 R2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2CF39D-584E-4AD3-BD48-1DBA5948C2BF}"/>
              </a:ext>
            </a:extLst>
          </p:cNvPr>
          <p:cNvSpPr>
            <a:spLocks noGrp="1"/>
          </p:cNvSpPr>
          <p:nvPr/>
        </p:nvSpPr>
        <p:spPr>
          <a:xfrm>
            <a:off x="4486275" y="1905000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ResNet-50 / VGG13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统一 value function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前向计数、缓存与 batch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CBEDE0B-8BC2-453A-8F3D-5BA6C3428FC0}"/>
              </a:ext>
            </a:extLst>
          </p:cNvPr>
          <p:cNvSpPr>
            <a:spLocks noGrp="1"/>
          </p:cNvSpPr>
          <p:nvPr/>
        </p:nvSpPr>
        <p:spPr>
          <a:xfrm>
            <a:off x="6753225" y="25908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02FA7"/>
                </a:solidFill>
                <a:latin typeface="Microsoft YaHei"/>
                <a:ea typeface="Microsoft YaHei"/>
                <a:cs typeface="Microsoft YaHei"/>
              </a:rPr>
              <a:t>复核 R3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964DD7B-D237-4BB2-8CF3-CF29EA03EB58}"/>
              </a:ext>
            </a:extLst>
          </p:cNvPr>
          <p:cNvSpPr>
            <a:spLocks noGrp="1"/>
          </p:cNvSpPr>
          <p:nvPr/>
        </p:nvSpPr>
        <p:spPr>
          <a:xfrm>
            <a:off x="8134350" y="1219200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D1900E6-AD6C-40E8-A6DF-60DBE6A3F167}"/>
              </a:ext>
            </a:extLst>
          </p:cNvPr>
          <p:cNvSpPr>
            <a:spLocks noGrp="1"/>
          </p:cNvSpPr>
          <p:nvPr/>
        </p:nvSpPr>
        <p:spPr>
          <a:xfrm>
            <a:off x="8134350" y="1219200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1670D2"/>
          </a:solidFill>
          <a:ln w="0">
            <a:solidFill>
              <a:srgbClr val="1670D2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5BDFE2-438C-4BB7-AC52-29FE565AF182}"/>
              </a:ext>
            </a:extLst>
          </p:cNvPr>
          <p:cNvSpPr>
            <a:spLocks noGrp="1"/>
          </p:cNvSpPr>
          <p:nvPr/>
        </p:nvSpPr>
        <p:spPr>
          <a:xfrm>
            <a:off x="8305800" y="142875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邹研泽｜方法模块 R3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FD078A-D1AA-4656-9B4C-F0A89A832C9D}"/>
              </a:ext>
            </a:extLst>
          </p:cNvPr>
          <p:cNvSpPr>
            <a:spLocks noGrp="1"/>
          </p:cNvSpPr>
          <p:nvPr/>
        </p:nvSpPr>
        <p:spPr>
          <a:xfrm>
            <a:off x="8305800" y="1905000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Ablation / LIME / RISE / KernelSHAP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后续梯度基线与交互分析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766824F-ABF9-4FE8-A472-FC3476EE56A6}"/>
              </a:ext>
            </a:extLst>
          </p:cNvPr>
          <p:cNvSpPr>
            <a:spLocks noGrp="1"/>
          </p:cNvSpPr>
          <p:nvPr/>
        </p:nvSpPr>
        <p:spPr>
          <a:xfrm>
            <a:off x="10572750" y="25908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670D2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670D2"/>
                </a:solidFill>
                <a:latin typeface="Microsoft YaHei"/>
                <a:ea typeface="Microsoft YaHei"/>
                <a:cs typeface="Microsoft YaHei"/>
              </a:rPr>
              <a:t>复核 R4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6F26989-3FEA-4FE9-90C8-45302D1B5119}"/>
              </a:ext>
            </a:extLst>
          </p:cNvPr>
          <p:cNvSpPr>
            <a:spLocks noGrp="1"/>
          </p:cNvSpPr>
          <p:nvPr/>
        </p:nvSpPr>
        <p:spPr>
          <a:xfrm>
            <a:off x="2400300" y="3333750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CC985658-7757-498B-884E-0F2EFDA921AE}"/>
              </a:ext>
            </a:extLst>
          </p:cNvPr>
          <p:cNvSpPr>
            <a:spLocks noGrp="1"/>
          </p:cNvSpPr>
          <p:nvPr/>
        </p:nvSpPr>
        <p:spPr>
          <a:xfrm>
            <a:off x="2400300" y="3333750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0799A9"/>
          </a:solidFill>
          <a:ln w="0">
            <a:solidFill>
              <a:srgbClr val="0799A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91223F8-D9FE-48AD-BB4F-7FC7FAE69F67}"/>
              </a:ext>
            </a:extLst>
          </p:cNvPr>
          <p:cNvSpPr>
            <a:spLocks noGrp="1"/>
          </p:cNvSpPr>
          <p:nvPr/>
        </p:nvSpPr>
        <p:spPr>
          <a:xfrm>
            <a:off x="2571750" y="354330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陈纪仰｜实验模块 R4 / 组长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FA948A2-77EE-4150-A2B3-34F1777403C3}"/>
              </a:ext>
            </a:extLst>
          </p:cNvPr>
          <p:cNvSpPr>
            <a:spLocks noGrp="1"/>
          </p:cNvSpPr>
          <p:nvPr/>
        </p:nvSpPr>
        <p:spPr>
          <a:xfrm>
            <a:off x="2571750" y="4019550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评价指标与实验驱动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预算对齐、断点恢复与实验审计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项目协调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098997F-7D21-4ED0-BB79-B1427947295F}"/>
              </a:ext>
            </a:extLst>
          </p:cNvPr>
          <p:cNvSpPr>
            <a:spLocks noGrp="1"/>
          </p:cNvSpPr>
          <p:nvPr/>
        </p:nvSpPr>
        <p:spPr>
          <a:xfrm>
            <a:off x="4838700" y="470535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799A9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复核 R5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6D8A430-98C4-4584-8CFE-DFB548BB7774}"/>
              </a:ext>
            </a:extLst>
          </p:cNvPr>
          <p:cNvSpPr>
            <a:spLocks noGrp="1"/>
          </p:cNvSpPr>
          <p:nvPr/>
        </p:nvSpPr>
        <p:spPr>
          <a:xfrm>
            <a:off x="6229350" y="3333750"/>
            <a:ext cx="3562350" cy="1752600"/>
          </a:xfrm>
          <a:prstGeom prst="roundRect">
            <a:avLst>
              <a:gd name="adj" fmla="val 8152"/>
            </a:avLst>
          </a:prstGeom>
          <a:solidFill>
            <a:srgbClr val="F6FAFD"/>
          </a:solidFill>
          <a:ln w="9525">
            <a:solidFill>
              <a:srgbClr val="B8D4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CBE938AF-0CAF-4C4A-B458-E3B8B39B48B1}"/>
              </a:ext>
            </a:extLst>
          </p:cNvPr>
          <p:cNvSpPr>
            <a:spLocks noGrp="1"/>
          </p:cNvSpPr>
          <p:nvPr/>
        </p:nvSpPr>
        <p:spPr>
          <a:xfrm>
            <a:off x="6229350" y="3333750"/>
            <a:ext cx="3562350" cy="95250"/>
          </a:xfrm>
          <a:prstGeom prst="roundRect">
            <a:avLst>
              <a:gd name="adj" fmla="val 50000"/>
            </a:avLst>
          </a:prstGeom>
          <a:solidFill>
            <a:srgbClr val="10B7C5"/>
          </a:solidFill>
          <a:ln w="0">
            <a:solidFill>
              <a:srgbClr val="10B7C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5CE1EDD-3507-496C-BB09-8352370F0C2F}"/>
              </a:ext>
            </a:extLst>
          </p:cNvPr>
          <p:cNvSpPr>
            <a:spLocks noGrp="1"/>
          </p:cNvSpPr>
          <p:nvPr/>
        </p:nvSpPr>
        <p:spPr>
          <a:xfrm>
            <a:off x="6400800" y="3543300"/>
            <a:ext cx="32194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l">
              <a:defRPr sz="150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rPr>
              <a:t>朱炳政｜分析与文档 R5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4A67F10-B48E-4CF5-8AC3-5036C5917657}"/>
              </a:ext>
            </a:extLst>
          </p:cNvPr>
          <p:cNvSpPr>
            <a:spLocks noGrp="1"/>
          </p:cNvSpPr>
          <p:nvPr/>
        </p:nvSpPr>
        <p:spPr>
          <a:xfrm>
            <a:off x="6400800" y="4019550"/>
            <a:ext cx="32194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t">
            <a:noAutofit/>
          </a:bodyPr>
          <a:lstStyle/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配对统计与数据可视化</a:t>
            </a:r>
          </a:p>
          <a:p>
            <a:pPr algn="l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阶段报告、最终报告与答辩材料</a:t>
            </a: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9BEFB05-BC8A-4223-B177-BD9A7EDEBC99}"/>
              </a:ext>
            </a:extLst>
          </p:cNvPr>
          <p:cNvSpPr>
            <a:spLocks noGrp="1"/>
          </p:cNvSpPr>
          <p:nvPr/>
        </p:nvSpPr>
        <p:spPr>
          <a:xfrm>
            <a:off x="8667750" y="470535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10B7C5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95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0" b="1">
                <a:solidFill>
                  <a:srgbClr val="10B7C5"/>
                </a:solidFill>
                <a:latin typeface="Microsoft YaHei"/>
                <a:ea typeface="Microsoft YaHei"/>
                <a:cs typeface="Microsoft YaHei"/>
              </a:rPr>
              <a:t>复核 R1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6EE59852-C5B6-4C43-A64D-830462D411E0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438150"/>
          </a:xfrm>
          <a:prstGeom prst="roundRect">
            <a:avLst>
              <a:gd name="adj" fmla="val 21739"/>
            </a:avLst>
          </a:prstGeom>
          <a:solidFill>
            <a:srgbClr val="081D3A"/>
          </a:solidFill>
          <a:ln w="9525">
            <a:solidFill>
              <a:srgbClr val="081D3A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 已完成四种核心方法的统一实现和第一轮完整比较。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707A8C7-B95F-460A-8EF2-7B8C69B98D46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108204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4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0799A9"/>
                </a:solidFill>
                <a:latin typeface="Microsoft YaHei"/>
                <a:ea typeface="Microsoft YaHei"/>
                <a:cs typeface="Microsoft YaHei"/>
              </a:rPr>
              <a:t>M4 将解释差异来源，并验证结论是否随参数、数据域和方法类别保持。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714CBBE-C449-4E57-8F38-3540E939164F}"/>
              </a:ext>
            </a:extLst>
          </p:cNvPr>
          <p:cNvSpPr>
            <a:spLocks noGrp="1"/>
          </p:cNvSpPr>
          <p:nvPr/>
        </p:nvSpPr>
        <p:spPr>
          <a:xfrm>
            <a:off x="9886950" y="6324600"/>
            <a:ext cx="1619250" cy="266700"/>
          </a:xfrm>
          <a:prstGeom prst="roundRect">
            <a:avLst>
              <a:gd name="adj" fmla="val 50000"/>
            </a:avLst>
          </a:prstGeom>
          <a:solidFill>
            <a:srgbClr val="002FA7"/>
          </a:solidFill>
          <a:ln w="9525">
            <a:solidFill>
              <a:srgbClr val="002FA7"/>
            </a:solidFill>
            <a:prstDash val="solid"/>
          </a:ln>
        </p:spPr>
        <p:txBody>
          <a:bodyPr wrap="square" lIns="38100" tIns="9525" rIns="38100" bIns="9525" anchor="ctr">
            <a:no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M3 COMPLETE</a:t>
            </a:r>
          </a:p>
        </p:txBody>
      </p:sp>
    </p:spTree>
    <p:extLst>
      <p:ext uri="{BB962C8B-B14F-4D97-AF65-F5344CB8AC3E}">
        <p14:creationId xmlns:p14="http://schemas.microsoft.com/office/powerpoint/2010/main" val="18239753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985</Words>
  <Application>Microsoft Office PowerPoint</Application>
  <DocSecurity>0</DocSecurity>
  <PresentationFormat>宽屏</PresentationFormat>
  <Paragraphs>383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emma1220kunby@126.com</cp:lastModifiedBy>
  <cp:revision>2</cp:revision>
  <dcterms:created xsi:type="dcterms:W3CDTF">2026-09-20T03:41:41Z</dcterms:created>
  <dcterms:modified xsi:type="dcterms:W3CDTF">2026-09-22T04:20:11Z</dcterms:modified>
</cp:coreProperties>
</file>