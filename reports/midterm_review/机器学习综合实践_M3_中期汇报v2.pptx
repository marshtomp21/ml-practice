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59" r:id="rId5"/>
    <p:sldId id="260" r:id="rId6"/>
    <p:sldId id="261" r:id="rId7"/>
    <p:sldId id="262" r:id="rId8"/>
    <p:sldId id="27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  <a:srgbClr val="0799A9"/>
    <a:srgbClr val="167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封面延续 M1 的克莱因蓝瑞士风。右侧热图为生成的教学示意，不代表真实实验结果或方法排名。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 完成默认设置下的统一比较。参数扫描、梯度类交叉比较和最终统计仍属于后续工作。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 完成问题与方案，M2 打通流程，M3 完成 KernelSHAP 接入及第一轮四方法统一比较。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四种方法并列进入统一框架，并非连续执行。统一记录实际前向次数与归因耗时。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ImageNet 固定 10 张，CHNCXR 固定 10 张。每个数据域 320 条实验记录完整。KernelSHAP 的 200 次运行设计矩阵全部满秩。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本页只总结互补优势，不合并指标、不计算综合得分，也不形成最终排名。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未提供四个组合的绝对 AUC 数值，因此本页只呈现材料明确支持的领先关系，不绘制虚构坐标。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RISE 的跨种子 Spearman 为 0.9920–0.9943，Top-20% Jaccard 为 0.8873–0.9230。异常组合仍需预算扫描验证。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的实际前向次数随区域数变化。LIME、RISE 和 KernelSHAP 的默认预算均为 1024，但 RISE 仍有更高的遮蔽生成与处理成本。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CHNCXR 的定位异常是 M4 的优先诊断对象。病灶面积、粒度、基线和模型真实依赖均可能影响结果。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 获得阶段性回答。RQ2 仍需参数扫描，RQ3 仍需预算扫描与梯度类交叉比较。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医学域定位诊断、KernelSHAP 预算扫描、RISE 权衡分析为优先任务。OrdShap 为探索性选做实验。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将完成配对统计、置信区间、显著性检验、最终研究问题回答和可复现交付。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团队采用模块负责制与相邻模块交叉复核。分工来自项目 README，阶段结论来自 M3 中期检查材料。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D73851-6774-4962-8E63-1DDE2F77B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233A3F-79FB-45E1-A4E2-6FB7F88FC4AE}"/>
              </a:ext>
            </a:extLst>
          </p:cNvPr>
          <p:cNvSpPr>
            <a:spLocks noGrp="1"/>
          </p:cNvSpPr>
          <p:nvPr/>
        </p:nvSpPr>
        <p:spPr>
          <a:xfrm>
            <a:off x="6591300" y="26894"/>
            <a:ext cx="5600700" cy="685800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C87EDA-29A8-4E04-A42D-10AE5C60609F}"/>
              </a:ext>
            </a:extLst>
          </p:cNvPr>
          <p:cNvSpPr>
            <a:spLocks noGrp="1"/>
          </p:cNvSpPr>
          <p:nvPr/>
        </p:nvSpPr>
        <p:spPr>
          <a:xfrm>
            <a:off x="685800" y="1118851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机器学习综合实践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FE9A34-8E3F-4411-8A82-20E217F1C366}"/>
              </a:ext>
            </a:extLst>
          </p:cNvPr>
          <p:cNvSpPr>
            <a:spLocks noGrp="1"/>
          </p:cNvSpPr>
          <p:nvPr/>
        </p:nvSpPr>
        <p:spPr>
          <a:xfrm>
            <a:off x="685800" y="1747501"/>
            <a:ext cx="6286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图像分类特征归因方法的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质量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900" b="1" dirty="0" err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效率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664206-2D09-456E-BD42-C7547738D895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实验实现与初步比较</a:t>
            </a:r>
            <a:endParaRPr sz="1900" b="0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EEAEC27-3803-4AC0-9416-348D70AF472B}"/>
              </a:ext>
            </a:extLst>
          </p:cNvPr>
          <p:cNvSpPr>
            <a:spLocks noGrp="1"/>
          </p:cNvSpPr>
          <p:nvPr/>
        </p:nvSpPr>
        <p:spPr>
          <a:xfrm>
            <a:off x="692239" y="4317104"/>
            <a:ext cx="58102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E59CE-88D6-4D9A-8585-0C5C428D87E3}"/>
              </a:ext>
            </a:extLst>
          </p:cNvPr>
          <p:cNvSpPr>
            <a:spLocks noGrp="1"/>
          </p:cNvSpPr>
          <p:nvPr/>
        </p:nvSpPr>
        <p:spPr>
          <a:xfrm>
            <a:off x="692239" y="4679054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G01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小组成员：陈纪仰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朱炳政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杜孟泽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张泰瑜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邹研泽</a:t>
            </a:r>
            <a:endParaRPr sz="1400" b="0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86B60-E1B1-4DB2-851D-3F8AD23B9E8E}"/>
              </a:ext>
            </a:extLst>
          </p:cNvPr>
          <p:cNvSpPr>
            <a:spLocks noGrp="1"/>
          </p:cNvSpPr>
          <p:nvPr/>
        </p:nvSpPr>
        <p:spPr>
          <a:xfrm>
            <a:off x="692239" y="5155041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日期：2026/9/20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62800" y="986842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1F7F3EA-932E-4305-A387-17EFEB176110}"/>
              </a:ext>
            </a:extLst>
          </p:cNvPr>
          <p:cNvSpPr>
            <a:spLocks noGrp="1"/>
          </p:cNvSpPr>
          <p:nvPr/>
        </p:nvSpPr>
        <p:spPr>
          <a:xfrm>
            <a:off x="7650248" y="5354393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同一图像，不同解释方法</a:t>
            </a:r>
            <a:endParaRPr sz="15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998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C6EFD18-9B6C-4390-8C6A-E3735D139176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659C9E-B649-4515-B6EF-DC0991FE794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从实验设计进入统一比较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234558-A616-49C2-963D-16D8B3989F0F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0F4C54-B528-492A-9128-C6AB64E91AD7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29DB09-2E2F-4CD6-8F2B-3C85340B6462}"/>
              </a:ext>
            </a:extLst>
          </p:cNvPr>
          <p:cNvSpPr>
            <a:spLocks noGrp="1"/>
          </p:cNvSpPr>
          <p:nvPr/>
        </p:nvSpPr>
        <p:spPr>
          <a:xfrm>
            <a:off x="857250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CA979D-A5EC-4F74-890E-0ACAC487E69B}"/>
              </a:ext>
            </a:extLst>
          </p:cNvPr>
          <p:cNvSpPr>
            <a:spLocks noGrp="1"/>
          </p:cNvSpPr>
          <p:nvPr/>
        </p:nvSpPr>
        <p:spPr>
          <a:xfrm>
            <a:off x="1028700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B70FF0-2713-4DA9-889B-CD5BC1F616F1}"/>
              </a:ext>
            </a:extLst>
          </p:cNvPr>
          <p:cNvSpPr>
            <a:spLocks noGrp="1"/>
          </p:cNvSpPr>
          <p:nvPr/>
        </p:nvSpPr>
        <p:spPr>
          <a:xfrm>
            <a:off x="1028700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 × 效率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742869-25C2-457D-A19B-BCFB4830646B}"/>
              </a:ext>
            </a:extLst>
          </p:cNvPr>
          <p:cNvSpPr>
            <a:spLocks noGrp="1"/>
          </p:cNvSpPr>
          <p:nvPr/>
        </p:nvSpPr>
        <p:spPr>
          <a:xfrm>
            <a:off x="3212475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8C74DE-53C0-4552-93C1-1F0AD05C8B7E}"/>
              </a:ext>
            </a:extLst>
          </p:cNvPr>
          <p:cNvSpPr>
            <a:spLocks noGrp="1"/>
          </p:cNvSpPr>
          <p:nvPr/>
        </p:nvSpPr>
        <p:spPr>
          <a:xfrm>
            <a:off x="3383925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E424D2-7E49-4890-B49A-086D626E3671}"/>
              </a:ext>
            </a:extLst>
          </p:cNvPr>
          <p:cNvSpPr>
            <a:spLocks noGrp="1"/>
          </p:cNvSpPr>
          <p:nvPr/>
        </p:nvSpPr>
        <p:spPr>
          <a:xfrm>
            <a:off x="3383925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参数敏感性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3C9F858-04C3-4304-84CA-5ECDBDA8D29E}"/>
              </a:ext>
            </a:extLst>
          </p:cNvPr>
          <p:cNvSpPr>
            <a:spLocks noGrp="1"/>
          </p:cNvSpPr>
          <p:nvPr/>
        </p:nvSpPr>
        <p:spPr>
          <a:xfrm>
            <a:off x="5567700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rgbClr val="0799A9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8C5026-623A-4727-A97B-8F8CBF273BDC}"/>
              </a:ext>
            </a:extLst>
          </p:cNvPr>
          <p:cNvSpPr>
            <a:spLocks noGrp="1"/>
          </p:cNvSpPr>
          <p:nvPr/>
        </p:nvSpPr>
        <p:spPr>
          <a:xfrm>
            <a:off x="5739150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1E62CD-6B88-4960-A8AD-8E50ADED595E}"/>
              </a:ext>
            </a:extLst>
          </p:cNvPr>
          <p:cNvSpPr>
            <a:spLocks noGrp="1"/>
          </p:cNvSpPr>
          <p:nvPr/>
        </p:nvSpPr>
        <p:spPr>
          <a:xfrm>
            <a:off x="5739150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 × 实践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04F3608-281E-4ECD-A4DF-E6D7907591AF}"/>
              </a:ext>
            </a:extLst>
          </p:cNvPr>
          <p:cNvSpPr>
            <a:spLocks noGrp="1"/>
          </p:cNvSpPr>
          <p:nvPr/>
        </p:nvSpPr>
        <p:spPr>
          <a:xfrm>
            <a:off x="9372600" y="1432113"/>
            <a:ext cx="2133600" cy="685800"/>
          </a:xfrm>
          <a:prstGeom prst="roundRect">
            <a:avLst>
              <a:gd name="adj" fmla="val 2222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42793D-5B25-4F32-8503-55A13A292A02}"/>
              </a:ext>
            </a:extLst>
          </p:cNvPr>
          <p:cNvSpPr>
            <a:spLocks noGrp="1"/>
          </p:cNvSpPr>
          <p:nvPr/>
        </p:nvSpPr>
        <p:spPr>
          <a:xfrm>
            <a:off x="9372600" y="2156013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四种核心方法统一实验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B694446-B8C2-4434-ADBF-922D10CB27CC}"/>
              </a:ext>
            </a:extLst>
          </p:cNvPr>
          <p:cNvSpPr>
            <a:spLocks noGrp="1"/>
          </p:cNvSpPr>
          <p:nvPr/>
        </p:nvSpPr>
        <p:spPr>
          <a:xfrm>
            <a:off x="8025150" y="1641662"/>
            <a:ext cx="1233150" cy="304799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3720B4-A070-47ED-BDF1-91035425FC5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本阶段已完成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373A682-2F51-42C3-AB3B-211F21CE5542}"/>
              </a:ext>
            </a:extLst>
          </p:cNvPr>
          <p:cNvSpPr>
            <a:spLocks noGrp="1"/>
          </p:cNvSpPr>
          <p:nvPr/>
        </p:nvSpPr>
        <p:spPr>
          <a:xfrm>
            <a:off x="2152650" y="2724150"/>
            <a:ext cx="35052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44F161-3680-428A-AE67-17050C2FFA17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86376F-8C19-482F-B52D-B0E05B2512DC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74666D-CCE2-4F9C-BCCA-88011FF38A47}"/>
              </a:ext>
            </a:extLst>
          </p:cNvPr>
          <p:cNvSpPr>
            <a:spLocks noGrp="1"/>
          </p:cNvSpPr>
          <p:nvPr/>
        </p:nvSpPr>
        <p:spPr>
          <a:xfrm>
            <a:off x="1104900" y="30099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核心方法实现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BD3C166-327A-4A14-9CA6-E5C2EC6E35CA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185FE6-07AC-45E1-94E8-B33DC0316B0E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4D070F-4666-4AA3-97DA-4C09D1E99EBD}"/>
              </a:ext>
            </a:extLst>
          </p:cNvPr>
          <p:cNvSpPr>
            <a:spLocks noGrp="1"/>
          </p:cNvSpPr>
          <p:nvPr/>
        </p:nvSpPr>
        <p:spPr>
          <a:xfrm>
            <a:off x="3543300" y="30099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端到端实验流程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AB77B44-F36E-4C7B-B2EC-C65B38356A35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BB8689-278A-4EB5-A2CB-8756948B0FE7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868B9E-F3E6-46A7-BC20-19005BAE5B69}"/>
              </a:ext>
            </a:extLst>
          </p:cNvPr>
          <p:cNvSpPr>
            <a:spLocks noGrp="1"/>
          </p:cNvSpPr>
          <p:nvPr/>
        </p:nvSpPr>
        <p:spPr>
          <a:xfrm>
            <a:off x="1104900" y="36957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默认配置统一实验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E8F8CF6-06AE-4531-99D7-6AB151BC20CF}"/>
              </a:ext>
            </a:extLst>
          </p:cNvPr>
          <p:cNvSpPr>
            <a:spLocks noGrp="1"/>
          </p:cNvSpPr>
          <p:nvPr/>
        </p:nvSpPr>
        <p:spPr>
          <a:xfrm>
            <a:off x="3181350" y="37528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E3B22D-CEBA-4BB1-A752-60974DB2B95D}"/>
              </a:ext>
            </a:extLst>
          </p:cNvPr>
          <p:cNvSpPr>
            <a:spLocks noGrp="1"/>
          </p:cNvSpPr>
          <p:nvPr/>
        </p:nvSpPr>
        <p:spPr>
          <a:xfrm>
            <a:off x="3181350" y="3752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1EDCD0-AF88-404B-ABF6-263BC5C004D3}"/>
              </a:ext>
            </a:extLst>
          </p:cNvPr>
          <p:cNvSpPr>
            <a:spLocks noGrp="1"/>
          </p:cNvSpPr>
          <p:nvPr/>
        </p:nvSpPr>
        <p:spPr>
          <a:xfrm>
            <a:off x="3543300" y="36957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第一轮结果比较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F1EEE6-2D5B-460E-86F5-F4625AD24892}"/>
              </a:ext>
            </a:extLst>
          </p:cNvPr>
          <p:cNvSpPr>
            <a:spLocks noGrp="1"/>
          </p:cNvSpPr>
          <p:nvPr/>
        </p:nvSpPr>
        <p:spPr>
          <a:xfrm>
            <a:off x="6324600" y="2571750"/>
            <a:ext cx="518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待 M4 / M5 完成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4FBA682D-B29F-4976-884D-7A2D82E593AB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3524250" cy="0"/>
          </a:xfrm>
          <a:prstGeom prst="line">
            <a:avLst/>
          </a:prstGeom>
          <a:noFill/>
          <a:ln w="952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830CBEF-0C4F-4250-AFCF-47F97D944EF0}"/>
              </a:ext>
            </a:extLst>
          </p:cNvPr>
          <p:cNvSpPr>
            <a:spLocks noGrp="1"/>
          </p:cNvSpPr>
          <p:nvPr/>
        </p:nvSpPr>
        <p:spPr>
          <a:xfrm>
            <a:off x="6324600" y="30099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参数扫描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2223663-CB1F-4DD3-9359-535496711B03}"/>
              </a:ext>
            </a:extLst>
          </p:cNvPr>
          <p:cNvSpPr>
            <a:spLocks noGrp="1"/>
          </p:cNvSpPr>
          <p:nvPr/>
        </p:nvSpPr>
        <p:spPr>
          <a:xfrm>
            <a:off x="8915400" y="30099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梯度类交叉比较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D8B52E5-7EAA-45F5-A33E-3DBB7F718E28}"/>
              </a:ext>
            </a:extLst>
          </p:cNvPr>
          <p:cNvSpPr>
            <a:spLocks noGrp="1"/>
          </p:cNvSpPr>
          <p:nvPr/>
        </p:nvSpPr>
        <p:spPr>
          <a:xfrm>
            <a:off x="6324600" y="36957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最终统计确认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D55AECD-D865-4D28-8F29-FE6F926B57A1}"/>
              </a:ext>
            </a:extLst>
          </p:cNvPr>
          <p:cNvSpPr>
            <a:spLocks noGrp="1"/>
          </p:cNvSpPr>
          <p:nvPr/>
        </p:nvSpPr>
        <p:spPr>
          <a:xfrm>
            <a:off x="8915400" y="36957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最终方法建议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A6D519A-82FA-4CC7-B731-953ACD8470C9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12383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但 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  <a:r>
              <a:rPr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阶段性证据</a:t>
            </a:r>
            <a:r>
              <a:rPr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　　≠　　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最终方法排名</a:t>
            </a:r>
            <a:endParaRPr sz="19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1D92B15-7F09-4DDD-A21C-9E6C16D4924B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10820400" cy="590550"/>
          </a:xfrm>
          <a:prstGeom prst="roundRect">
            <a:avLst>
              <a:gd name="adj" fmla="val 19355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本阶段</a:t>
            </a:r>
            <a:r>
              <a:rPr sz="18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的重点是确认不同优势能否在统一口径下稳定观察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63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666A4870-2739-4233-9FD8-70D4243C76D5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AAA8D-2EC4-426E-9708-C70828DB0C3D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研究问题逐步转化为可运行实验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B66FC1-4099-438A-8416-4BF2F8AFFA57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485870-EAE1-46E3-B662-2BD9FC614D6B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8D12DC-4C04-4F82-9513-50B412104136}"/>
              </a:ext>
            </a:extLst>
          </p:cNvPr>
          <p:cNvSpPr>
            <a:spLocks noGrp="1"/>
          </p:cNvSpPr>
          <p:nvPr/>
        </p:nvSpPr>
        <p:spPr>
          <a:xfrm>
            <a:off x="67936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34C78B-8AAA-4469-A890-7280F8FA104C}"/>
              </a:ext>
            </a:extLst>
          </p:cNvPr>
          <p:cNvSpPr>
            <a:spLocks noGrp="1"/>
          </p:cNvSpPr>
          <p:nvPr/>
        </p:nvSpPr>
        <p:spPr>
          <a:xfrm>
            <a:off x="86986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M1｜问题与方案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9729D85-F359-4DDE-BE96-305CBB0C6C68}"/>
              </a:ext>
            </a:extLst>
          </p:cNvPr>
          <p:cNvSpPr>
            <a:spLocks noGrp="1"/>
          </p:cNvSpPr>
          <p:nvPr/>
        </p:nvSpPr>
        <p:spPr>
          <a:xfrm>
            <a:off x="869861" y="2372395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C3E35-3C92-4EAD-AFAC-B292C4191880}"/>
              </a:ext>
            </a:extLst>
          </p:cNvPr>
          <p:cNvSpPr>
            <a:spLocks noGrp="1"/>
          </p:cNvSpPr>
          <p:nvPr/>
        </p:nvSpPr>
        <p:spPr>
          <a:xfrm>
            <a:off x="90796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RQ1–RQ3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数据域与模型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统一实验口径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参数范围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EF60EE-689F-422D-A503-C096577E91C4}"/>
              </a:ext>
            </a:extLst>
          </p:cNvPr>
          <p:cNvSpPr>
            <a:spLocks noGrp="1"/>
          </p:cNvSpPr>
          <p:nvPr/>
        </p:nvSpPr>
        <p:spPr>
          <a:xfrm>
            <a:off x="86986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可执行实验任务书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F536EF-A520-41C9-AD10-D99BDEC151C9}"/>
              </a:ext>
            </a:extLst>
          </p:cNvPr>
          <p:cNvSpPr>
            <a:spLocks noGrp="1"/>
          </p:cNvSpPr>
          <p:nvPr/>
        </p:nvSpPr>
        <p:spPr>
          <a:xfrm>
            <a:off x="3765461" y="3324895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6990C-94CF-4895-8292-07C3B6B9C600}"/>
              </a:ext>
            </a:extLst>
          </p:cNvPr>
          <p:cNvSpPr>
            <a:spLocks noGrp="1"/>
          </p:cNvSpPr>
          <p:nvPr/>
        </p:nvSpPr>
        <p:spPr>
          <a:xfrm>
            <a:off x="454651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6CDA4A-8E46-4AF7-B2CA-48F714BC90A2}"/>
              </a:ext>
            </a:extLst>
          </p:cNvPr>
          <p:cNvSpPr>
            <a:spLocks noGrp="1"/>
          </p:cNvSpPr>
          <p:nvPr/>
        </p:nvSpPr>
        <p:spPr>
          <a:xfrm>
            <a:off x="473701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M2｜端到端流程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9309ED4-9E8B-43ED-9CCB-CA74F075CC92}"/>
              </a:ext>
            </a:extLst>
          </p:cNvPr>
          <p:cNvSpPr>
            <a:spLocks noGrp="1"/>
          </p:cNvSpPr>
          <p:nvPr/>
        </p:nvSpPr>
        <p:spPr>
          <a:xfrm>
            <a:off x="4737011" y="2372395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00593A-ECAD-4588-B684-F82DD8928545}"/>
              </a:ext>
            </a:extLst>
          </p:cNvPr>
          <p:cNvSpPr>
            <a:spLocks noGrp="1"/>
          </p:cNvSpPr>
          <p:nvPr/>
        </p:nvSpPr>
        <p:spPr>
          <a:xfrm>
            <a:off x="477511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数据检查与共同正确样本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6C753F-A437-4EDC-9FCA-32123350E145}"/>
              </a:ext>
            </a:extLst>
          </p:cNvPr>
          <p:cNvSpPr>
            <a:spLocks noGrp="1"/>
          </p:cNvSpPr>
          <p:nvPr/>
        </p:nvSpPr>
        <p:spPr>
          <a:xfrm>
            <a:off x="473701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端到端流程验证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CB3D31C-9C4C-4C14-8999-65F947611578}"/>
              </a:ext>
            </a:extLst>
          </p:cNvPr>
          <p:cNvSpPr>
            <a:spLocks noGrp="1"/>
          </p:cNvSpPr>
          <p:nvPr/>
        </p:nvSpPr>
        <p:spPr>
          <a:xfrm>
            <a:off x="7632611" y="3324895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3D4F089-F9FA-4AAD-A14B-79D965566981}"/>
              </a:ext>
            </a:extLst>
          </p:cNvPr>
          <p:cNvSpPr>
            <a:spLocks noGrp="1"/>
          </p:cNvSpPr>
          <p:nvPr/>
        </p:nvSpPr>
        <p:spPr>
          <a:xfrm>
            <a:off x="8413661" y="1667545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002FA7"/>
          </a:solidFill>
          <a:ln w="1524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C40C32-90DE-4F4A-84AA-73F00955D2D2}"/>
              </a:ext>
            </a:extLst>
          </p:cNvPr>
          <p:cNvSpPr>
            <a:spLocks noGrp="1"/>
          </p:cNvSpPr>
          <p:nvPr/>
        </p:nvSpPr>
        <p:spPr>
          <a:xfrm>
            <a:off x="8604161" y="1858045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M3｜统一比较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580D9E0-7DBD-4AC4-92FD-FF029950A33C}"/>
              </a:ext>
            </a:extLst>
          </p:cNvPr>
          <p:cNvSpPr>
            <a:spLocks noGrp="1"/>
          </p:cNvSpPr>
          <p:nvPr/>
        </p:nvSpPr>
        <p:spPr>
          <a:xfrm>
            <a:off x="8604161" y="2372395"/>
            <a:ext cx="2705100" cy="0"/>
          </a:xfrm>
          <a:prstGeom prst="line">
            <a:avLst/>
          </a:prstGeom>
          <a:noFill/>
          <a:ln w="9525">
            <a:solidFill>
              <a:srgbClr val="6D91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49F05-E0AC-43A3-B63A-4E6777B93E1A}"/>
              </a:ext>
            </a:extLst>
          </p:cNvPr>
          <p:cNvSpPr>
            <a:spLocks noGrp="1"/>
          </p:cNvSpPr>
          <p:nvPr/>
        </p:nvSpPr>
        <p:spPr>
          <a:xfrm>
            <a:off x="8642261" y="2620045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四方法统一接口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数据域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× 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四类评价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24644C-930B-4665-A9C4-D79644555065}"/>
              </a:ext>
            </a:extLst>
          </p:cNvPr>
          <p:cNvSpPr>
            <a:spLocks noGrp="1"/>
          </p:cNvSpPr>
          <p:nvPr/>
        </p:nvSpPr>
        <p:spPr>
          <a:xfrm>
            <a:off x="8604161" y="4639345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第一轮可比较、可审计证据</a:t>
            </a:r>
          </a:p>
        </p:txBody>
      </p:sp>
    </p:spTree>
    <p:extLst>
      <p:ext uri="{BB962C8B-B14F-4D97-AF65-F5344CB8AC3E}">
        <p14:creationId xmlns:p14="http://schemas.microsoft.com/office/powerpoint/2010/main" val="315017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B75FCA3-326D-4F20-83B8-DD166698A753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3F498-83F2-4933-8FD6-798FFBDBD32A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四种方法已接入统一实验链路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F7ED62-9A97-47D1-A35F-3C7FAD7D3E77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FDF9C-C5A5-4CFE-90F4-550C2FA1F276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268068-771D-4C1A-AEA4-13BFF975EA46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7365E3-7AD5-4BC7-BDEE-15E56FB0B81D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E89ACC-4D29-42AA-9EDB-D2660DD7C5D1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48113-9BEA-400B-A096-750B251F10C5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逐区域消融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8365EE-D3E3-45DA-820A-FC4661EF62CD}"/>
              </a:ext>
            </a:extLst>
          </p:cNvPr>
          <p:cNvSpPr>
            <a:spLocks noGrp="1"/>
          </p:cNvSpPr>
          <p:nvPr/>
        </p:nvSpPr>
        <p:spPr>
          <a:xfrm>
            <a:off x="34480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DB0C25-4C2C-4E1A-9C89-E77535269B8C}"/>
              </a:ext>
            </a:extLst>
          </p:cNvPr>
          <p:cNvSpPr>
            <a:spLocks noGrp="1"/>
          </p:cNvSpPr>
          <p:nvPr/>
        </p:nvSpPr>
        <p:spPr>
          <a:xfrm>
            <a:off x="34480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A1416E-D384-423B-810D-0284A370167D}"/>
              </a:ext>
            </a:extLst>
          </p:cNvPr>
          <p:cNvSpPr>
            <a:spLocks noGrp="1"/>
          </p:cNvSpPr>
          <p:nvPr/>
        </p:nvSpPr>
        <p:spPr>
          <a:xfrm>
            <a:off x="36195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LIME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72D39C-0AA8-4D6D-8CF8-C74C5941319F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局部代理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32A3B1D-9835-4287-8381-F63F608EB3CE}"/>
              </a:ext>
            </a:extLst>
          </p:cNvPr>
          <p:cNvSpPr>
            <a:spLocks noGrp="1"/>
          </p:cNvSpPr>
          <p:nvPr/>
        </p:nvSpPr>
        <p:spPr>
          <a:xfrm>
            <a:off x="63055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61CE18-DCFD-457E-9456-E53D929D838F}"/>
              </a:ext>
            </a:extLst>
          </p:cNvPr>
          <p:cNvSpPr>
            <a:spLocks noGrp="1"/>
          </p:cNvSpPr>
          <p:nvPr/>
        </p:nvSpPr>
        <p:spPr>
          <a:xfrm>
            <a:off x="63055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71B8C2-2ABE-429B-8C86-9AD90BAE82AC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3E4FA4-2091-4157-9ED5-C92C67893C16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随机软掩码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79A9929-F5E6-4E71-895E-3A59BC2C897D}"/>
              </a:ext>
            </a:extLst>
          </p:cNvPr>
          <p:cNvSpPr>
            <a:spLocks noGrp="1"/>
          </p:cNvSpPr>
          <p:nvPr/>
        </p:nvSpPr>
        <p:spPr>
          <a:xfrm>
            <a:off x="91630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74740F-D727-4254-9E30-50ADCA90C727}"/>
              </a:ext>
            </a:extLst>
          </p:cNvPr>
          <p:cNvSpPr>
            <a:spLocks noGrp="1"/>
          </p:cNvSpPr>
          <p:nvPr/>
        </p:nvSpPr>
        <p:spPr>
          <a:xfrm>
            <a:off x="91630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E7427C-6B47-44EF-8B83-DF828EFFF630}"/>
              </a:ext>
            </a:extLst>
          </p:cNvPr>
          <p:cNvSpPr>
            <a:spLocks noGrp="1"/>
          </p:cNvSpPr>
          <p:nvPr/>
        </p:nvSpPr>
        <p:spPr>
          <a:xfrm>
            <a:off x="93345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KernelSHAP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31C10A-F109-47AF-9E94-E5EFD81E3EF9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Shapley 近似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7F1C674-9B53-43B8-A466-1BE3F8EF8AE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93430C2-C7ED-45DE-8410-C0F3A3DF779E}"/>
              </a:ext>
            </a:extLst>
          </p:cNvPr>
          <p:cNvSpPr>
            <a:spLocks noGrp="1"/>
          </p:cNvSpPr>
          <p:nvPr/>
        </p:nvSpPr>
        <p:spPr>
          <a:xfrm>
            <a:off x="21050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D4F6396-3ECA-4FFD-82BD-9917D6B4FDA1}"/>
              </a:ext>
            </a:extLst>
          </p:cNvPr>
          <p:cNvSpPr>
            <a:spLocks noGrp="1"/>
          </p:cNvSpPr>
          <p:nvPr/>
        </p:nvSpPr>
        <p:spPr>
          <a:xfrm>
            <a:off x="24384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区域 / 随机网格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982ACCFE-839B-4125-81D5-04647836C574}"/>
              </a:ext>
            </a:extLst>
          </p:cNvPr>
          <p:cNvSpPr>
            <a:spLocks noGrp="1"/>
          </p:cNvSpPr>
          <p:nvPr/>
        </p:nvSpPr>
        <p:spPr>
          <a:xfrm>
            <a:off x="402907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E86AEEC-0E05-4ABB-ACA8-2436D107672C}"/>
              </a:ext>
            </a:extLst>
          </p:cNvPr>
          <p:cNvSpPr>
            <a:spLocks noGrp="1"/>
          </p:cNvSpPr>
          <p:nvPr/>
        </p:nvSpPr>
        <p:spPr>
          <a:xfrm>
            <a:off x="43624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扰动 / 联盟采样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037A36A1-E6A2-4E10-AB7D-B6AD59E6C21D}"/>
              </a:ext>
            </a:extLst>
          </p:cNvPr>
          <p:cNvSpPr>
            <a:spLocks noGrp="1"/>
          </p:cNvSpPr>
          <p:nvPr/>
        </p:nvSpPr>
        <p:spPr>
          <a:xfrm>
            <a:off x="59531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BA3E707-16A6-40B2-9A94-B7C36C22387D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 pre-Softmax logit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F5E86A6A-B1B6-487E-B0B2-3DFFCA92F9C7}"/>
              </a:ext>
            </a:extLst>
          </p:cNvPr>
          <p:cNvSpPr>
            <a:spLocks noGrp="1"/>
          </p:cNvSpPr>
          <p:nvPr/>
        </p:nvSpPr>
        <p:spPr>
          <a:xfrm>
            <a:off x="787717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0167160-7576-42E3-95CA-2801D932E4FF}"/>
              </a:ext>
            </a:extLst>
          </p:cNvPr>
          <p:cNvSpPr>
            <a:spLocks noGrp="1"/>
          </p:cNvSpPr>
          <p:nvPr/>
        </p:nvSpPr>
        <p:spPr>
          <a:xfrm>
            <a:off x="82105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有符号归因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A7D66B1-9FFA-4CAB-A658-AF47540D05CC}"/>
              </a:ext>
            </a:extLst>
          </p:cNvPr>
          <p:cNvSpPr>
            <a:spLocks noGrp="1"/>
          </p:cNvSpPr>
          <p:nvPr/>
        </p:nvSpPr>
        <p:spPr>
          <a:xfrm>
            <a:off x="98012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7BF9A54-D48B-42E0-9B2D-842BC2667577}"/>
              </a:ext>
            </a:extLst>
          </p:cNvPr>
          <p:cNvSpPr>
            <a:spLocks noGrp="1"/>
          </p:cNvSpPr>
          <p:nvPr/>
        </p:nvSpPr>
        <p:spPr>
          <a:xfrm>
            <a:off x="101346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统一评价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68D822-1552-4F64-A53F-4D152EB95465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统一实验口径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17D399D-CE51-43B5-A2DC-E61BA600959C}"/>
              </a:ext>
            </a:extLst>
          </p:cNvPr>
          <p:cNvSpPr>
            <a:spLocks noGrp="1"/>
          </p:cNvSpPr>
          <p:nvPr/>
        </p:nvSpPr>
        <p:spPr>
          <a:xfrm>
            <a:off x="2095500" y="4000500"/>
            <a:ext cx="94107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60D6A4-2C6E-4431-B9DE-02E8A16B2555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统一样本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5E0CF97-2DE4-429D-8A48-60F4C425BE34}"/>
              </a:ext>
            </a:extLst>
          </p:cNvPr>
          <p:cNvSpPr>
            <a:spLocks noGrp="1"/>
          </p:cNvSpPr>
          <p:nvPr/>
        </p:nvSpPr>
        <p:spPr>
          <a:xfrm>
            <a:off x="283845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统一输出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544D6D8-68FB-4DC0-BA18-60B891887735}"/>
              </a:ext>
            </a:extLst>
          </p:cNvPr>
          <p:cNvSpPr>
            <a:spLocks noGrp="1"/>
          </p:cNvSpPr>
          <p:nvPr/>
        </p:nvSpPr>
        <p:spPr>
          <a:xfrm>
            <a:off x="49911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统一预算记录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E4D732-419A-4CA5-B98A-7A440193CC2F}"/>
              </a:ext>
            </a:extLst>
          </p:cNvPr>
          <p:cNvSpPr>
            <a:spLocks noGrp="1"/>
          </p:cNvSpPr>
          <p:nvPr/>
        </p:nvSpPr>
        <p:spPr>
          <a:xfrm>
            <a:off x="714375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统一计时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30F8CC2-45E6-45D6-AE00-1F7625181338}"/>
              </a:ext>
            </a:extLst>
          </p:cNvPr>
          <p:cNvSpPr>
            <a:spLocks noGrp="1"/>
          </p:cNvSpPr>
          <p:nvPr/>
        </p:nvSpPr>
        <p:spPr>
          <a:xfrm>
            <a:off x="92964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统一结果格式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B0C7CB0-5F15-4B2D-B1DB-F38155E8F66D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914400"/>
          </a:xfrm>
          <a:prstGeom prst="roundRect">
            <a:avLst>
              <a:gd name="adj" fmla="val 15625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AB2C8AB-EE87-4458-BCBD-FDEE59A7397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95250"/>
          </a:xfrm>
          <a:prstGeom prst="roundRect">
            <a:avLst>
              <a:gd name="adj" fmla="val 50000"/>
            </a:avLst>
          </a:prstGeom>
          <a:solidFill>
            <a:srgbClr val="10B7C5"/>
          </a:solidFill>
          <a:ln w="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5C382C-3772-4F4F-8D22-2CD42449646B}"/>
              </a:ext>
            </a:extLst>
          </p:cNvPr>
          <p:cNvSpPr>
            <a:spLocks noGrp="1"/>
          </p:cNvSpPr>
          <p:nvPr/>
        </p:nvSpPr>
        <p:spPr>
          <a:xfrm>
            <a:off x="857250" y="520065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实验管理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47BAF01-051E-476C-B8D0-14556DFE6DC2}"/>
              </a:ext>
            </a:extLst>
          </p:cNvPr>
          <p:cNvSpPr>
            <a:spLocks noGrp="1"/>
          </p:cNvSpPr>
          <p:nvPr/>
        </p:nvSpPr>
        <p:spPr>
          <a:xfrm>
            <a:off x="30480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2AA298-0D6F-4270-8858-40D2895BE905}"/>
              </a:ext>
            </a:extLst>
          </p:cNvPr>
          <p:cNvSpPr>
            <a:spLocks noGrp="1"/>
          </p:cNvSpPr>
          <p:nvPr/>
        </p:nvSpPr>
        <p:spPr>
          <a:xfrm>
            <a:off x="30480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3266BD-3669-4610-9A80-74D2F61778CE}"/>
              </a:ext>
            </a:extLst>
          </p:cNvPr>
          <p:cNvSpPr>
            <a:spLocks noGrp="1"/>
          </p:cNvSpPr>
          <p:nvPr/>
        </p:nvSpPr>
        <p:spPr>
          <a:xfrm>
            <a:off x="33718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结果存储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1640D25-075F-4747-B8B4-547507B4E14E}"/>
              </a:ext>
            </a:extLst>
          </p:cNvPr>
          <p:cNvSpPr>
            <a:spLocks noGrp="1"/>
          </p:cNvSpPr>
          <p:nvPr/>
        </p:nvSpPr>
        <p:spPr>
          <a:xfrm>
            <a:off x="52959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6FC3DE3-C52C-4985-B957-FD1CACEA289F}"/>
              </a:ext>
            </a:extLst>
          </p:cNvPr>
          <p:cNvSpPr>
            <a:spLocks noGrp="1"/>
          </p:cNvSpPr>
          <p:nvPr/>
        </p:nvSpPr>
        <p:spPr>
          <a:xfrm>
            <a:off x="52959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5825662-5A07-4325-891B-59C4DC020B74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断点恢复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58AC398-6C6D-490A-A43D-728C7455B20C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261BD-3EC8-43FF-AB7D-0150D9168A27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AF55E07-8163-4CCA-9B50-F35624F0BE15}"/>
              </a:ext>
            </a:extLst>
          </p:cNvPr>
          <p:cNvSpPr>
            <a:spLocks noGrp="1"/>
          </p:cNvSpPr>
          <p:nvPr/>
        </p:nvSpPr>
        <p:spPr>
          <a:xfrm>
            <a:off x="78676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实验审计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0ABC32A-ED93-4F51-A481-D8BD005F5CF9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方法内部机制不同，但输入、模型输出、预算统计和评价接口保持统一。</a:t>
            </a:r>
          </a:p>
        </p:txBody>
      </p:sp>
    </p:spTree>
    <p:extLst>
      <p:ext uri="{BB962C8B-B14F-4D97-AF65-F5344CB8AC3E}">
        <p14:creationId xmlns:p14="http://schemas.microsoft.com/office/powerpoint/2010/main" val="167802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M3 已完成第一轮统一实验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365760"/>
            <a:ext cx="329184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1758B"/>
                </a:solidFill>
                <a:latin typeface="Microsoft YaHei"/>
              </a:defRPr>
            </a:pPr>
            <a:r>
              <a:t>先确认：结果完整、可比、可审计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2 数据域 × 2 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69164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Microsoft YaHei"/>
              </a:defRPr>
            </a:pPr>
            <a:r>
              <a:t>ResNet-50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691640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Microsoft YaHei"/>
              </a:defRPr>
            </a:pPr>
            <a:r>
              <a:t>VGG13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1280160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670D2"/>
                </a:solidFill>
                <a:latin typeface="Microsoft YaHei"/>
              </a:defRPr>
            </a:pPr>
            <a:r>
              <a:t>ImageNet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2057400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76272" y="2057400"/>
            <a:ext cx="141732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6744" y="2057400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2057400"/>
            <a:ext cx="141732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52344"/>
            <a:ext cx="1280160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CHNCXR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6272" y="2706624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2706624"/>
            <a:ext cx="141732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66744" y="2706624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66744" y="2706624"/>
            <a:ext cx="141732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✓ 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520440"/>
            <a:ext cx="2331720" cy="1152144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520440"/>
            <a:ext cx="2331720" cy="82296"/>
          </a:xfrm>
          <a:prstGeom prst="rect">
            <a:avLst/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703320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ImageNet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078224"/>
            <a:ext cx="2039112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候选 500｜共同正确 374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本阶段固定 10 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3520440"/>
            <a:ext cx="2331720" cy="1152144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91256" y="3520440"/>
            <a:ext cx="2331720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7560" y="3703320"/>
            <a:ext cx="203911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799A9"/>
                </a:solidFill>
                <a:latin typeface="Microsoft YaHei"/>
              </a:defRPr>
            </a:pPr>
            <a:r>
              <a:t>CHNCXR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078224"/>
            <a:ext cx="2039112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候选 662｜共同正确 434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17324D"/>
                </a:solidFill>
                <a:latin typeface="Microsoft YaHei"/>
              </a:defRPr>
            </a:pPr>
            <a:r>
              <a:t>固定 10：5 阳性、5 阴性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48006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47A24"/>
                </a:solidFill>
                <a:latin typeface="Microsoft YaHei"/>
              </a:defRPr>
            </a:pPr>
            <a:r>
              <a:t>定位性仅在具有病灶掩码的阳性样本计算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0176" y="1298448"/>
            <a:ext cx="523951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第一轮运行规模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0176" y="1691640"/>
            <a:ext cx="5248656" cy="53035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6" y="1764792"/>
            <a:ext cx="189280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02FA7"/>
                </a:solidFill>
                <a:latin typeface="Microsoft YaHei"/>
              </a:defRPr>
            </a:pPr>
            <a:r>
              <a:t>320 / 320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783080"/>
            <a:ext cx="27614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324D"/>
                </a:solidFill>
                <a:latin typeface="Microsoft YaHei"/>
              </a:defRPr>
            </a:pPr>
            <a:r>
              <a:t>每个数据域的实验记录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0176" y="2304288"/>
            <a:ext cx="5248656" cy="53035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63056" y="2377440"/>
            <a:ext cx="189280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02FA7"/>
                </a:solidFill>
                <a:latin typeface="Microsoft YaHei"/>
              </a:defRPr>
            </a:pPr>
            <a:r>
              <a:t>617,942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395728"/>
            <a:ext cx="27614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324D"/>
                </a:solidFill>
                <a:latin typeface="Microsoft YaHei"/>
              </a:defRPr>
            </a:pPr>
            <a:r>
              <a:t>基础归因前向输入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0176" y="2916936"/>
            <a:ext cx="5248656" cy="53035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63056" y="2990088"/>
            <a:ext cx="189280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02FA7"/>
                </a:solidFill>
                <a:latin typeface="Microsoft YaHei"/>
              </a:defRPr>
            </a:pPr>
            <a:r>
              <a:t>6,179,420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008376"/>
            <a:ext cx="27614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324D"/>
                </a:solidFill>
                <a:latin typeface="Microsoft YaHei"/>
              </a:defRPr>
            </a:pPr>
            <a:r>
              <a:t>稳定性重算前向输入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0176" y="3529584"/>
            <a:ext cx="5248656" cy="53035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3056" y="3602736"/>
            <a:ext cx="189280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002FA7"/>
                </a:solidFill>
                <a:latin typeface="Microsoft YaHei"/>
              </a:defRPr>
            </a:pPr>
            <a:r>
              <a:t>26,880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621024"/>
            <a:ext cx="27614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324D"/>
                </a:solidFill>
                <a:latin typeface="Microsoft YaHei"/>
              </a:defRPr>
            </a:pPr>
            <a:r>
              <a:t>曲线评价前向输入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0176" y="4206240"/>
            <a:ext cx="2468880" cy="813816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80176" y="4206240"/>
            <a:ext cx="2468880" cy="8229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4389120"/>
            <a:ext cx="217627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0B7C5"/>
                </a:solidFill>
                <a:latin typeface="Microsoft YaHei"/>
              </a:defRPr>
            </a:pPr>
            <a:r>
              <a:t>分类稳定性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64024"/>
            <a:ext cx="21762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324D"/>
                </a:solidFill>
                <a:latin typeface="Microsoft YaHei"/>
              </a:defRPr>
            </a:pPr>
            <a:r>
              <a:t>扰动后类别变化：0 / 400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4504" y="4206240"/>
            <a:ext cx="2624328" cy="813816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04504" y="4206240"/>
            <a:ext cx="2624328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50808" y="4389120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2FA7"/>
                </a:solidFill>
                <a:latin typeface="Microsoft YaHei"/>
              </a:defRPr>
            </a:pPr>
            <a:r>
              <a:t>KernelSHAP 数值审计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0808" y="4764024"/>
            <a:ext cx="23317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7324D"/>
                </a:solidFill>
                <a:latin typeface="Microsoft YaHei"/>
              </a:defRPr>
            </a:pPr>
            <a:r>
              <a:t>200 次运行全部满秩</a:t>
            </a:r>
          </a:p>
          <a:p>
            <a:pPr algn="l">
              <a:spcAft>
                <a:spcPts val="0"/>
              </a:spcAft>
              <a:defRPr sz="919" b="0">
                <a:solidFill>
                  <a:srgbClr val="17324D"/>
                </a:solidFill>
                <a:latin typeface="Microsoft YaHei"/>
              </a:defRPr>
            </a:pPr>
            <a:r>
              <a:t>最大 residual：2.22 × 10⁻¹⁶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733288"/>
            <a:ext cx="10835640" cy="475488"/>
          </a:xfrm>
          <a:prstGeom prst="roundRect">
            <a:avLst>
              <a:gd name="adj" fmla="val 12000"/>
            </a:avLst>
          </a:prstGeom>
          <a:solidFill>
            <a:srgbClr val="08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5733288"/>
            <a:ext cx="108356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M3 已完成四种方法的第一轮统一实验，具备基本的完整性、可比性与可审计性。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" y="6318504"/>
            <a:ext cx="108356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1758B"/>
                </a:solidFill>
                <a:latin typeface="Microsoft YaHei"/>
              </a:defRPr>
            </a:pPr>
            <a:r>
              <a:t>后续比较讨论的是观察到的差异，而不是实验是否跑通。</a:t>
            </a:r>
          </a:p>
        </p:txBody>
      </p:sp>
    </p:spTree>
    <p:extLst>
      <p:ext uri="{BB962C8B-B14F-4D97-AF65-F5344CB8AC3E}">
        <p14:creationId xmlns:p14="http://schemas.microsoft.com/office/powerpoint/2010/main" val="77533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初步结果总览：四类差异已经出现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365760"/>
            <a:ext cx="329184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1758B"/>
                </a:solidFill>
                <a:latin typeface="Microsoft YaHei"/>
              </a:defRPr>
            </a:pPr>
            <a:r>
              <a:t>结果章节导航：后四页分别展开证据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71676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81D3A"/>
                </a:solidFill>
                <a:latin typeface="Microsoft YaHei"/>
              </a:defRPr>
            </a:pPr>
            <a:r>
              <a:t>不同方法没有单一总冠军，而是呈现出明显的互补优势。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167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结果按评价维度展开，不把不同指标合并为总分。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0428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304288"/>
            <a:ext cx="5303520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468880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2FA7"/>
                </a:solidFill>
                <a:latin typeface="Microsoft YaHei"/>
              </a:defRPr>
            </a:pPr>
            <a:r>
              <a:t>01｜忠实性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7977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谁更接近模型决策依据？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0896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LIME 与 KernelSHAP 构成当前领先组。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468880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002FA7"/>
                </a:solidFill>
                <a:latin typeface="Microsoft YaHei"/>
              </a:defRPr>
            </a:pPr>
            <a:r>
              <a:t>第 7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30428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5624" y="2304288"/>
            <a:ext cx="5303520" cy="82296"/>
          </a:xfrm>
          <a:prstGeom prst="rect">
            <a:avLst/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2468880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02｜稳定性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77977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谁的解释结果更稳定？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10896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RISE 在两种稳定性检验中均最突出。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71048" y="2468880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1670D2"/>
                </a:solidFill>
                <a:latin typeface="Microsoft YaHei"/>
              </a:defRPr>
            </a:pPr>
            <a:r>
              <a:t>第 8 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5876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858768"/>
            <a:ext cx="5303520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023359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799A9"/>
                </a:solidFill>
                <a:latin typeface="Microsoft YaHei"/>
              </a:defRPr>
            </a:pPr>
            <a:r>
              <a:t>03｜效率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33425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稳定解释需要多少时间？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66344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Ablation 最快，RISE 最慢。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4023359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0799A9"/>
                </a:solidFill>
                <a:latin typeface="Microsoft YaHei"/>
              </a:defRPr>
            </a:pPr>
            <a:r>
              <a:t>第 9 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3858768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58768"/>
            <a:ext cx="5303520" cy="82296"/>
          </a:xfrm>
          <a:prstGeom prst="rect">
            <a:avLst/>
          </a:prstGeom>
          <a:solidFill>
            <a:srgbClr val="F4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023359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7A24"/>
                </a:solidFill>
                <a:latin typeface="Microsoft YaHei"/>
              </a:defRPr>
            </a:pPr>
            <a:r>
              <a:t>04｜定位性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4334256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1758B"/>
                </a:solidFill>
                <a:latin typeface="Microsoft YaHei"/>
              </a:defRPr>
            </a:pPr>
            <a:r>
              <a:t>热图是否落在目标区域？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63440"/>
            <a:ext cx="4343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Microsoft YaHei"/>
              </a:defRPr>
            </a:pPr>
            <a:r>
              <a:t>ImageNet 可观察定位，CHNCXR 当前接近失效。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71048" y="4023359"/>
            <a:ext cx="5943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F47A24"/>
                </a:solidFill>
                <a:latin typeface="Microsoft YaHei"/>
              </a:defRPr>
            </a:pPr>
            <a:r>
              <a:t>第 10 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870448"/>
            <a:ext cx="10835640" cy="438912"/>
          </a:xfrm>
          <a:prstGeom prst="roundRect">
            <a:avLst>
              <a:gd name="adj" fmla="val 12000"/>
            </a:avLst>
          </a:prstGeom>
          <a:solidFill>
            <a:srgbClr val="08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70448"/>
            <a:ext cx="108356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接下来依次回答：忠实性、稳定性、效率和定位性上的差异及其含义。</a:t>
            </a:r>
          </a:p>
        </p:txBody>
      </p:sp>
    </p:spTree>
    <p:extLst>
      <p:ext uri="{BB962C8B-B14F-4D97-AF65-F5344CB8AC3E}">
        <p14:creationId xmlns:p14="http://schemas.microsoft.com/office/powerpoint/2010/main" val="208928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dirty="0" err="1"/>
              <a:t>忠实性结果：LIME</a:t>
            </a:r>
            <a:r>
              <a:rPr dirty="0"/>
              <a:t> 与 </a:t>
            </a:r>
            <a:r>
              <a:rPr dirty="0" err="1"/>
              <a:t>KernelSHAP</a:t>
            </a:r>
            <a:r>
              <a:rPr dirty="0"/>
              <a:t> </a:t>
            </a:r>
            <a:r>
              <a:rPr dirty="0" err="1"/>
              <a:t>形成领先组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567160" y="365760"/>
            <a:ext cx="329184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69848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2FA7"/>
                </a:solidFill>
                <a:latin typeface="Microsoft YaHei"/>
              </a:defRPr>
            </a:pPr>
            <a:r>
              <a:t>默认设置下的初步结果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89888"/>
            <a:ext cx="6739128" cy="4325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3_fide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42063"/>
            <a:ext cx="6501384" cy="2792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" y="5422392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1758B"/>
                </a:solidFill>
                <a:latin typeface="Microsoft YaHei"/>
              </a:defRPr>
            </a:pPr>
            <a:r>
              <a:t>默认设置下四种方法的 Insertion / Deletion 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389888"/>
            <a:ext cx="3776472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99248" y="1389888"/>
            <a:ext cx="3776472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1609722"/>
            <a:ext cx="3483864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2FA7"/>
                </a:solidFill>
                <a:latin typeface="Microsoft YaHei"/>
              </a:defRPr>
            </a:pPr>
            <a:r>
              <a:rPr lang="en-US" dirty="0"/>
              <a:t>LIME</a:t>
            </a:r>
            <a:r>
              <a:rPr lang="zh-CN" altLang="en-US" dirty="0"/>
              <a:t>的</a:t>
            </a:r>
            <a:r>
              <a:rPr dirty="0" err="1"/>
              <a:t>总体领先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845552" y="1947672"/>
            <a:ext cx="3483864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4 </a:t>
            </a:r>
            <a:r>
              <a:rPr sz="1200" dirty="0" err="1"/>
              <a:t>组中</a:t>
            </a:r>
            <a:r>
              <a:rPr sz="1200" dirty="0"/>
              <a:t> 3 组 Insertion </a:t>
            </a:r>
            <a:r>
              <a:rPr sz="1200" dirty="0" err="1"/>
              <a:t>领先</a:t>
            </a:r>
            <a:endParaRPr sz="1200" dirty="0"/>
          </a:p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4 </a:t>
            </a:r>
            <a:r>
              <a:rPr sz="1200" dirty="0" err="1"/>
              <a:t>组中</a:t>
            </a:r>
            <a:r>
              <a:rPr sz="1200" dirty="0"/>
              <a:t> 3 组 Deletion </a:t>
            </a:r>
            <a:r>
              <a:rPr sz="1200" dirty="0" err="1"/>
              <a:t>领先</a:t>
            </a:r>
            <a:endParaRPr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7699248" y="2816352"/>
            <a:ext cx="3776472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99248" y="2816352"/>
            <a:ext cx="3776472" cy="82296"/>
          </a:xfrm>
          <a:prstGeom prst="rect">
            <a:avLst/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2999232"/>
            <a:ext cx="348386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670D2"/>
                </a:solidFill>
                <a:latin typeface="Microsoft YaHei"/>
              </a:defRPr>
            </a:pPr>
            <a:r>
              <a:t>KernelSHAP 的局部优势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374136"/>
            <a:ext cx="3483864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CHNCXR / ResNet-50：Insertion </a:t>
            </a:r>
            <a:r>
              <a:rPr sz="1200" dirty="0" err="1"/>
              <a:t>最优</a:t>
            </a:r>
            <a:endParaRPr sz="1200" dirty="0"/>
          </a:p>
          <a:p>
            <a:pPr algn="l">
              <a:spcAft>
                <a:spcPts val="0"/>
              </a:spcAft>
              <a:defRPr sz="1019" b="0">
                <a:solidFill>
                  <a:srgbClr val="17324D"/>
                </a:solidFill>
                <a:latin typeface="Microsoft YaHei"/>
              </a:defRPr>
            </a:pPr>
            <a:r>
              <a:rPr sz="1200" dirty="0"/>
              <a:t>ImageNet / ResNet-50：Deletion </a:t>
            </a:r>
            <a:r>
              <a:rPr sz="1200" dirty="0" err="1"/>
              <a:t>最优</a:t>
            </a:r>
            <a:endParaRPr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7699248" y="4242816"/>
            <a:ext cx="3776472" cy="130759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99248" y="4242816"/>
            <a:ext cx="3776472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45552" y="4425696"/>
            <a:ext cx="348386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RISE 当前不占优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4800600"/>
            <a:ext cx="3483864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t>四个组合下忠实性低于领先组；</a:t>
            </a:r>
          </a:p>
          <a:p>
            <a:pPr algn="l">
              <a:spcAft>
                <a:spcPts val="0"/>
              </a:spcAft>
              <a:defRPr sz="1050" b="0">
                <a:solidFill>
                  <a:srgbClr val="17324D"/>
                </a:solidFill>
                <a:latin typeface="Microsoft YaHei"/>
              </a:defRPr>
            </a:pPr>
            <a:r>
              <a:t>更稳定不等于更忠实。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998464"/>
            <a:ext cx="10835640" cy="448056"/>
          </a:xfrm>
          <a:prstGeom prst="roundRect">
            <a:avLst>
              <a:gd name="adj" fmla="val 12000"/>
            </a:avLst>
          </a:prstGeom>
          <a:solidFill>
            <a:srgbClr val="08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998464"/>
            <a:ext cx="10835640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默认设置下，较高预算带来较强忠实性，但没有复杂方法在所有条件下普遍领先。</a:t>
            </a:r>
          </a:p>
        </p:txBody>
      </p:sp>
    </p:spTree>
    <p:extLst>
      <p:ext uri="{BB962C8B-B14F-4D97-AF65-F5344CB8AC3E}">
        <p14:creationId xmlns:p14="http://schemas.microsoft.com/office/powerpoint/2010/main" val="126601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7A463967-42A3-4A4A-A44A-C03FC9AF250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9F4B8-DACA-4E76-9012-512846CFB1C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rPr lang="zh-CN" altLang="en-US" sz="2700" dirty="0"/>
              <a:t>稳定性结果：</a:t>
            </a:r>
            <a:r>
              <a:rPr lang="en-US" altLang="zh-CN" sz="2700" dirty="0"/>
              <a:t>RISE</a:t>
            </a:r>
            <a:r>
              <a:rPr lang="zh-CN" altLang="en-US" sz="2700" dirty="0"/>
              <a:t> 的核心优势是更稳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5E50B8-FEF6-424C-88DC-C1563E32D2B3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611C40-AA72-4299-A467-5D58EDB3B465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E9E5C3-6046-4DDA-B96A-59DC4B32C0F6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343400" cy="4095750"/>
          </a:xfrm>
          <a:prstGeom prst="roundRect">
            <a:avLst>
              <a:gd name="adj" fmla="val 3488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6DD839-CCCE-48BD-AD1C-0F42003F479E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3434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628E37-8A4D-4F21-AA0D-3C6C4617C6BB}"/>
              </a:ext>
            </a:extLst>
          </p:cNvPr>
          <p:cNvSpPr>
            <a:spLocks noGrp="1"/>
          </p:cNvSpPr>
          <p:nvPr/>
        </p:nvSpPr>
        <p:spPr>
          <a:xfrm>
            <a:off x="857250" y="1485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输入扰动稳定性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06DAE8-46D7-475B-AD46-F28679079FFB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162050" cy="1066800"/>
          </a:xfrm>
          <a:prstGeom prst="roundRect">
            <a:avLst>
              <a:gd name="adj" fmla="val 89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3B2CA93-0B9F-4E91-8B56-0EC1CADD1008}"/>
              </a:ext>
            </a:extLst>
          </p:cNvPr>
          <p:cNvSpPr>
            <a:spLocks noGrp="1"/>
          </p:cNvSpPr>
          <p:nvPr/>
        </p:nvSpPr>
        <p:spPr>
          <a:xfrm>
            <a:off x="1371600" y="234315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C6AC624-C048-4590-AF2F-6ABC33269F29}"/>
              </a:ext>
            </a:extLst>
          </p:cNvPr>
          <p:cNvSpPr>
            <a:spLocks noGrp="1"/>
          </p:cNvSpPr>
          <p:nvPr/>
        </p:nvSpPr>
        <p:spPr>
          <a:xfrm>
            <a:off x="1485900" y="2457450"/>
            <a:ext cx="171450" cy="1714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35B160-3B90-4004-8EA5-78D03D603173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原始图像归因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5226169-C588-4EEE-8308-E750A5EA9042}"/>
              </a:ext>
            </a:extLst>
          </p:cNvPr>
          <p:cNvSpPr>
            <a:spLocks noGrp="1"/>
          </p:cNvSpPr>
          <p:nvPr/>
        </p:nvSpPr>
        <p:spPr>
          <a:xfrm>
            <a:off x="2324100" y="2457450"/>
            <a:ext cx="400050" cy="2286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E529A7-1476-41CA-823B-81C5130A9A14}"/>
              </a:ext>
            </a:extLst>
          </p:cNvPr>
          <p:cNvSpPr>
            <a:spLocks noGrp="1"/>
          </p:cNvSpPr>
          <p:nvPr/>
        </p:nvSpPr>
        <p:spPr>
          <a:xfrm>
            <a:off x="2209800" y="2800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微小扰动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5E05428-D023-425A-9919-988AEC23E07B}"/>
              </a:ext>
            </a:extLst>
          </p:cNvPr>
          <p:cNvSpPr>
            <a:spLocks noGrp="1"/>
          </p:cNvSpPr>
          <p:nvPr/>
        </p:nvSpPr>
        <p:spPr>
          <a:xfrm>
            <a:off x="2914650" y="2076450"/>
            <a:ext cx="1162050" cy="1066800"/>
          </a:xfrm>
          <a:prstGeom prst="roundRect">
            <a:avLst>
              <a:gd name="adj" fmla="val 89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A135D4E-4BC6-4341-8861-B3C0CCE15E29}"/>
              </a:ext>
            </a:extLst>
          </p:cNvPr>
          <p:cNvSpPr>
            <a:spLocks noGrp="1"/>
          </p:cNvSpPr>
          <p:nvPr/>
        </p:nvSpPr>
        <p:spPr>
          <a:xfrm>
            <a:off x="3314700" y="236220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5497819-048E-4504-A6C0-96E39A4ACDF5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171450" cy="1714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F60953-40D3-4024-971D-F980C146EDB4}"/>
              </a:ext>
            </a:extLst>
          </p:cNvPr>
          <p:cNvSpPr>
            <a:spLocks noGrp="1"/>
          </p:cNvSpPr>
          <p:nvPr/>
        </p:nvSpPr>
        <p:spPr>
          <a:xfrm>
            <a:off x="2914650" y="31813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扰动后归因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3BC9A-B5BC-4472-B4CE-B065FDF75034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RISE：4 个数据域 × 模型组合均领先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5530BDE-6751-43C1-8949-28589002C2F2}"/>
              </a:ext>
            </a:extLst>
          </p:cNvPr>
          <p:cNvSpPr>
            <a:spLocks noGrp="1"/>
          </p:cNvSpPr>
          <p:nvPr/>
        </p:nvSpPr>
        <p:spPr>
          <a:xfrm>
            <a:off x="1047750" y="43053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Max-Sensitivity 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DE4E3D4-33BC-43CA-9B4C-CCEA9E9E9DE5}"/>
              </a:ext>
            </a:extLst>
          </p:cNvPr>
          <p:cNvSpPr>
            <a:spLocks noGrp="1"/>
          </p:cNvSpPr>
          <p:nvPr/>
        </p:nvSpPr>
        <p:spPr>
          <a:xfrm>
            <a:off x="2609850" y="43053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Cosine Similarity ↑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DC43C8-B8A5-405C-B2FC-A84992E8B972}"/>
              </a:ext>
            </a:extLst>
          </p:cNvPr>
          <p:cNvSpPr>
            <a:spLocks noGrp="1"/>
          </p:cNvSpPr>
          <p:nvPr/>
        </p:nvSpPr>
        <p:spPr>
          <a:xfrm>
            <a:off x="5334000" y="1295400"/>
            <a:ext cx="6172200" cy="4095750"/>
          </a:xfrm>
          <a:prstGeom prst="roundRect">
            <a:avLst>
              <a:gd name="adj" fmla="val 3488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DEB4D5-3470-46DE-A5F7-5185E20E6EAE}"/>
              </a:ext>
            </a:extLst>
          </p:cNvPr>
          <p:cNvSpPr>
            <a:spLocks noGrp="1"/>
          </p:cNvSpPr>
          <p:nvPr/>
        </p:nvSpPr>
        <p:spPr>
          <a:xfrm>
            <a:off x="5334000" y="1295400"/>
            <a:ext cx="61722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DA8931-8515-4270-8060-93042CAB8BCD}"/>
              </a:ext>
            </a:extLst>
          </p:cNvPr>
          <p:cNvSpPr>
            <a:spLocks noGrp="1"/>
          </p:cNvSpPr>
          <p:nvPr/>
        </p:nvSpPr>
        <p:spPr>
          <a:xfrm>
            <a:off x="5505450" y="1485900"/>
            <a:ext cx="582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跨随机种子稳定性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543671-4AA0-457B-8F5B-555468E129A8}"/>
              </a:ext>
            </a:extLst>
          </p:cNvPr>
          <p:cNvSpPr>
            <a:spLocks noGrp="1"/>
          </p:cNvSpPr>
          <p:nvPr/>
        </p:nvSpPr>
        <p:spPr>
          <a:xfrm>
            <a:off x="6781800" y="1752600"/>
            <a:ext cx="411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0　　　　　　　　　0.5　　　　　　　　　1.0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EF3A9B-FC31-426A-A7CB-E4745218BE51}"/>
              </a:ext>
            </a:extLst>
          </p:cNvPr>
          <p:cNvSpPr>
            <a:spLocks noGrp="1"/>
          </p:cNvSpPr>
          <p:nvPr/>
        </p:nvSpPr>
        <p:spPr>
          <a:xfrm>
            <a:off x="5562600" y="2076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· Spearman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20C3B171-01BB-4D5F-8DC9-7B375E90D1AF}"/>
              </a:ext>
            </a:extLst>
          </p:cNvPr>
          <p:cNvSpPr>
            <a:spLocks noGrp="1"/>
          </p:cNvSpPr>
          <p:nvPr/>
        </p:nvSpPr>
        <p:spPr>
          <a:xfrm>
            <a:off x="6800850" y="22193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82E58665-48B0-4E04-B0F7-D74772984810}"/>
              </a:ext>
            </a:extLst>
          </p:cNvPr>
          <p:cNvSpPr>
            <a:spLocks noGrp="1"/>
          </p:cNvSpPr>
          <p:nvPr/>
        </p:nvSpPr>
        <p:spPr>
          <a:xfrm>
            <a:off x="10769346" y="2219325"/>
            <a:ext cx="9201" cy="0"/>
          </a:xfrm>
          <a:prstGeom prst="line">
            <a:avLst/>
          </a:prstGeom>
          <a:noFill/>
          <a:ln w="6667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A303791-E972-4F45-A6A9-25E325350541}"/>
              </a:ext>
            </a:extLst>
          </p:cNvPr>
          <p:cNvSpPr>
            <a:spLocks noGrp="1"/>
          </p:cNvSpPr>
          <p:nvPr/>
        </p:nvSpPr>
        <p:spPr>
          <a:xfrm>
            <a:off x="10712196" y="2162175"/>
            <a:ext cx="114300" cy="1143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732C6D8-AD6B-4D11-AAA8-6B5F7B8D24D4}"/>
              </a:ext>
            </a:extLst>
          </p:cNvPr>
          <p:cNvSpPr>
            <a:spLocks noGrp="1"/>
          </p:cNvSpPr>
          <p:nvPr/>
        </p:nvSpPr>
        <p:spPr>
          <a:xfrm>
            <a:off x="10721397" y="2162175"/>
            <a:ext cx="114300" cy="1143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FD7338-A1BB-4A9F-AA6A-452E6E258021}"/>
              </a:ext>
            </a:extLst>
          </p:cNvPr>
          <p:cNvSpPr>
            <a:spLocks noGrp="1"/>
          </p:cNvSpPr>
          <p:nvPr/>
        </p:nvSpPr>
        <p:spPr>
          <a:xfrm>
            <a:off x="6800850" y="2343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0.9920–0.9943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866FC6B-341E-4A54-ACA2-4A7E74AE11B3}"/>
              </a:ext>
            </a:extLst>
          </p:cNvPr>
          <p:cNvSpPr>
            <a:spLocks noGrp="1"/>
          </p:cNvSpPr>
          <p:nvPr/>
        </p:nvSpPr>
        <p:spPr>
          <a:xfrm>
            <a:off x="5562600" y="26289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· Jaccard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41F60A3C-7E93-4F67-BB5C-D3C1278245B0}"/>
              </a:ext>
            </a:extLst>
          </p:cNvPr>
          <p:cNvSpPr>
            <a:spLocks noGrp="1"/>
          </p:cNvSpPr>
          <p:nvPr/>
        </p:nvSpPr>
        <p:spPr>
          <a:xfrm>
            <a:off x="6800850" y="277177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6B4DBE6D-DEEB-4B6C-990A-7BD42B54C774}"/>
              </a:ext>
            </a:extLst>
          </p:cNvPr>
          <p:cNvSpPr>
            <a:spLocks noGrp="1"/>
          </p:cNvSpPr>
          <p:nvPr/>
        </p:nvSpPr>
        <p:spPr>
          <a:xfrm>
            <a:off x="10350494" y="2771775"/>
            <a:ext cx="142818" cy="0"/>
          </a:xfrm>
          <a:prstGeom prst="line">
            <a:avLst/>
          </a:prstGeom>
          <a:noFill/>
          <a:ln w="66675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E1078F1-0F90-4734-BD04-6EF4A9627DAB}"/>
              </a:ext>
            </a:extLst>
          </p:cNvPr>
          <p:cNvSpPr>
            <a:spLocks noGrp="1"/>
          </p:cNvSpPr>
          <p:nvPr/>
        </p:nvSpPr>
        <p:spPr>
          <a:xfrm>
            <a:off x="10293344" y="2714625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EB2F077-AAEE-4B7F-89D0-20ACF4EE6040}"/>
              </a:ext>
            </a:extLst>
          </p:cNvPr>
          <p:cNvSpPr>
            <a:spLocks noGrp="1"/>
          </p:cNvSpPr>
          <p:nvPr/>
        </p:nvSpPr>
        <p:spPr>
          <a:xfrm>
            <a:off x="10436162" y="2714625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49C9F9-468B-41D1-BC66-B93F90C24E9C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0.8873–0.9230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B9777E-75E0-4E86-9B1F-E404701A6D87}"/>
              </a:ext>
            </a:extLst>
          </p:cNvPr>
          <p:cNvSpPr>
            <a:spLocks noGrp="1"/>
          </p:cNvSpPr>
          <p:nvPr/>
        </p:nvSpPr>
        <p:spPr>
          <a:xfrm>
            <a:off x="5562600" y="32956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· Spearman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B6F8A4E5-B062-48CB-AA77-B1D00C15EB1D}"/>
              </a:ext>
            </a:extLst>
          </p:cNvPr>
          <p:cNvSpPr>
            <a:spLocks noGrp="1"/>
          </p:cNvSpPr>
          <p:nvPr/>
        </p:nvSpPr>
        <p:spPr>
          <a:xfrm>
            <a:off x="6800850" y="34385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ADADA6C2-624F-41F6-9D59-788BCEDFA681}"/>
              </a:ext>
            </a:extLst>
          </p:cNvPr>
          <p:cNvSpPr>
            <a:spLocks noGrp="1"/>
          </p:cNvSpPr>
          <p:nvPr/>
        </p:nvSpPr>
        <p:spPr>
          <a:xfrm>
            <a:off x="9054732" y="3438525"/>
            <a:ext cx="1309364" cy="0"/>
          </a:xfrm>
          <a:prstGeom prst="line">
            <a:avLst/>
          </a:prstGeom>
          <a:noFill/>
          <a:ln w="6667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F4C97CD-BAA0-4693-8AA6-39F19E9301FD}"/>
              </a:ext>
            </a:extLst>
          </p:cNvPr>
          <p:cNvSpPr>
            <a:spLocks noGrp="1"/>
          </p:cNvSpPr>
          <p:nvPr/>
        </p:nvSpPr>
        <p:spPr>
          <a:xfrm>
            <a:off x="8997582" y="3381375"/>
            <a:ext cx="114300" cy="114300"/>
          </a:xfrm>
          <a:prstGeom prst="ellipse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FBB6EB5-8886-4D0F-9A3B-F85CFE028722}"/>
              </a:ext>
            </a:extLst>
          </p:cNvPr>
          <p:cNvSpPr>
            <a:spLocks noGrp="1"/>
          </p:cNvSpPr>
          <p:nvPr/>
        </p:nvSpPr>
        <p:spPr>
          <a:xfrm>
            <a:off x="10306945" y="3381375"/>
            <a:ext cx="114300" cy="114300"/>
          </a:xfrm>
          <a:prstGeom prst="ellipse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3824D3-A3D5-4BB0-BE9A-276B4BB43A0B}"/>
              </a:ext>
            </a:extLst>
          </p:cNvPr>
          <p:cNvSpPr>
            <a:spLocks noGrp="1"/>
          </p:cNvSpPr>
          <p:nvPr/>
        </p:nvSpPr>
        <p:spPr>
          <a:xfrm>
            <a:off x="6800850" y="3562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0.5634–0.8907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4332FB-0633-4356-B99C-1B0078126DC1}"/>
              </a:ext>
            </a:extLst>
          </p:cNvPr>
          <p:cNvSpPr>
            <a:spLocks noGrp="1"/>
          </p:cNvSpPr>
          <p:nvPr/>
        </p:nvSpPr>
        <p:spPr>
          <a:xfrm>
            <a:off x="5562600" y="38481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· Jaccard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F59284F3-0342-4163-99C0-D60124F023E4}"/>
              </a:ext>
            </a:extLst>
          </p:cNvPr>
          <p:cNvSpPr>
            <a:spLocks noGrp="1"/>
          </p:cNvSpPr>
          <p:nvPr/>
        </p:nvSpPr>
        <p:spPr>
          <a:xfrm>
            <a:off x="6800850" y="399097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DB0B4925-46AA-4BFA-BC1E-1BFC324D6A7C}"/>
              </a:ext>
            </a:extLst>
          </p:cNvPr>
          <p:cNvSpPr>
            <a:spLocks noGrp="1"/>
          </p:cNvSpPr>
          <p:nvPr/>
        </p:nvSpPr>
        <p:spPr>
          <a:xfrm>
            <a:off x="8637080" y="3990975"/>
            <a:ext cx="1199750" cy="0"/>
          </a:xfrm>
          <a:prstGeom prst="line">
            <a:avLst/>
          </a:prstGeom>
          <a:noFill/>
          <a:ln w="6667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5DFDFB1-5DD4-40EF-96C1-3C8D3EEC8DF1}"/>
              </a:ext>
            </a:extLst>
          </p:cNvPr>
          <p:cNvSpPr>
            <a:spLocks noGrp="1"/>
          </p:cNvSpPr>
          <p:nvPr/>
        </p:nvSpPr>
        <p:spPr>
          <a:xfrm>
            <a:off x="8579930" y="3933825"/>
            <a:ext cx="114300" cy="114300"/>
          </a:xfrm>
          <a:prstGeom prst="ellipse">
            <a:avLst/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6025108-51DD-4A7C-BED0-272528D3518A}"/>
              </a:ext>
            </a:extLst>
          </p:cNvPr>
          <p:cNvSpPr>
            <a:spLocks noGrp="1"/>
          </p:cNvSpPr>
          <p:nvPr/>
        </p:nvSpPr>
        <p:spPr>
          <a:xfrm>
            <a:off x="9779679" y="3933825"/>
            <a:ext cx="114300" cy="114300"/>
          </a:xfrm>
          <a:prstGeom prst="ellipse">
            <a:avLst/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DBFB4C3-0456-40F1-ACDB-7435A71CF0A5}"/>
              </a:ext>
            </a:extLst>
          </p:cNvPr>
          <p:cNvSpPr>
            <a:spLocks noGrp="1"/>
          </p:cNvSpPr>
          <p:nvPr/>
        </p:nvSpPr>
        <p:spPr>
          <a:xfrm>
            <a:off x="6800850" y="411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0.4590–0.7589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82D8198-8BE4-42EC-A03C-1BC1C4EBEC40}"/>
              </a:ext>
            </a:extLst>
          </p:cNvPr>
          <p:cNvSpPr>
            <a:spLocks noGrp="1"/>
          </p:cNvSpPr>
          <p:nvPr/>
        </p:nvSpPr>
        <p:spPr>
          <a:xfrm>
            <a:off x="5562600" y="45148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· ρ</a:t>
            </a:r>
          </a:p>
        </p:txBody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0B6380D6-EC81-4D07-9E41-56F6AAE4E461}"/>
              </a:ext>
            </a:extLst>
          </p:cNvPr>
          <p:cNvSpPr>
            <a:spLocks noGrp="1"/>
          </p:cNvSpPr>
          <p:nvPr/>
        </p:nvSpPr>
        <p:spPr>
          <a:xfrm>
            <a:off x="6800850" y="46577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F72AC7F-F1C5-4A6F-8FA4-BFB51BEF3971}"/>
              </a:ext>
            </a:extLst>
          </p:cNvPr>
          <p:cNvSpPr>
            <a:spLocks noGrp="1"/>
          </p:cNvSpPr>
          <p:nvPr/>
        </p:nvSpPr>
        <p:spPr>
          <a:xfrm>
            <a:off x="8143418" y="4657725"/>
            <a:ext cx="2035054" cy="0"/>
          </a:xfrm>
          <a:prstGeom prst="line">
            <a:avLst/>
          </a:prstGeom>
          <a:noFill/>
          <a:ln w="66675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C0E7CDE-6AF1-4D9E-849E-E6C5F8F75A62}"/>
              </a:ext>
            </a:extLst>
          </p:cNvPr>
          <p:cNvSpPr>
            <a:spLocks noGrp="1"/>
          </p:cNvSpPr>
          <p:nvPr/>
        </p:nvSpPr>
        <p:spPr>
          <a:xfrm>
            <a:off x="8086268" y="4600575"/>
            <a:ext cx="114300" cy="1143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E94AF44-C61A-43DD-8742-88E8C7096749}"/>
              </a:ext>
            </a:extLst>
          </p:cNvPr>
          <p:cNvSpPr>
            <a:spLocks noGrp="1"/>
          </p:cNvSpPr>
          <p:nvPr/>
        </p:nvSpPr>
        <p:spPr>
          <a:xfrm>
            <a:off x="10121322" y="4600575"/>
            <a:ext cx="114300" cy="1143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203062-F767-441A-B477-6A06D458A3BB}"/>
              </a:ext>
            </a:extLst>
          </p:cNvPr>
          <p:cNvSpPr>
            <a:spLocks noGrp="1"/>
          </p:cNvSpPr>
          <p:nvPr/>
        </p:nvSpPr>
        <p:spPr>
          <a:xfrm>
            <a:off x="6800850" y="47815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0.3356–0.8443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0B0AF40-392B-49F3-9A4D-407B20588ED0}"/>
              </a:ext>
            </a:extLst>
          </p:cNvPr>
          <p:cNvSpPr>
            <a:spLocks noGrp="1"/>
          </p:cNvSpPr>
          <p:nvPr/>
        </p:nvSpPr>
        <p:spPr>
          <a:xfrm>
            <a:off x="5334000" y="5562600"/>
            <a:ext cx="6172200" cy="438150"/>
          </a:xfrm>
          <a:prstGeom prst="roundRect">
            <a:avLst>
              <a:gd name="adj" fmla="val 21739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值得进一步检查：KernelSHAP × ImageNet–ResNet-50</a:t>
            </a:r>
          </a:p>
          <a:p>
            <a:pPr algn="ctr">
              <a:def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Spearman = 0.3356，出现明显跨种子波动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1CC8133-0849-4B40-A38B-671D0357C427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归因质量较高，并不意味着归因结果天然稳定。</a:t>
            </a:r>
          </a:p>
        </p:txBody>
      </p:sp>
    </p:spTree>
    <p:extLst>
      <p:ext uri="{BB962C8B-B14F-4D97-AF65-F5344CB8AC3E}">
        <p14:creationId xmlns:p14="http://schemas.microsoft.com/office/powerpoint/2010/main" val="238288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效率结果：更稳，需要付出多少时间代价？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365760"/>
            <a:ext cx="329184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97864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197864"/>
            <a:ext cx="3986784" cy="82296"/>
          </a:xfrm>
          <a:prstGeom prst="rect">
            <a:avLst/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380744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Microsoft YaHei"/>
              </a:defRPr>
            </a:pPr>
            <a:r>
              <a:t>Ablation｜耗时最低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55648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Microsoft YaHei"/>
              </a:defRPr>
            </a:pPr>
            <a:r>
              <a:t>86.5–91 次前向</a:t>
            </a:r>
          </a:p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Microsoft YaHei"/>
              </a:defRPr>
            </a:pPr>
            <a:r>
              <a:t>0.1912–0.2113 秒 / 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59736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459736"/>
            <a:ext cx="3986784" cy="8229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642616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02FA7"/>
                </a:solidFill>
                <a:latin typeface="Microsoft YaHei"/>
              </a:defRPr>
            </a:pPr>
            <a:r>
              <a:t>LIME / KernelSHAP｜居中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17520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每图每种子 1024 次前向</a:t>
            </a:r>
          </a:p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耗时为 Ablation 的 13.5–14.4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21608"/>
            <a:ext cx="3986784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721608"/>
            <a:ext cx="3986784" cy="82296"/>
          </a:xfrm>
          <a:prstGeom prst="rect">
            <a:avLst/>
          </a:prstGeom>
          <a:solidFill>
            <a:srgbClr val="F4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904488"/>
            <a:ext cx="3694176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47A24"/>
                </a:solidFill>
                <a:latin typeface="Microsoft YaHei"/>
              </a:defRPr>
            </a:pPr>
            <a:r>
              <a:t>RISE｜最稳也最慢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279392"/>
            <a:ext cx="369417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同为 1024 次前向</a:t>
            </a:r>
          </a:p>
          <a:p>
            <a:pPr algn="l">
              <a:spcAft>
                <a:spcPts val="0"/>
              </a:spcAft>
              <a:defRPr sz="1030" b="0">
                <a:solidFill>
                  <a:srgbClr val="17324D"/>
                </a:solidFill>
                <a:latin typeface="Microsoft YaHei"/>
              </a:defRPr>
            </a:pPr>
            <a:r>
              <a:t>耗时为 Ablation 的 28.9–31.1 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5029200"/>
            <a:ext cx="3977639" cy="457200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0160">
            <a:solidFill>
              <a:srgbClr val="F4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5029200"/>
            <a:ext cx="3977639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980" b="1">
                <a:solidFill>
                  <a:srgbClr val="F47A24"/>
                </a:solidFill>
                <a:latin typeface="Microsoft YaHei"/>
              </a:defRPr>
            </a:pPr>
            <a:r>
              <a:t>RISE 还有随机 mask 生成、上采样、平移和裁剪开销。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6904" y="1197864"/>
            <a:ext cx="6510528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3_stability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114550"/>
            <a:ext cx="6272784" cy="24643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5458968"/>
            <a:ext cx="624535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1758B"/>
                </a:solidFill>
                <a:latin typeface="Microsoft YaHei"/>
              </a:defRPr>
            </a:pPr>
            <a:r>
              <a:t>跨随机种子稳定性与归因时间的关系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007608"/>
            <a:ext cx="10835640" cy="448056"/>
          </a:xfrm>
          <a:prstGeom prst="roundRect">
            <a:avLst>
              <a:gd name="adj" fmla="val 12000"/>
            </a:avLst>
          </a:prstGeom>
          <a:solidFill>
            <a:srgbClr val="08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007608"/>
            <a:ext cx="10835640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240" b="1">
                <a:solidFill>
                  <a:srgbClr val="FFFFFF"/>
                </a:solidFill>
                <a:latin typeface="Microsoft YaHei"/>
              </a:defRPr>
            </a:pPr>
            <a:r>
              <a:t>前向次数是主要预算单位，但不能替代真实耗时；稳定性提升伴随明确的时间成本。</a:t>
            </a:r>
          </a:p>
        </p:txBody>
      </p:sp>
    </p:spTree>
    <p:extLst>
      <p:ext uri="{BB962C8B-B14F-4D97-AF65-F5344CB8AC3E}">
        <p14:creationId xmlns:p14="http://schemas.microsoft.com/office/powerpoint/2010/main" val="173290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29768"/>
            <a:ext cx="54864" cy="356616"/>
          </a:xfrm>
          <a:prstGeom prst="rect">
            <a:avLst/>
          </a:prstGeom>
          <a:solidFill>
            <a:srgbClr val="10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365760"/>
            <a:ext cx="969264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81D3A"/>
                </a:solidFill>
                <a:latin typeface="Microsoft YaHei"/>
              </a:defRPr>
            </a:pPr>
            <a:r>
              <a:t>定位性结果：ImageNet 可定位，CHNCXR 当前基本失效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365760"/>
            <a:ext cx="329184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97280"/>
            <a:ext cx="525780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ImageNet｜热图较好落在目标附近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7064" y="1097280"/>
            <a:ext cx="5239512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7A24"/>
                </a:solidFill>
                <a:latin typeface="Microsoft YaHei"/>
              </a:defRPr>
            </a:pPr>
            <a:r>
              <a:t>CHNCXR｜未可靠定位到病灶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72184"/>
            <a:ext cx="528523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6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net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67364"/>
            <a:ext cx="5138928" cy="9343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08776" y="1472184"/>
            <a:ext cx="5266944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4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ncxr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569027"/>
            <a:ext cx="5120640" cy="931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2724912"/>
            <a:ext cx="5248656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2FA7"/>
                </a:solidFill>
                <a:latin typeface="Microsoft YaHei"/>
              </a:defRPr>
            </a:pPr>
            <a:r>
              <a:t>当前观察：LIME 与 KernelSHAP 定位较好；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02FA7"/>
                </a:solidFill>
                <a:latin typeface="Microsoft YaHei"/>
              </a:defRPr>
            </a:pPr>
            <a:r>
              <a:t>Ablation 次之，RISE 热图弥散。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2724912"/>
            <a:ext cx="523951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47A24"/>
                </a:solidFill>
                <a:latin typeface="Microsoft YaHei"/>
              </a:defRPr>
            </a:pPr>
            <a:r>
              <a:t>当前观察：所有方法均未可靠命中病灶；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F47A24"/>
                </a:solidFill>
                <a:latin typeface="Microsoft YaHei"/>
              </a:defRPr>
            </a:pPr>
            <a:r>
              <a:t>RISE 接近均匀，定位性最差。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20440"/>
            <a:ext cx="5285232" cy="1060704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3685032"/>
            <a:ext cx="489204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Microsoft YaHei"/>
              </a:defRPr>
            </a:pPr>
            <a:r>
              <a:t>正能量中位数 0.3001–0.6742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050791"/>
            <a:ext cx="489204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17324D"/>
                </a:solidFill>
                <a:latin typeface="Microsoft YaHei"/>
              </a:defRPr>
            </a:pPr>
            <a:r>
              <a:t>多数组合 Pointing Game 中位数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3520440"/>
            <a:ext cx="5266944" cy="1060704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0160">
            <a:solidFill>
              <a:srgbClr val="F4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94A45"/>
                </a:solidFill>
                <a:latin typeface="Microsoft YaHei"/>
              </a:defRPr>
            </a:pPr>
            <a:r>
              <a:t>Pointing Game：0 / 160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4882896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919" b="1">
                <a:solidFill>
                  <a:srgbClr val="D94A45"/>
                </a:solidFill>
                <a:latin typeface="Microsoft YaHei"/>
              </a:defRPr>
            </a:pPr>
            <a:r>
              <a:t>正能量中位数 0–0.0232；ResNet-50 / RISE 的 25 条记录全为零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72591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47A24"/>
                </a:solidFill>
                <a:latin typeface="Microsoft YaHei"/>
              </a:defRPr>
            </a:pPr>
            <a:r>
              <a:t>待诊断原因：小病灶（中位面积 1.55%）｜SLIC 粒度｜归一化零基线｜病灶外线索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75504"/>
            <a:ext cx="10835640" cy="576072"/>
          </a:xfrm>
          <a:prstGeom prst="roundRect">
            <a:avLst>
              <a:gd name="adj" fmla="val 12000"/>
            </a:avLst>
          </a:prstGeom>
          <a:solidFill>
            <a:srgbClr val="08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1083564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Microsoft YaHei"/>
              </a:defRPr>
            </a:pPr>
            <a:r>
              <a:t>ImageNet 上 LIME 与 KernelSHAP 定位较好；CHNCXR 在当前设置下几乎所有方法失效，其中 RISE 最差。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5925312"/>
            <a:ext cx="1072591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61758B"/>
                </a:solidFill>
                <a:latin typeface="Microsoft YaHei"/>
              </a:defRPr>
            </a:pPr>
            <a:r>
              <a:t>这是一个需要解释的数据域差异，不能仅凭单张样例形成最终方法排名。</a:t>
            </a:r>
          </a:p>
        </p:txBody>
      </p:sp>
    </p:spTree>
    <p:extLst>
      <p:ext uri="{BB962C8B-B14F-4D97-AF65-F5344CB8AC3E}">
        <p14:creationId xmlns:p14="http://schemas.microsoft.com/office/powerpoint/2010/main" val="120029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8DF9212-5049-4F77-A3B7-C5091798296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AB3522-978D-41C4-8444-16744605EDB8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M3 已形成部分答案，但仍需条件验证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96B831-016B-40D5-A8AB-9B1DA088BA8B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B55C83-665F-4D6B-BEE3-F93BA18237D6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D406E7-C82E-4796-8F16-84D4E54833A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D9ED21-DAE7-4353-910C-D725043C61CB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22ED01-68DD-46CF-866B-9E1AB29FF107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RQ1｜质量 × 效率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147B96-C3E8-4518-AFC7-3CDC800253F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36D7C-FE67-4CAE-8551-9BCA43E35D7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/ KernelSHAP 忠实性较强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稳定性最好但耗时最高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计算成本最低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45824D-9FA5-46FE-9507-C86A30D5AF6F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081D3A"/>
          </a:solidFill>
          <a:ln w="11430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额外计算可以换取部分质量优势，</a:t>
            </a:r>
          </a:p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但收益维度随方法而异。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61B7C4-774D-4939-BDCB-41FCD823E814}"/>
              </a:ext>
            </a:extLst>
          </p:cNvPr>
          <p:cNvSpPr>
            <a:spLocks noGrp="1"/>
          </p:cNvSpPr>
          <p:nvPr/>
        </p:nvSpPr>
        <p:spPr>
          <a:xfrm>
            <a:off x="33909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D8E4B4-9646-4EC7-BC9F-865B3A878A94}"/>
              </a:ext>
            </a:extLst>
          </p:cNvPr>
          <p:cNvSpPr>
            <a:spLocks noGrp="1"/>
          </p:cNvSpPr>
          <p:nvPr/>
        </p:nvSpPr>
        <p:spPr>
          <a:xfrm>
            <a:off x="33909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A0D39C-05F3-4112-A16B-04E12F9AD27A}"/>
              </a:ext>
            </a:extLst>
          </p:cNvPr>
          <p:cNvSpPr>
            <a:spLocks noGrp="1"/>
          </p:cNvSpPr>
          <p:nvPr/>
        </p:nvSpPr>
        <p:spPr>
          <a:xfrm>
            <a:off x="35623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RQ2｜参数敏感性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EBCFBD-EC3B-4805-ABF0-B5F4DB7E3174}"/>
              </a:ext>
            </a:extLst>
          </p:cNvPr>
          <p:cNvSpPr>
            <a:spLocks noGrp="1"/>
          </p:cNvSpPr>
          <p:nvPr/>
        </p:nvSpPr>
        <p:spPr>
          <a:xfrm>
            <a:off x="35623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837CA8-4351-4594-9ADD-2B952B2FDFD3}"/>
              </a:ext>
            </a:extLst>
          </p:cNvPr>
          <p:cNvSpPr>
            <a:spLocks noGrp="1"/>
          </p:cNvSpPr>
          <p:nvPr/>
        </p:nvSpPr>
        <p:spPr>
          <a:xfrm>
            <a:off x="35623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医学小病灶与当前粒度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存在明显不匹配风险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出现种子波动组合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C461D-C979-4F00-8B88-2D3F01FF1C63}"/>
              </a:ext>
            </a:extLst>
          </p:cNvPr>
          <p:cNvSpPr>
            <a:spLocks noGrp="1"/>
          </p:cNvSpPr>
          <p:nvPr/>
        </p:nvSpPr>
        <p:spPr>
          <a:xfrm>
            <a:off x="35623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尚未正式回答</a:t>
            </a:r>
          </a:p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下一步：单因素参数扫描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704A9C-8C25-4192-B124-A2F9A1D1E90A}"/>
              </a:ext>
            </a:extLst>
          </p:cNvPr>
          <p:cNvSpPr>
            <a:spLocks noGrp="1"/>
          </p:cNvSpPr>
          <p:nvPr/>
        </p:nvSpPr>
        <p:spPr>
          <a:xfrm>
            <a:off x="62865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2C9E6B-DD53-4507-912F-2DA46DA80D6E}"/>
              </a:ext>
            </a:extLst>
          </p:cNvPr>
          <p:cNvSpPr>
            <a:spLocks noGrp="1"/>
          </p:cNvSpPr>
          <p:nvPr/>
        </p:nvSpPr>
        <p:spPr>
          <a:xfrm>
            <a:off x="62865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7B1242-57DB-4BB5-A2D7-3EDFE22CDE7A}"/>
              </a:ext>
            </a:extLst>
          </p:cNvPr>
          <p:cNvSpPr>
            <a:spLocks noGrp="1"/>
          </p:cNvSpPr>
          <p:nvPr/>
        </p:nvSpPr>
        <p:spPr>
          <a:xfrm>
            <a:off x="64579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RQ3｜理论 × 实践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D6246D-187C-4F7A-8688-DA3E392E61B6}"/>
              </a:ext>
            </a:extLst>
          </p:cNvPr>
          <p:cNvSpPr>
            <a:spLocks noGrp="1"/>
          </p:cNvSpPr>
          <p:nvPr/>
        </p:nvSpPr>
        <p:spPr>
          <a:xfrm>
            <a:off x="64579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2A8053-2E85-419E-87E7-05067270DD21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efficiency 约束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已通过数值检查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未形成全面质量优势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D00FD86-A9CA-41C9-8702-B38F0DE2D3EF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仍需预算扫描</a:t>
            </a:r>
          </a:p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与梯度类交叉比较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476637-A621-4D10-A7DE-E7C014E5FA4A}"/>
              </a:ext>
            </a:extLst>
          </p:cNvPr>
          <p:cNvSpPr>
            <a:spLocks noGrp="1"/>
          </p:cNvSpPr>
          <p:nvPr/>
        </p:nvSpPr>
        <p:spPr>
          <a:xfrm>
            <a:off x="9163050" y="17145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AB88539-AA19-4F6F-BFE3-8B99414FD7F6}"/>
              </a:ext>
            </a:extLst>
          </p:cNvPr>
          <p:cNvSpPr>
            <a:spLocks noGrp="1"/>
          </p:cNvSpPr>
          <p:nvPr/>
        </p:nvSpPr>
        <p:spPr>
          <a:xfrm>
            <a:off x="10172700" y="240030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ADCD75-8BA2-4AFF-9C10-E4CD12EDC3F8}"/>
              </a:ext>
            </a:extLst>
          </p:cNvPr>
          <p:cNvSpPr>
            <a:spLocks noGrp="1"/>
          </p:cNvSpPr>
          <p:nvPr/>
        </p:nvSpPr>
        <p:spPr>
          <a:xfrm>
            <a:off x="10172700" y="2400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461C47-9D90-49EF-B8A6-C637DB3B2DF4}"/>
              </a:ext>
            </a:extLst>
          </p:cNvPr>
          <p:cNvSpPr>
            <a:spLocks noGrp="1"/>
          </p:cNvSpPr>
          <p:nvPr/>
        </p:nvSpPr>
        <p:spPr>
          <a:xfrm>
            <a:off x="9353550" y="28765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RQ1：部分回答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BF77FD-5910-4713-A5E7-87FE65E8CD5B}"/>
              </a:ext>
            </a:extLst>
          </p:cNvPr>
          <p:cNvSpPr>
            <a:spLocks noGrp="1"/>
          </p:cNvSpPr>
          <p:nvPr/>
        </p:nvSpPr>
        <p:spPr>
          <a:xfrm>
            <a:off x="10182225" y="35623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61C307-72B9-490E-A431-8A5105C1774A}"/>
              </a:ext>
            </a:extLst>
          </p:cNvPr>
          <p:cNvSpPr>
            <a:spLocks noGrp="1"/>
          </p:cNvSpPr>
          <p:nvPr/>
        </p:nvSpPr>
        <p:spPr>
          <a:xfrm>
            <a:off x="9353550" y="3981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RQ2 / RQ3：待验证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BEC8C4F-AB88-4140-B10E-D3ADED0E610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已确认差异存在。M4 将验证这些差异是否由参数、数据域或方法机制造成。</a:t>
            </a:r>
          </a:p>
        </p:txBody>
      </p:sp>
    </p:spTree>
    <p:extLst>
      <p:ext uri="{BB962C8B-B14F-4D97-AF65-F5344CB8AC3E}">
        <p14:creationId xmlns:p14="http://schemas.microsoft.com/office/powerpoint/2010/main" val="128418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09A554C-0B24-4380-9FB7-E8F81ADE49D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2F96F-C569-4E24-ACF5-C548EE36DAD1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下一阶段：解释差异来源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CF213-D837-429F-972E-218BCDFCC3AA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E705F5-73EC-4165-B1AF-EB36C8B0CD5A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32E37B-959D-4684-8B8C-8D57D8495AA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038703-8574-4A76-979B-09457CE409E1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9ACD27-5266-42C2-B53C-9863175BC965}"/>
              </a:ext>
            </a:extLst>
          </p:cNvPr>
          <p:cNvSpPr>
            <a:spLocks noGrp="1"/>
          </p:cNvSpPr>
          <p:nvPr/>
        </p:nvSpPr>
        <p:spPr>
          <a:xfrm>
            <a:off x="142875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医学域定位诊断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014721-0F15-40CF-84A5-0F5E2E51FB04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配置选择集：86 张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SLIC：50 / 100 / 200 / 300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grid：4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遮蔽率：0.25 / 0.50 / 0.75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6E6849-893D-4121-9E9D-57EFF71BB981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单因素扫描，不做完整笛卡尔积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ACB0E0-C755-489F-85EC-F3704259F8AD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50880C-7166-4649-863F-F4EEF603E74B}"/>
              </a:ext>
            </a:extLst>
          </p:cNvPr>
          <p:cNvSpPr>
            <a:spLocks noGrp="1"/>
          </p:cNvSpPr>
          <p:nvPr/>
        </p:nvSpPr>
        <p:spPr>
          <a:xfrm>
            <a:off x="640080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B0963C-2116-4969-BFE3-D5A0A6460A09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KernelSHAP 预算扫描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FCC801-DB47-49C3-9864-41E181434749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重点：ImageNet × ResNet-50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检查：Spearman / Jaccard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判断稳定性收益是否值得额外计算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7DD105-BF26-4325-AC93-DD434D2DBA97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更高预算能否改善稳定性？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BDB483C-7EFB-48F5-8873-BCA3B3857D75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CDDCA9-E913-44C8-84AC-EBDD260CF3BA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C57808-CFA7-4DF0-AFD1-18F141FB2E5F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 质量—成本权衡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3161AA-F362-47F0-8329-CC13DE98A7B3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网格：4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同步观察：忠实性、定位性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稳定性与归因时间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分析网格细化的多指标联动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9DB7D1-C071-43CD-A13A-2DA9EE812A4C}"/>
              </a:ext>
            </a:extLst>
          </p:cNvPr>
          <p:cNvSpPr>
            <a:spLocks noGrp="1"/>
          </p:cNvSpPr>
          <p:nvPr/>
        </p:nvSpPr>
        <p:spPr>
          <a:xfrm>
            <a:off x="89535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保持统一模型输出和预算计数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D2B94FA-4084-4097-92E3-AFC11098DF79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8CC4104-4428-4156-BA62-93886D3599D5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77A98C-D536-46BE-A392-65036F6067EF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交叉比较与选做实验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9FBC9-5E93-47D1-8A31-D251F1871E12}"/>
              </a:ext>
            </a:extLst>
          </p:cNvPr>
          <p:cNvSpPr>
            <a:spLocks noGrp="1"/>
          </p:cNvSpPr>
          <p:nvPr/>
        </p:nvSpPr>
        <p:spPr>
          <a:xfrm>
            <a:off x="643890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IG / EG / Grad-CAM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与核心方法做同协议交叉比较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OrdShap：4 × 4 图块位置扰动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核验二维图像包装与模型调用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9F4C59-943D-49FB-9B69-4416FE545303}"/>
              </a:ext>
            </a:extLst>
          </p:cNvPr>
          <p:cNvSpPr>
            <a:spLocks noGrp="1"/>
          </p:cNvSpPr>
          <p:nvPr/>
        </p:nvSpPr>
        <p:spPr>
          <a:xfrm>
            <a:off x="643890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OrdShap 标记为探索性实验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0495893-9866-4CCE-8AD7-6C22BFBF8589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381000"/>
          </a:xfrm>
          <a:prstGeom prst="roundRect">
            <a:avLst>
              <a:gd name="adj" fmla="val 2500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 针对 M3 已发现的问题开展定向验证，重点解释差异来源。</a:t>
            </a:r>
          </a:p>
        </p:txBody>
      </p:sp>
    </p:spTree>
    <p:extLst>
      <p:ext uri="{BB962C8B-B14F-4D97-AF65-F5344CB8AC3E}">
        <p14:creationId xmlns:p14="http://schemas.microsoft.com/office/powerpoint/2010/main" val="16594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95708A9-FAEB-4A6A-B04C-BB17DBA6C3D8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76E25B-4F2F-4D83-B152-93C6BFA959E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从初步结果走向可复现结论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7A147B-A7BD-4A07-B778-818297D6982A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D30B3-65FF-48AE-8940-445B28AB4A04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BC2CEA-4A20-496A-9178-5703C0E5415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2571750" cy="2819400"/>
          </a:xfrm>
          <a:prstGeom prst="roundRect">
            <a:avLst>
              <a:gd name="adj" fmla="val 592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4A7CBC-E03A-42A5-8283-9501DA59929F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M3｜已完成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5F3A802-BF54-4354-AAFD-F2DCA2D98056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1907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376947-8BE7-4713-91A9-D9D5C6B2E14E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21526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统一实现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默认配置初步比较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99198ED-B60B-4227-9484-F76E02F0C071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59EF62-8431-4DC3-9FBE-5783D775E3E1}"/>
              </a:ext>
            </a:extLst>
          </p:cNvPr>
          <p:cNvSpPr>
            <a:spLocks noGrp="1"/>
          </p:cNvSpPr>
          <p:nvPr/>
        </p:nvSpPr>
        <p:spPr>
          <a:xfrm>
            <a:off x="3581400" y="1352550"/>
            <a:ext cx="3429000" cy="2819400"/>
          </a:xfrm>
          <a:prstGeom prst="roundRect">
            <a:avLst>
              <a:gd name="adj" fmla="val 5405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3AA407-1478-43F3-B486-7698B02067C6}"/>
              </a:ext>
            </a:extLst>
          </p:cNvPr>
          <p:cNvSpPr>
            <a:spLocks noGrp="1"/>
          </p:cNvSpPr>
          <p:nvPr/>
        </p:nvSpPr>
        <p:spPr>
          <a:xfrm>
            <a:off x="3771900" y="15621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M4｜完整实验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A541976-21FB-486D-9D75-D9BA637A3C9F}"/>
              </a:ext>
            </a:extLst>
          </p:cNvPr>
          <p:cNvSpPr>
            <a:spLocks noGrp="1"/>
          </p:cNvSpPr>
          <p:nvPr/>
        </p:nvSpPr>
        <p:spPr>
          <a:xfrm>
            <a:off x="3771900" y="2076450"/>
            <a:ext cx="304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C828FD-BA30-49D0-ADAC-E4FE26467B14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参数敏感性与异常诊断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梯度类交叉比较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医学域配置冻结与最终评价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EC903DAA-57CD-43C2-B5C5-69F1D68D955A}"/>
              </a:ext>
            </a:extLst>
          </p:cNvPr>
          <p:cNvSpPr>
            <a:spLocks noGrp="1"/>
          </p:cNvSpPr>
          <p:nvPr/>
        </p:nvSpPr>
        <p:spPr>
          <a:xfrm>
            <a:off x="7086600" y="2647950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A82CEC-1155-4543-8D06-8B08A1571D62}"/>
              </a:ext>
            </a:extLst>
          </p:cNvPr>
          <p:cNvSpPr>
            <a:spLocks noGrp="1"/>
          </p:cNvSpPr>
          <p:nvPr/>
        </p:nvSpPr>
        <p:spPr>
          <a:xfrm>
            <a:off x="7334250" y="1352550"/>
            <a:ext cx="4171950" cy="2819400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C33D9F-04BA-4966-95C1-9AFFB690EEDC}"/>
              </a:ext>
            </a:extLst>
          </p:cNvPr>
          <p:cNvSpPr>
            <a:spLocks noGrp="1"/>
          </p:cNvSpPr>
          <p:nvPr/>
        </p:nvSpPr>
        <p:spPr>
          <a:xfrm>
            <a:off x="7524750" y="1562100"/>
            <a:ext cx="3790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M5｜最终成果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C60CC57-1A7A-45CE-8983-0C62CB6AB9C4}"/>
              </a:ext>
            </a:extLst>
          </p:cNvPr>
          <p:cNvSpPr>
            <a:spLocks noGrp="1"/>
          </p:cNvSpPr>
          <p:nvPr/>
        </p:nvSpPr>
        <p:spPr>
          <a:xfrm>
            <a:off x="7524750" y="2076450"/>
            <a:ext cx="37909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1F6E11-8423-484B-8DA3-5FDF2B705467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37528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配对统计与置信区间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Wilcoxon + Holm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RQ1–RQ3 最终回答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代码、结果与复现说明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报告与答辩 PPT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B2F959-1E8D-4DED-AF36-AD802AA4DA77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配置选择与最终评价严格分离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089D29-8073-4D61-82C6-996D9B397948}"/>
              </a:ext>
            </a:extLst>
          </p:cNvPr>
          <p:cNvSpPr>
            <a:spLocks noGrp="1"/>
          </p:cNvSpPr>
          <p:nvPr/>
        </p:nvSpPr>
        <p:spPr>
          <a:xfrm>
            <a:off x="175260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配置选择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8A93EDF-8489-4B6D-8D4F-1CD8C7363313}"/>
              </a:ext>
            </a:extLst>
          </p:cNvPr>
          <p:cNvSpPr>
            <a:spLocks noGrp="1"/>
          </p:cNvSpPr>
          <p:nvPr/>
        </p:nvSpPr>
        <p:spPr>
          <a:xfrm>
            <a:off x="4133850" y="5153025"/>
            <a:ext cx="2857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F408947-7942-444C-BE13-717AA3CFF271}"/>
              </a:ext>
            </a:extLst>
          </p:cNvPr>
          <p:cNvSpPr>
            <a:spLocks noGrp="1"/>
          </p:cNvSpPr>
          <p:nvPr/>
        </p:nvSpPr>
        <p:spPr>
          <a:xfrm>
            <a:off x="447675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冻结配置 🔒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67E9BE7-C38D-434E-ADBA-CEE6783772FF}"/>
              </a:ext>
            </a:extLst>
          </p:cNvPr>
          <p:cNvSpPr>
            <a:spLocks noGrp="1"/>
          </p:cNvSpPr>
          <p:nvPr/>
        </p:nvSpPr>
        <p:spPr>
          <a:xfrm>
            <a:off x="6858000" y="5153025"/>
            <a:ext cx="2857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44D50A-A23A-4B0A-99D6-AD050386CD11}"/>
              </a:ext>
            </a:extLst>
          </p:cNvPr>
          <p:cNvSpPr>
            <a:spLocks noGrp="1"/>
          </p:cNvSpPr>
          <p:nvPr/>
        </p:nvSpPr>
        <p:spPr>
          <a:xfrm>
            <a:off x="720090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最终评价一次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05121BA-8E8E-4726-A66C-96F01C98B291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419100"/>
          </a:xfrm>
          <a:prstGeom prst="roundRect">
            <a:avLst>
              <a:gd name="adj" fmla="val 2272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冻结配置后再进入最终评价，避免根据测试结果反复调参。</a:t>
            </a:r>
          </a:p>
        </p:txBody>
      </p:sp>
    </p:spTree>
    <p:extLst>
      <p:ext uri="{BB962C8B-B14F-4D97-AF65-F5344CB8AC3E}">
        <p14:creationId xmlns:p14="http://schemas.microsoft.com/office/powerpoint/2010/main" val="87235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AAC4375-F487-4D19-8CA0-198844BE6F1B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F8F04-9B5B-4009-B553-73ED16991E03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模块负责制与交叉复核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F3D36F-8BD5-4BE8-898C-448CDA42B0A5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0FF671-B42B-4A9B-A321-AD3CB0953BF9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39E9FE-5147-4C19-905A-E865BA533E7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1B0FB0-B1F1-4D5B-A13C-36E2FD117DC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7501B2-103B-48FE-B156-F333EC78FFF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杜孟泽｜数据模块 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1CD914-E492-47A9-943C-F815F0AB1C35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数据获取与合规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数据划分、预处理与 EDA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 与定位 mask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47CC45-9DAC-4985-968E-944B35DE07B1}"/>
              </a:ext>
            </a:extLst>
          </p:cNvPr>
          <p:cNvSpPr>
            <a:spLocks noGrp="1"/>
          </p:cNvSpPr>
          <p:nvPr/>
        </p:nvSpPr>
        <p:spPr>
          <a:xfrm>
            <a:off x="2933700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复核 R2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51994EB-E014-4D4B-8D90-D1CBA2E07F71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407945-9534-4A7F-99B4-A3A5A7E23541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59577-73E8-40E0-923A-73579A32D9D4}"/>
              </a:ext>
            </a:extLst>
          </p:cNvPr>
          <p:cNvSpPr>
            <a:spLocks noGrp="1"/>
          </p:cNvSpPr>
          <p:nvPr/>
        </p:nvSpPr>
        <p:spPr>
          <a:xfrm>
            <a:off x="4486275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张泰瑜｜模型模块 R2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2CF39D-584E-4AD3-BD48-1DBA5948C2BF}"/>
              </a:ext>
            </a:extLst>
          </p:cNvPr>
          <p:cNvSpPr>
            <a:spLocks noGrp="1"/>
          </p:cNvSpPr>
          <p:nvPr/>
        </p:nvSpPr>
        <p:spPr>
          <a:xfrm>
            <a:off x="4486275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ResNet-50 / VGG13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 value function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前向计数、缓存与 batch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BEDE0B-8BC2-453A-8F3D-5BA6C3428FC0}"/>
              </a:ext>
            </a:extLst>
          </p:cNvPr>
          <p:cNvSpPr>
            <a:spLocks noGrp="1"/>
          </p:cNvSpPr>
          <p:nvPr/>
        </p:nvSpPr>
        <p:spPr>
          <a:xfrm>
            <a:off x="6753225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复核 R3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964DD7B-D237-4BB2-8CF3-CF29EA03EB58}"/>
              </a:ext>
            </a:extLst>
          </p:cNvPr>
          <p:cNvSpPr>
            <a:spLocks noGrp="1"/>
          </p:cNvSpPr>
          <p:nvPr/>
        </p:nvSpPr>
        <p:spPr>
          <a:xfrm>
            <a:off x="8134350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1900E6-AD6C-40E8-A6DF-60DBE6A3F167}"/>
              </a:ext>
            </a:extLst>
          </p:cNvPr>
          <p:cNvSpPr>
            <a:spLocks noGrp="1"/>
          </p:cNvSpPr>
          <p:nvPr/>
        </p:nvSpPr>
        <p:spPr>
          <a:xfrm>
            <a:off x="8134350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5BDFE2-438C-4BB7-AC52-29FE565AF182}"/>
              </a:ext>
            </a:extLst>
          </p:cNvPr>
          <p:cNvSpPr>
            <a:spLocks noGrp="1"/>
          </p:cNvSpPr>
          <p:nvPr/>
        </p:nvSpPr>
        <p:spPr>
          <a:xfrm>
            <a:off x="8305800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邹研泽｜方法模块 R3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FD078A-D1AA-4656-9B4C-F0A89A832C9D}"/>
              </a:ext>
            </a:extLst>
          </p:cNvPr>
          <p:cNvSpPr>
            <a:spLocks noGrp="1"/>
          </p:cNvSpPr>
          <p:nvPr/>
        </p:nvSpPr>
        <p:spPr>
          <a:xfrm>
            <a:off x="8305800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 / KernelSHAP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后续梯度基线与交互分析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66824F-ABF9-4FE8-A472-FC3476EE56A6}"/>
              </a:ext>
            </a:extLst>
          </p:cNvPr>
          <p:cNvSpPr>
            <a:spLocks noGrp="1"/>
          </p:cNvSpPr>
          <p:nvPr/>
        </p:nvSpPr>
        <p:spPr>
          <a:xfrm>
            <a:off x="10572750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复核 R4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6F26989-3FEA-4FE9-90C8-45302D1B5119}"/>
              </a:ext>
            </a:extLst>
          </p:cNvPr>
          <p:cNvSpPr>
            <a:spLocks noGrp="1"/>
          </p:cNvSpPr>
          <p:nvPr/>
        </p:nvSpPr>
        <p:spPr>
          <a:xfrm>
            <a:off x="2400300" y="333375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C985658-7757-498B-884E-0F2EFDA921AE}"/>
              </a:ext>
            </a:extLst>
          </p:cNvPr>
          <p:cNvSpPr>
            <a:spLocks noGrp="1"/>
          </p:cNvSpPr>
          <p:nvPr/>
        </p:nvSpPr>
        <p:spPr>
          <a:xfrm>
            <a:off x="2400300" y="333375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1223F8-D9FE-48AD-BB4F-7FC7FAE69F67}"/>
              </a:ext>
            </a:extLst>
          </p:cNvPr>
          <p:cNvSpPr>
            <a:spLocks noGrp="1"/>
          </p:cNvSpPr>
          <p:nvPr/>
        </p:nvSpPr>
        <p:spPr>
          <a:xfrm>
            <a:off x="2571750" y="354330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陈纪仰｜实验模块 R4 / 组长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A948A2-77EE-4150-A2B3-34F1777403C3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评价指标与实验驱动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预算对齐、断点恢复与实验审计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项目协调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098997F-7D21-4ED0-BB79-B1427947295F}"/>
              </a:ext>
            </a:extLst>
          </p:cNvPr>
          <p:cNvSpPr>
            <a:spLocks noGrp="1"/>
          </p:cNvSpPr>
          <p:nvPr/>
        </p:nvSpPr>
        <p:spPr>
          <a:xfrm>
            <a:off x="4838700" y="47053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复核 R5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6D8A430-98C4-4584-8CFE-DFB548BB7774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E938AF-0CAF-4C4A-B458-E3B8B39B48B1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0B7C5"/>
          </a:solidFill>
          <a:ln w="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CE1EDD-3507-496C-BB09-8352370F0C2F}"/>
              </a:ext>
            </a:extLst>
          </p:cNvPr>
          <p:cNvSpPr>
            <a:spLocks noGrp="1"/>
          </p:cNvSpPr>
          <p:nvPr/>
        </p:nvSpPr>
        <p:spPr>
          <a:xfrm>
            <a:off x="6400800" y="354330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朱炳政｜分析与文档 R5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A67F10-B48E-4CF5-8AC3-5036C5917657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配对统计与数据可视化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阶段报告、最终报告与答辩材料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9BEFB05-BC8A-4223-B177-BD9A7EDEBC99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B7C5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复核 R1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EE59852-C5B6-4C43-A64D-830462D411E0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438150"/>
          </a:xfrm>
          <a:prstGeom prst="roundRect">
            <a:avLst>
              <a:gd name="adj" fmla="val 21739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已完成四种核心方法的统一实现和第一轮完整比较。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07A8C7-B95F-460A-8EF2-7B8C69B98D46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M4 将解释差异来源，并验证结论是否随参数、数据域和方法类别保持。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714CBBE-C449-4E57-8F38-3540E939164F}"/>
              </a:ext>
            </a:extLst>
          </p:cNvPr>
          <p:cNvSpPr>
            <a:spLocks noGrp="1"/>
          </p:cNvSpPr>
          <p:nvPr/>
        </p:nvSpPr>
        <p:spPr>
          <a:xfrm>
            <a:off x="9886950" y="632460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COMPLETE</a:t>
            </a:r>
          </a:p>
        </p:txBody>
      </p:sp>
    </p:spTree>
    <p:extLst>
      <p:ext uri="{BB962C8B-B14F-4D97-AF65-F5344CB8AC3E}">
        <p14:creationId xmlns:p14="http://schemas.microsoft.com/office/powerpoint/2010/main" val="1823975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1053</Words>
  <Application>Microsoft Office PowerPoint</Application>
  <DocSecurity>0</DocSecurity>
  <PresentationFormat>宽屏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emma1220kunby@126.com</cp:lastModifiedBy>
  <cp:revision>2</cp:revision>
  <dcterms:created xsi:type="dcterms:W3CDTF">2026-09-20T03:41:41Z</dcterms:created>
  <dcterms:modified xsi:type="dcterms:W3CDTF">2026-09-22T04:26:38Z</dcterms:modified>
</cp:coreProperties>
</file>