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53.xml" ContentType="application/vnd.openxmlformats-officedocument.presentationml.tags+xml"/>
  <Override PartName="/ppt/notesSlides/notesSlide6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7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13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1" r:id="rId2"/>
  </p:sldMasterIdLst>
  <p:notesMasterIdLst>
    <p:notesMasterId r:id="rId21"/>
  </p:notesMasterIdLst>
  <p:sldIdLst>
    <p:sldId id="270" r:id="rId3"/>
    <p:sldId id="258" r:id="rId4"/>
    <p:sldId id="272" r:id="rId5"/>
    <p:sldId id="285" r:id="rId6"/>
    <p:sldId id="260" r:id="rId7"/>
    <p:sldId id="283" r:id="rId8"/>
    <p:sldId id="286" r:id="rId9"/>
    <p:sldId id="288" r:id="rId10"/>
    <p:sldId id="262" r:id="rId11"/>
    <p:sldId id="273" r:id="rId12"/>
    <p:sldId id="264" r:id="rId13"/>
    <p:sldId id="265" r:id="rId14"/>
    <p:sldId id="266" r:id="rId15"/>
    <p:sldId id="287" r:id="rId16"/>
    <p:sldId id="268" r:id="rId17"/>
    <p:sldId id="284" r:id="rId18"/>
    <p:sldId id="437" r:id="rId19"/>
    <p:sldId id="289" r:id="rId20"/>
  </p:sldIdLst>
  <p:sldSz cx="12192000" cy="6858000"/>
  <p:notesSz cx="6858000" cy="9144000"/>
  <p:embeddedFontLst>
    <p:embeddedFont>
      <p:font typeface="Microsoft YaHei UI" panose="020B0503020204020204" pitchFamily="34" charset="-122"/>
      <p:regular r:id="rId22"/>
      <p:bold r:id="rId23"/>
    </p:embeddedFont>
    <p:embeddedFont>
      <p:font typeface="方正风雅宋简体" panose="02000000000000000000" pitchFamily="2" charset="-122"/>
      <p:regular r:id="rId24"/>
    </p:embeddedFont>
    <p:embeddedFont>
      <p:font typeface="微软雅黑" panose="020B0503020204020204" pitchFamily="34" charset="-122"/>
      <p:regular r:id="rId25"/>
      <p:bold r:id="rId2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5798"/>
    <a:srgbClr val="FFFFFF"/>
    <a:srgbClr val="2A2928"/>
    <a:srgbClr val="5197D5"/>
    <a:srgbClr val="1670D2"/>
    <a:srgbClr val="1A2B5E"/>
    <a:srgbClr val="3A8FD4"/>
    <a:srgbClr val="1160FF"/>
    <a:srgbClr val="002FA7"/>
    <a:srgbClr val="079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350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封面延续 M1 的克莱因蓝瑞士风。右侧热图为生成的教学示意，不代表真实实验结果或方法排名。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M1 完成问题与方案，M2 打通流程，M3 完成 KernelSHAP 接入及第一轮四方法统一比较。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13602-3D4C-D779-E84C-EF6A474C8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1104B-56C7-98B5-25FD-9356B1438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25F57-3FD1-C89F-9E04-4A1924F8F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C98D3-E786-20E2-9497-C5B9F303FC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59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ImageNet 固定 10 张，CHNCXR 固定 10 张。每个数据域 320 条实验记录完整。KernelSHAP 的 200 次运行设计矩阵全部满秩。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封面延续 M1 的克莱因蓝瑞士风。右侧热图为生成的教学示意，不代表真实实验结果或方法排名。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63BE2-327B-7058-CA63-EDFCB5B2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AF00E6-13CF-72F7-4D28-D3ADA8F5D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72213-8B10-100E-BB64-38A31BDFF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4BDF8-68BC-4A1E-9DF4-F9007DB93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42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710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未提供四个组合的绝对 AUC 数值，因此本页只呈现材料明确支持的领先关系，不绘制虚构坐标。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RISE 的跨种子 Spearman 为 0.9920–0.9943，Top-20% Jaccard 为 0.8873–0.9230。异常组合仍需预算扫描验证。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Ablation 的实际前向次数随区域数变化。LIME、RISE 和 KernelSHAP 的默认预算均为 1024，但 RISE 仍有更高的遮蔽生成与处理成本。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CHNCXR 的定位异常是 M4 的优先诊断对象。病灶面积、粒度、基线和模型真实依赖均可能影响结果。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RQ1 获得阶段性回答。RQ2 仍需参数扫描，RQ3 </a:t>
            </a:r>
            <a:r>
              <a:rPr dirty="0" err="1"/>
              <a:t>仍需预算扫描与梯度类交叉比较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1E57A-3BE0-671E-7023-BD16A68CC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E2AB7-0CBA-2CA4-55F6-EA7EB298A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2C747-C1C0-0EE2-A723-0993B9BFB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A774D-787B-041D-3B3D-28D5B77B92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157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M5 将完成配对统计、置信区间、显著性检验、最终研究问题回答和可复现交付。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医学域定位诊断、KernelSHAP 预算扫描、RISE 权衡分析为优先任务。OrdShap 为探索性选做实验。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建议讲述约 20 秒：我们五位成员分别负责数据鉴定、模型与框架、质控分析、评价筛选，以及稳健性实验和复现。项目累计完成三十五次 GitHub 提交，开展十八次组内和跨组交流。</a:t>
            </a:r>
          </a:p>
          <a:p>
            <a:endParaRPr/>
          </a:p>
          <a:p>
            <a:r>
              <a:t>资料来源：姓名、39 次提交、18 次会议及三张图片由汇报人提供。职责表按汇报人要求，结合 GV02-03 完整项目模块重新整理，供团队确认各自负责范围。技术模块依据 GV02-03_项目流程进度与分工.md 和项目报告。</a:t>
            </a:r>
          </a:p>
          <a:p>
            <a:r>
              <a:t>协作材料：5 位成员，累计 39 次 GitHub 提交；18 次小组纪要。图片为用户提供的 GitHub 提交记录和小组会议纪要示例。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EA0B6-8D64-073B-4B35-9ED3AF088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23E318-CA6E-9325-C592-3D02B16F6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912C4-DFD8-9AE3-DCAB-65CB6A5F8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封面延续 M1 的克莱因蓝瑞士风。右侧热图为生成的教学示意，不代表真实实验结果或方法排名。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30D3F-30DF-949C-09CF-5E2286FAAD8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390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9469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75411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标题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660900" y="547370"/>
            <a:ext cx="2870200" cy="857250"/>
          </a:xfrm>
        </p:spPr>
        <p:txBody>
          <a:bodyPr wrap="square">
            <a:normAutofit/>
          </a:bodyPr>
          <a:lstStyle>
            <a:lvl1pPr algn="ctr">
              <a:defRPr sz="4400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259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098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标题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660900" y="547370"/>
            <a:ext cx="2870200" cy="857250"/>
          </a:xfrm>
        </p:spPr>
        <p:txBody>
          <a:bodyPr wrap="square">
            <a:normAutofit/>
          </a:bodyPr>
          <a:lstStyle>
            <a:lvl1pPr algn="ctr">
              <a:defRPr sz="4400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16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heme" Target="../theme/theme2.xml"/><Relationship Id="rId7" Type="http://schemas.openxmlformats.org/officeDocument/2006/relationships/tags" Target="../tags/tag8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94690" y="676910"/>
            <a:ext cx="10800080" cy="53594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94690" y="1435735"/>
            <a:ext cx="10799445" cy="474218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9469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75411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ea"/>
          <a:ea typeface="+mj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3" Type="http://schemas.openxmlformats.org/officeDocument/2006/relationships/tags" Target="../tags/tag17.xml"/><Relationship Id="rId21" Type="http://schemas.openxmlformats.org/officeDocument/2006/relationships/notesSlide" Target="../notesSlides/notesSlide2.xml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0" Type="http://schemas.openxmlformats.org/officeDocument/2006/relationships/slideLayout" Target="../slideLayouts/slideLayout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5" Type="http://schemas.openxmlformats.org/officeDocument/2006/relationships/tags" Target="../tags/tag29.xml"/><Relationship Id="rId10" Type="http://schemas.openxmlformats.org/officeDocument/2006/relationships/tags" Target="../tags/tag24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3" Type="http://schemas.openxmlformats.org/officeDocument/2006/relationships/tags" Target="../tags/tag36.xml"/><Relationship Id="rId21" Type="http://schemas.openxmlformats.org/officeDocument/2006/relationships/notesSlide" Target="../notesSlides/notesSlide4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slideLayout" Target="../slideLayouts/slideLayout3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18" Type="http://schemas.openxmlformats.org/officeDocument/2006/relationships/tags" Target="../tags/tag71.xml"/><Relationship Id="rId3" Type="http://schemas.openxmlformats.org/officeDocument/2006/relationships/tags" Target="../tags/tag56.xml"/><Relationship Id="rId21" Type="http://schemas.openxmlformats.org/officeDocument/2006/relationships/notesSlide" Target="../notesSlides/notesSlide7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tags" Target="../tags/tag70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20" Type="http://schemas.openxmlformats.org/officeDocument/2006/relationships/slideLayout" Target="../slideLayouts/slideLayout3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10" Type="http://schemas.openxmlformats.org/officeDocument/2006/relationships/tags" Target="../tags/tag63.xml"/><Relationship Id="rId19" Type="http://schemas.openxmlformats.org/officeDocument/2006/relationships/tags" Target="../tags/tag72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Relationship Id="rId22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10" Type="http://schemas.openxmlformats.org/officeDocument/2006/relationships/notesSlide" Target="../notesSlides/notesSlide8.xml"/><Relationship Id="rId4" Type="http://schemas.openxmlformats.org/officeDocument/2006/relationships/tags" Target="../tags/tag76.xml"/><Relationship Id="rId9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tags" Target="../tags/tag100.xml"/><Relationship Id="rId18" Type="http://schemas.openxmlformats.org/officeDocument/2006/relationships/tags" Target="../tags/tag105.xml"/><Relationship Id="rId3" Type="http://schemas.openxmlformats.org/officeDocument/2006/relationships/tags" Target="../tags/tag90.xml"/><Relationship Id="rId21" Type="http://schemas.openxmlformats.org/officeDocument/2006/relationships/notesSlide" Target="../notesSlides/notesSlide14.xml"/><Relationship Id="rId7" Type="http://schemas.openxmlformats.org/officeDocument/2006/relationships/tags" Target="../tags/tag94.xml"/><Relationship Id="rId12" Type="http://schemas.openxmlformats.org/officeDocument/2006/relationships/tags" Target="../tags/tag99.xml"/><Relationship Id="rId17" Type="http://schemas.openxmlformats.org/officeDocument/2006/relationships/tags" Target="../tags/tag104.xml"/><Relationship Id="rId2" Type="http://schemas.openxmlformats.org/officeDocument/2006/relationships/tags" Target="../tags/tag89.xml"/><Relationship Id="rId16" Type="http://schemas.openxmlformats.org/officeDocument/2006/relationships/tags" Target="../tags/tag103.xml"/><Relationship Id="rId20" Type="http://schemas.openxmlformats.org/officeDocument/2006/relationships/slideLayout" Target="../slideLayouts/slideLayout3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5" Type="http://schemas.openxmlformats.org/officeDocument/2006/relationships/tags" Target="../tags/tag92.xml"/><Relationship Id="rId15" Type="http://schemas.openxmlformats.org/officeDocument/2006/relationships/tags" Target="../tags/tag102.xml"/><Relationship Id="rId10" Type="http://schemas.openxmlformats.org/officeDocument/2006/relationships/tags" Target="../tags/tag97.xml"/><Relationship Id="rId19" Type="http://schemas.openxmlformats.org/officeDocument/2006/relationships/tags" Target="../tags/tag106.xml"/><Relationship Id="rId4" Type="http://schemas.openxmlformats.org/officeDocument/2006/relationships/tags" Target="../tags/tag91.xml"/><Relationship Id="rId9" Type="http://schemas.openxmlformats.org/officeDocument/2006/relationships/tags" Target="../tags/tag96.xml"/><Relationship Id="rId14" Type="http://schemas.openxmlformats.org/officeDocument/2006/relationships/tags" Target="../tags/tag101.xml"/><Relationship Id="rId22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0206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36774"/>
            <a:ext cx="561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dirty="0" err="1">
                <a:solidFill>
                  <a:srgbClr val="002F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机器学习综合实践</a:t>
            </a:r>
            <a:endParaRPr sz="1500" b="1" dirty="0">
              <a:solidFill>
                <a:srgbClr val="002FA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47501"/>
            <a:ext cx="6286500" cy="13462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39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 dirty="0" err="1">
                <a:solidFill>
                  <a:srgbClr val="002F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图像分类特征归因方法的</a:t>
            </a:r>
            <a:endParaRPr sz="3900" b="1" dirty="0">
              <a:solidFill>
                <a:srgbClr val="002FA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algn="l">
              <a:defRPr sz="39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 dirty="0" err="1">
                <a:solidFill>
                  <a:srgbClr val="002F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质量与效率比较</a:t>
            </a:r>
            <a:endParaRPr sz="3900" b="1" dirty="0">
              <a:solidFill>
                <a:srgbClr val="002FA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3162300"/>
            <a:ext cx="3848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0">
                <a:solidFill>
                  <a:srgbClr val="61758B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 dirty="0" err="1">
                <a:solidFill>
                  <a:srgbClr val="002F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实验实现与初步比较</a:t>
            </a:r>
            <a:endParaRPr sz="2800" b="1" dirty="0">
              <a:solidFill>
                <a:srgbClr val="002FA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685800" y="3920864"/>
            <a:ext cx="5810250" cy="0"/>
          </a:xfrm>
          <a:prstGeom prst="line">
            <a:avLst/>
          </a:prstGeom>
          <a:noFill/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99960" y="1228725"/>
            <a:ext cx="4324350" cy="4324350"/>
          </a:xfrm>
          <a:prstGeom prst="roundRect">
            <a:avLst>
              <a:gd name="adj" fmla="val 3409"/>
            </a:avLst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7650248" y="5354393"/>
            <a:ext cx="3352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endParaRPr sz="15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3FD5DB-8104-0297-A12C-EA2D91A2C11D}"/>
              </a:ext>
            </a:extLst>
          </p:cNvPr>
          <p:cNvSpPr>
            <a:spLocks noGrp="1"/>
          </p:cNvSpPr>
          <p:nvPr/>
        </p:nvSpPr>
        <p:spPr>
          <a:xfrm>
            <a:off x="0" y="6686550"/>
            <a:ext cx="12192000" cy="171450"/>
          </a:xfrm>
          <a:prstGeom prst="rect">
            <a:avLst/>
          </a:prstGeom>
          <a:solidFill>
            <a:srgbClr val="00206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F14595-9C2C-E0CB-2219-0193086A8B25}"/>
              </a:ext>
            </a:extLst>
          </p:cNvPr>
          <p:cNvSpPr txBox="1"/>
          <p:nvPr/>
        </p:nvSpPr>
        <p:spPr>
          <a:xfrm>
            <a:off x="238760" y="4450699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004098"/>
                </a:solidFill>
                <a:latin typeface="方正风雅宋简体" panose="02000000000000000000" charset="-122"/>
                <a:ea typeface="方正风雅宋简体" panose="02000000000000000000" charset="-122"/>
                <a:cs typeface="PingFang SC Semibold" panose="020B0400000000000000" charset="-122"/>
              </a:rPr>
              <a:t>G01 XAI01-02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444500"/>
            <a:ext cx="10972800" cy="853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3465" b="1" dirty="0">
                <a:solidFill>
                  <a:srgbClr val="1A2B5E"/>
                </a:solidFill>
                <a:latin typeface="思源黑体" panose="020B0800000000000000" charset="-122"/>
                <a:ea typeface="思源黑体" panose="020B0800000000000000" charset="-122"/>
                <a:cs typeface="Calibri" panose="020F0502020204030204" pitchFamily="34" charset="-120"/>
              </a:rPr>
              <a:t>目录</a:t>
            </a:r>
            <a:endParaRPr lang="en-US" sz="3465" dirty="0">
              <a:latin typeface="思源黑体" panose="020B0800000000000000" charset="-122"/>
              <a:ea typeface="思源黑体" panose="020B0800000000000000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1322324"/>
            <a:ext cx="6238240" cy="4876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508000" y="1631315"/>
            <a:ext cx="6339840" cy="1024128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508000" y="1631315"/>
            <a:ext cx="85344" cy="1024128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690880" y="1692275"/>
            <a:ext cx="609600" cy="902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8FD4"/>
                </a:solidFill>
                <a:latin typeface="Copernicus Trial Bold" panose="02000000000000000000" charset="0"/>
                <a:ea typeface="思源黑体" panose="020B0800000000000000" charset="-122"/>
              </a:rPr>
              <a:t>①</a:t>
            </a:r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1452880" y="1980686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项目开发进度</a:t>
            </a:r>
            <a:endParaRPr lang="en-US" sz="28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508000" y="2826131"/>
            <a:ext cx="6339840" cy="1024128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508000" y="2826131"/>
            <a:ext cx="85344" cy="1024128"/>
          </a:xfrm>
          <a:prstGeom prst="rect">
            <a:avLst/>
          </a:prstGeom>
          <a:solidFill>
            <a:srgbClr val="1670D2"/>
          </a:solidFill>
          <a:ln w="1270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690880" y="2887091"/>
            <a:ext cx="609600" cy="902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70D2"/>
                </a:solidFill>
                <a:latin typeface="Copernicus Trial Bold" panose="02000000000000000000" charset="0"/>
                <a:ea typeface="思源黑体" panose="020B0800000000000000" charset="-122"/>
              </a:rPr>
              <a:t>②</a:t>
            </a:r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1422400" y="2899283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  <a:cs typeface="Copernicus Trial Bold" panose="02000000000000000000" charset="0"/>
            </a:endParaRPr>
          </a:p>
        </p:txBody>
      </p:sp>
      <p:sp>
        <p:nvSpPr>
          <p:cNvPr id="17" name="Shape 15"/>
          <p:cNvSpPr/>
          <p:nvPr>
            <p:custDataLst>
              <p:tags r:id="rId9"/>
            </p:custDataLst>
          </p:nvPr>
        </p:nvSpPr>
        <p:spPr>
          <a:xfrm>
            <a:off x="508000" y="4020947"/>
            <a:ext cx="6339840" cy="1024128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>
            <p:custDataLst>
              <p:tags r:id="rId10"/>
            </p:custDataLst>
          </p:nvPr>
        </p:nvSpPr>
        <p:spPr>
          <a:xfrm>
            <a:off x="508000" y="4020947"/>
            <a:ext cx="85344" cy="1024128"/>
          </a:xfrm>
          <a:prstGeom prst="rect">
            <a:avLst/>
          </a:prstGeom>
          <a:solidFill>
            <a:srgbClr val="0A5798"/>
          </a:solidFill>
          <a:ln w="12700">
            <a:solidFill>
              <a:srgbClr val="0A57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>
            <p:custDataLst>
              <p:tags r:id="rId11"/>
            </p:custDataLst>
          </p:nvPr>
        </p:nvSpPr>
        <p:spPr>
          <a:xfrm>
            <a:off x="690880" y="4081907"/>
            <a:ext cx="609600" cy="902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5798"/>
                </a:solidFill>
                <a:latin typeface="Copernicus Trial Bold" panose="02000000000000000000" charset="0"/>
                <a:ea typeface="思源黑体" panose="020B0800000000000000" charset="-122"/>
              </a:rPr>
              <a:t>③</a:t>
            </a:r>
          </a:p>
        </p:txBody>
      </p:sp>
      <p:sp>
        <p:nvSpPr>
          <p:cNvPr id="20" name="Text 18"/>
          <p:cNvSpPr/>
          <p:nvPr>
            <p:custDataLst>
              <p:tags r:id="rId12"/>
            </p:custDataLst>
          </p:nvPr>
        </p:nvSpPr>
        <p:spPr>
          <a:xfrm>
            <a:off x="1422400" y="4094099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22" name="Shape 20"/>
          <p:cNvSpPr/>
          <p:nvPr>
            <p:custDataLst>
              <p:tags r:id="rId13"/>
            </p:custDataLst>
          </p:nvPr>
        </p:nvSpPr>
        <p:spPr>
          <a:xfrm>
            <a:off x="508000" y="5215763"/>
            <a:ext cx="6339840" cy="1024128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>
            <p:custDataLst>
              <p:tags r:id="rId14"/>
            </p:custDataLst>
          </p:nvPr>
        </p:nvSpPr>
        <p:spPr>
          <a:xfrm>
            <a:off x="508000" y="5215763"/>
            <a:ext cx="85344" cy="102412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>
            <p:custDataLst>
              <p:tags r:id="rId15"/>
            </p:custDataLst>
          </p:nvPr>
        </p:nvSpPr>
        <p:spPr>
          <a:xfrm>
            <a:off x="690880" y="5276723"/>
            <a:ext cx="609600" cy="902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④</a:t>
            </a:r>
          </a:p>
        </p:txBody>
      </p:sp>
      <p:sp>
        <p:nvSpPr>
          <p:cNvPr id="25" name="Text 23"/>
          <p:cNvSpPr/>
          <p:nvPr>
            <p:custDataLst>
              <p:tags r:id="rId16"/>
            </p:custDataLst>
          </p:nvPr>
        </p:nvSpPr>
        <p:spPr>
          <a:xfrm>
            <a:off x="1422400" y="5288915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>
            <a:off x="0" y="6665537"/>
            <a:ext cx="12192000" cy="192463"/>
          </a:xfrm>
          <a:prstGeom prst="rect">
            <a:avLst/>
          </a:prstGeom>
          <a:solidFill>
            <a:srgbClr val="004098">
              <a:alpha val="100000"/>
            </a:srgbClr>
          </a:solidFill>
          <a:ln>
            <a:solidFill>
              <a:srgbClr val="2E54A1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0" y="0"/>
            <a:ext cx="12192000" cy="192463"/>
          </a:xfrm>
          <a:prstGeom prst="rect">
            <a:avLst/>
          </a:prstGeom>
          <a:solidFill>
            <a:srgbClr val="004098">
              <a:alpha val="100000"/>
            </a:srgbClr>
          </a:solidFill>
          <a:ln>
            <a:solidFill>
              <a:srgbClr val="2E54A1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7CA7E2E5-09F2-2032-3365-E0D0CA67B632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>
            <a:fillRect/>
          </a:stretch>
        </p:blipFill>
        <p:spPr>
          <a:xfrm>
            <a:off x="7359650" y="1341247"/>
            <a:ext cx="4324350" cy="4324350"/>
          </a:xfrm>
          <a:prstGeom prst="roundRect">
            <a:avLst>
              <a:gd name="adj" fmla="val 3409"/>
            </a:avLst>
          </a:prstGeom>
        </p:spPr>
      </p:pic>
      <p:sp>
        <p:nvSpPr>
          <p:cNvPr id="57" name="Text 8">
            <a:extLst>
              <a:ext uri="{FF2B5EF4-FFF2-40B4-BE49-F238E27FC236}">
                <a16:creationId xmlns:a16="http://schemas.microsoft.com/office/drawing/2014/main" id="{17D9F853-0D49-740C-FE3F-4121A95A644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452880" y="3162046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实验完成情况</a:t>
            </a:r>
            <a:endParaRPr lang="en-US" sz="28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59" name="Text 8">
            <a:extLst>
              <a:ext uri="{FF2B5EF4-FFF2-40B4-BE49-F238E27FC236}">
                <a16:creationId xmlns:a16="http://schemas.microsoft.com/office/drawing/2014/main" id="{58A6BAA1-D901-2D7C-BD76-14FC488F256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452880" y="4374417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实验结果与分析</a:t>
            </a:r>
            <a:endParaRPr lang="en-US" sz="28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BFDC20BD-EB90-A61D-9A99-72810EDD84F0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1452880" y="5545045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下一步计划</a:t>
            </a:r>
            <a:endParaRPr lang="en-US" sz="28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1257300" y="228651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r>
              <a:rPr sz="2900" b="1" dirty="0" err="1">
                <a:solidFill>
                  <a:srgbClr val="081D3A"/>
                </a:solidFill>
                <a:latin typeface="微软雅黑"/>
                <a:ea typeface="微软雅黑"/>
                <a:cs typeface="微软雅黑"/>
              </a:rPr>
              <a:t>研究问题逐步转化为可运行实验</a:t>
            </a:r>
            <a:endParaRPr sz="2900" b="1" dirty="0">
              <a:solidFill>
                <a:srgbClr val="081D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: 圆角 4"/>
          <p:cNvSpPr>
            <a:spLocks noGrp="1"/>
          </p:cNvSpPr>
          <p:nvPr/>
        </p:nvSpPr>
        <p:spPr>
          <a:xfrm>
            <a:off x="742950" y="2457450"/>
            <a:ext cx="3086100" cy="2815590"/>
          </a:xfrm>
          <a:prstGeom prst="roundRect">
            <a:avLst>
              <a:gd name="adj" fmla="val 5556"/>
            </a:avLst>
          </a:prstGeom>
          <a:solidFill>
            <a:srgbClr val="F6FAFD"/>
          </a:solidFill>
          <a:ln w="15240">
            <a:solidFill>
              <a:srgbClr val="081D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33450" y="264795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0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rPr>
              <a:t>M1｜问题与方案</a:t>
            </a: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933450" y="3162300"/>
            <a:ext cx="27051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71550" y="3409950"/>
            <a:ext cx="26289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 dirty="0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RQ1–RQ3</a:t>
            </a:r>
          </a:p>
          <a:p>
            <a:pPr algn="l">
              <a:defRPr sz="130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 dirty="0" err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数据域与模型</a:t>
            </a:r>
            <a:endParaRPr sz="1600" b="1" dirty="0">
              <a:solidFill>
                <a:srgbClr val="17324D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30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 dirty="0" err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统一实验口径</a:t>
            </a:r>
            <a:endParaRPr sz="1600" b="1" dirty="0">
              <a:solidFill>
                <a:srgbClr val="17324D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30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 dirty="0" err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参数范围</a:t>
            </a:r>
            <a:endParaRPr sz="1600" b="1" dirty="0">
              <a:solidFill>
                <a:srgbClr val="1732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: 圆角 8"/>
          <p:cNvSpPr>
            <a:spLocks noGrp="1"/>
          </p:cNvSpPr>
          <p:nvPr/>
        </p:nvSpPr>
        <p:spPr>
          <a:xfrm>
            <a:off x="933450" y="4606290"/>
            <a:ext cx="2705100" cy="514350"/>
          </a:xfrm>
          <a:prstGeom prst="roundRect">
            <a:avLst>
              <a:gd name="adj" fmla="val 22222"/>
            </a:avLst>
          </a:prstGeom>
          <a:solidFill>
            <a:srgbClr val="081D3A"/>
          </a:solidFill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可执行实验任务书</a:t>
            </a:r>
            <a:endParaRPr sz="13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箭头: 右 9"/>
          <p:cNvSpPr>
            <a:spLocks noGrp="1"/>
          </p:cNvSpPr>
          <p:nvPr/>
        </p:nvSpPr>
        <p:spPr>
          <a:xfrm>
            <a:off x="3829050" y="4114800"/>
            <a:ext cx="781050" cy="2857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4610100" y="2457450"/>
            <a:ext cx="3086100" cy="2815590"/>
          </a:xfrm>
          <a:prstGeom prst="roundRect">
            <a:avLst>
              <a:gd name="adj" fmla="val 5556"/>
            </a:avLst>
          </a:prstGeom>
          <a:solidFill>
            <a:srgbClr val="F6FAFD"/>
          </a:solidFill>
          <a:ln w="1524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800600" y="264795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000" b="1">
                <a:solidFill>
                  <a:srgbClr val="1670D2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670D2"/>
                </a:solidFill>
                <a:latin typeface="微软雅黑"/>
                <a:ea typeface="微软雅黑"/>
                <a:cs typeface="微软雅黑"/>
              </a:rPr>
              <a:t>M2｜端到端流程</a:t>
            </a: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800600" y="3162300"/>
            <a:ext cx="27051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838700" y="3409950"/>
            <a:ext cx="26289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 dirty="0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Ablation / LIME / RISE</a:t>
            </a:r>
          </a:p>
          <a:p>
            <a:pPr algn="l">
              <a:defRPr sz="130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 dirty="0" err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数据检查与共同正确样本</a:t>
            </a:r>
            <a:endParaRPr sz="1600" b="1" dirty="0">
              <a:solidFill>
                <a:srgbClr val="17324D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30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 dirty="0" err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数据</a:t>
            </a:r>
            <a:r>
              <a:rPr sz="1600" b="1" dirty="0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1600" b="1" dirty="0" err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模型</a:t>
            </a:r>
            <a:r>
              <a:rPr sz="1600" b="1" dirty="0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1600" b="1" dirty="0" err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归因</a:t>
            </a:r>
            <a:r>
              <a:rPr sz="1600" b="1" dirty="0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1600" b="1" dirty="0" err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评价</a:t>
            </a:r>
            <a:endParaRPr sz="1600" b="1" dirty="0">
              <a:solidFill>
                <a:srgbClr val="1732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: 圆角 14"/>
          <p:cNvSpPr>
            <a:spLocks noGrp="1"/>
          </p:cNvSpPr>
          <p:nvPr/>
        </p:nvSpPr>
        <p:spPr>
          <a:xfrm>
            <a:off x="4800600" y="4606290"/>
            <a:ext cx="2705100" cy="514350"/>
          </a:xfrm>
          <a:prstGeom prst="roundRect">
            <a:avLst>
              <a:gd name="adj" fmla="val 22222"/>
            </a:avLst>
          </a:prstGeom>
          <a:solidFill>
            <a:srgbClr val="1670D2"/>
          </a:solidFill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端到端流程验证</a:t>
            </a:r>
          </a:p>
        </p:txBody>
      </p:sp>
      <p:sp>
        <p:nvSpPr>
          <p:cNvPr id="16" name="箭头: 右 15"/>
          <p:cNvSpPr>
            <a:spLocks noGrp="1"/>
          </p:cNvSpPr>
          <p:nvPr/>
        </p:nvSpPr>
        <p:spPr>
          <a:xfrm>
            <a:off x="7696200" y="4114800"/>
            <a:ext cx="781050" cy="2857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: 圆角 16"/>
          <p:cNvSpPr>
            <a:spLocks noGrp="1"/>
          </p:cNvSpPr>
          <p:nvPr/>
        </p:nvSpPr>
        <p:spPr>
          <a:xfrm>
            <a:off x="8477250" y="2457450"/>
            <a:ext cx="3086100" cy="2815590"/>
          </a:xfrm>
          <a:prstGeom prst="roundRect">
            <a:avLst>
              <a:gd name="adj" fmla="val 5556"/>
            </a:avLst>
          </a:prstGeom>
          <a:solidFill>
            <a:srgbClr val="1A2B5E"/>
          </a:solidFill>
          <a:ln w="15240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667750" y="264795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M3｜统一比较</a:t>
            </a: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8667750" y="3162300"/>
            <a:ext cx="2705100" cy="0"/>
          </a:xfrm>
          <a:prstGeom prst="line">
            <a:avLst/>
          </a:prstGeom>
          <a:noFill/>
          <a:ln w="9525">
            <a:solidFill>
              <a:srgbClr val="6D91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705850" y="3409950"/>
            <a:ext cx="26289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KernelSHAP</a:t>
            </a:r>
            <a:r>
              <a:rPr sz="16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✓</a:t>
            </a:r>
          </a:p>
          <a:p>
            <a:pPr algn="l">
              <a:def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四方法统一接口</a:t>
            </a:r>
            <a:r>
              <a:rPr sz="16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✓</a:t>
            </a:r>
          </a:p>
          <a:p>
            <a:pPr algn="l">
              <a:def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</a:t>
            </a:r>
            <a:r>
              <a:rPr sz="16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数据域</a:t>
            </a:r>
            <a:r>
              <a:rPr sz="16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× 2 </a:t>
            </a:r>
            <a:r>
              <a:rPr sz="16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</a:t>
            </a:r>
            <a:r>
              <a:rPr sz="16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✓</a:t>
            </a:r>
          </a:p>
          <a:p>
            <a:pPr algn="l">
              <a:def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四类评价</a:t>
            </a:r>
            <a:r>
              <a:rPr sz="16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✓</a:t>
            </a:r>
          </a:p>
        </p:txBody>
      </p:sp>
      <p:sp>
        <p:nvSpPr>
          <p:cNvPr id="21" name="矩形: 圆角 20"/>
          <p:cNvSpPr>
            <a:spLocks noGrp="1"/>
          </p:cNvSpPr>
          <p:nvPr/>
        </p:nvSpPr>
        <p:spPr>
          <a:xfrm>
            <a:off x="8667750" y="4606290"/>
            <a:ext cx="27051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第一轮可比较、可审计证据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54EA8F0-BD7F-2E51-6224-032587E5297C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2286000" cy="819150"/>
          </a:xfrm>
          <a:prstGeom prst="roundRect">
            <a:avLst>
              <a:gd name="adj" fmla="val 17442"/>
            </a:avLst>
          </a:prstGeom>
          <a:solidFill>
            <a:srgbClr val="3A8FD4"/>
          </a:solidFill>
          <a:ln w="0">
            <a:solidFill>
              <a:srgbClr val="3A8F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F2C6E01-2AF4-10D8-428D-DD07185244F5}"/>
              </a:ext>
            </a:extLst>
          </p:cNvPr>
          <p:cNvSpPr>
            <a:spLocks noGrp="1"/>
          </p:cNvSpPr>
          <p:nvPr/>
        </p:nvSpPr>
        <p:spPr>
          <a:xfrm>
            <a:off x="1584821" y="1310638"/>
            <a:ext cx="487456" cy="2667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RQ1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80193A6-4B7F-BC17-F2F1-51E1254CF986}"/>
              </a:ext>
            </a:extLst>
          </p:cNvPr>
          <p:cNvSpPr>
            <a:spLocks noGrp="1"/>
          </p:cNvSpPr>
          <p:nvPr/>
        </p:nvSpPr>
        <p:spPr>
          <a:xfrm>
            <a:off x="1174686" y="1657349"/>
            <a:ext cx="1307726" cy="2667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质量</a:t>
            </a:r>
            <a:r>
              <a:rPr sz="17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× </a:t>
            </a:r>
            <a:r>
              <a:rPr sz="17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效率</a:t>
            </a:r>
            <a:endParaRPr sz="17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03D8677-9E7A-79EC-BD2E-6CCEF4E1AC77}"/>
              </a:ext>
            </a:extLst>
          </p:cNvPr>
          <p:cNvSpPr>
            <a:spLocks noGrp="1"/>
          </p:cNvSpPr>
          <p:nvPr/>
        </p:nvSpPr>
        <p:spPr>
          <a:xfrm>
            <a:off x="3041025" y="1219200"/>
            <a:ext cx="2286000" cy="819150"/>
          </a:xfrm>
          <a:prstGeom prst="roundRect">
            <a:avLst>
              <a:gd name="adj" fmla="val 17442"/>
            </a:avLst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5BBDA68-41DB-A108-E840-66B48726160E}"/>
              </a:ext>
            </a:extLst>
          </p:cNvPr>
          <p:cNvSpPr>
            <a:spLocks noGrp="1"/>
          </p:cNvSpPr>
          <p:nvPr/>
        </p:nvSpPr>
        <p:spPr>
          <a:xfrm>
            <a:off x="3990792" y="1306967"/>
            <a:ext cx="489194" cy="2756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RQ2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1139B9E-FF5C-DB2B-1520-67C583EF7FF4}"/>
              </a:ext>
            </a:extLst>
          </p:cNvPr>
          <p:cNvSpPr>
            <a:spLocks noGrp="1"/>
          </p:cNvSpPr>
          <p:nvPr/>
        </p:nvSpPr>
        <p:spPr>
          <a:xfrm>
            <a:off x="3584945" y="1670346"/>
            <a:ext cx="1198160" cy="2667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参数敏感性</a:t>
            </a:r>
            <a:endParaRPr sz="17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C9BFA73-10DB-02F1-2363-DD9AAE6DBE56}"/>
              </a:ext>
            </a:extLst>
          </p:cNvPr>
          <p:cNvSpPr>
            <a:spLocks noGrp="1"/>
          </p:cNvSpPr>
          <p:nvPr/>
        </p:nvSpPr>
        <p:spPr>
          <a:xfrm>
            <a:off x="5396250" y="1219200"/>
            <a:ext cx="2286000" cy="819150"/>
          </a:xfrm>
          <a:prstGeom prst="roundRect">
            <a:avLst>
              <a:gd name="adj" fmla="val 17442"/>
            </a:avLst>
          </a:prstGeom>
          <a:solidFill>
            <a:srgbClr val="0A579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>
              <a:solidFill>
                <a:srgbClr val="0799A9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87AA14E-B3BD-B75E-A5DE-15A93D3085DC}"/>
              </a:ext>
            </a:extLst>
          </p:cNvPr>
          <p:cNvSpPr>
            <a:spLocks noGrp="1"/>
          </p:cNvSpPr>
          <p:nvPr/>
        </p:nvSpPr>
        <p:spPr>
          <a:xfrm>
            <a:off x="6312514" y="1314501"/>
            <a:ext cx="453472" cy="2589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RQ3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E9A6C5C-9F82-C0AB-A8AD-1E014643582A}"/>
              </a:ext>
            </a:extLst>
          </p:cNvPr>
          <p:cNvSpPr>
            <a:spLocks noGrp="1"/>
          </p:cNvSpPr>
          <p:nvPr/>
        </p:nvSpPr>
        <p:spPr>
          <a:xfrm>
            <a:off x="5922732" y="1607926"/>
            <a:ext cx="1236512" cy="360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理论</a:t>
            </a:r>
            <a:r>
              <a:rPr sz="17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× </a:t>
            </a:r>
            <a:r>
              <a:rPr sz="17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实践</a:t>
            </a:r>
            <a:endParaRPr sz="17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3B84A2F3-D9E6-AC63-57A8-FE8AA7F951DF}"/>
              </a:ext>
            </a:extLst>
          </p:cNvPr>
          <p:cNvSpPr>
            <a:spLocks noGrp="1"/>
          </p:cNvSpPr>
          <p:nvPr/>
        </p:nvSpPr>
        <p:spPr>
          <a:xfrm>
            <a:off x="9239250" y="1269683"/>
            <a:ext cx="2133600" cy="685800"/>
          </a:xfrm>
          <a:prstGeom prst="roundRect">
            <a:avLst>
              <a:gd name="adj" fmla="val 22222"/>
            </a:avLst>
          </a:prstGeom>
          <a:solidFill>
            <a:srgbClr val="1A2B5E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M3</a:t>
            </a:r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29D6A4C2-2FC3-2E37-7189-5B7012781448}"/>
              </a:ext>
            </a:extLst>
          </p:cNvPr>
          <p:cNvSpPr>
            <a:spLocks noGrp="1"/>
          </p:cNvSpPr>
          <p:nvPr/>
        </p:nvSpPr>
        <p:spPr>
          <a:xfrm>
            <a:off x="7853700" y="1485899"/>
            <a:ext cx="1233150" cy="304799"/>
          </a:xfrm>
          <a:prstGeom prst="rightArrow">
            <a:avLst/>
          </a:prstGeom>
          <a:solidFill>
            <a:srgbClr val="1A2B5E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B5C7F44-690A-817D-442A-89962415238A}"/>
              </a:ext>
            </a:extLst>
          </p:cNvPr>
          <p:cNvSpPr>
            <a:spLocks noGrp="1"/>
          </p:cNvSpPr>
          <p:nvPr/>
        </p:nvSpPr>
        <p:spPr>
          <a:xfrm>
            <a:off x="857250" y="563880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 dirty="0" err="1">
                <a:solidFill>
                  <a:srgbClr val="081D3A"/>
                </a:solidFill>
                <a:latin typeface="微软雅黑"/>
                <a:ea typeface="微软雅黑"/>
                <a:cs typeface="微软雅黑"/>
              </a:rPr>
              <a:t>本阶段已完成</a:t>
            </a:r>
            <a:endParaRPr sz="1700" b="1" dirty="0">
              <a:solidFill>
                <a:srgbClr val="081D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E55E09C8-4190-F6D3-EAC9-1E5EB10B7853}"/>
              </a:ext>
            </a:extLst>
          </p:cNvPr>
          <p:cNvSpPr>
            <a:spLocks noGrp="1"/>
          </p:cNvSpPr>
          <p:nvPr/>
        </p:nvSpPr>
        <p:spPr>
          <a:xfrm>
            <a:off x="2305050" y="5791200"/>
            <a:ext cx="35052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DC86A759-879E-6A7B-CD94-23622FD1C4BD}"/>
              </a:ext>
            </a:extLst>
          </p:cNvPr>
          <p:cNvSpPr>
            <a:spLocks noGrp="1"/>
          </p:cNvSpPr>
          <p:nvPr/>
        </p:nvSpPr>
        <p:spPr>
          <a:xfrm>
            <a:off x="895350" y="6134100"/>
            <a:ext cx="285750" cy="285750"/>
          </a:xfrm>
          <a:prstGeom prst="ellipse">
            <a:avLst/>
          </a:prstGeom>
          <a:solidFill>
            <a:srgbClr val="0A579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6FAFA1A-2802-3EFE-20EA-020A25CD1BF8}"/>
              </a:ext>
            </a:extLst>
          </p:cNvPr>
          <p:cNvSpPr>
            <a:spLocks noGrp="1"/>
          </p:cNvSpPr>
          <p:nvPr/>
        </p:nvSpPr>
        <p:spPr>
          <a:xfrm>
            <a:off x="895350" y="61341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7718ED6-1BF1-9582-545B-E1D2193395F5}"/>
              </a:ext>
            </a:extLst>
          </p:cNvPr>
          <p:cNvSpPr>
            <a:spLocks noGrp="1"/>
          </p:cNvSpPr>
          <p:nvPr/>
        </p:nvSpPr>
        <p:spPr>
          <a:xfrm>
            <a:off x="1257300" y="60769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核心方法实现</a:t>
            </a: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4ACDFE76-7CD5-7624-24D1-D3C828738B40}"/>
              </a:ext>
            </a:extLst>
          </p:cNvPr>
          <p:cNvSpPr>
            <a:spLocks noGrp="1"/>
          </p:cNvSpPr>
          <p:nvPr/>
        </p:nvSpPr>
        <p:spPr>
          <a:xfrm>
            <a:off x="3333750" y="6134100"/>
            <a:ext cx="285750" cy="285750"/>
          </a:xfrm>
          <a:prstGeom prst="ellipse">
            <a:avLst/>
          </a:prstGeom>
          <a:solidFill>
            <a:srgbClr val="0A579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93BC849-117C-683E-B7A8-4B80BAAF8F34}"/>
              </a:ext>
            </a:extLst>
          </p:cNvPr>
          <p:cNvSpPr>
            <a:spLocks noGrp="1"/>
          </p:cNvSpPr>
          <p:nvPr/>
        </p:nvSpPr>
        <p:spPr>
          <a:xfrm>
            <a:off x="3333750" y="61341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B2EC4C4-8A1B-17C4-C06D-B5D25D175908}"/>
              </a:ext>
            </a:extLst>
          </p:cNvPr>
          <p:cNvSpPr>
            <a:spLocks noGrp="1"/>
          </p:cNvSpPr>
          <p:nvPr/>
        </p:nvSpPr>
        <p:spPr>
          <a:xfrm>
            <a:off x="3695700" y="60769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端到端实验流程</a:t>
            </a: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05D5BB94-C989-0209-D7C4-A1522333FAA4}"/>
              </a:ext>
            </a:extLst>
          </p:cNvPr>
          <p:cNvSpPr>
            <a:spLocks noGrp="1"/>
          </p:cNvSpPr>
          <p:nvPr/>
        </p:nvSpPr>
        <p:spPr>
          <a:xfrm>
            <a:off x="5810250" y="6143625"/>
            <a:ext cx="285750" cy="285750"/>
          </a:xfrm>
          <a:prstGeom prst="ellipse">
            <a:avLst/>
          </a:prstGeom>
          <a:solidFill>
            <a:srgbClr val="0A579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3C506EA-8BFD-4312-BA56-D7ABC2BE598A}"/>
              </a:ext>
            </a:extLst>
          </p:cNvPr>
          <p:cNvSpPr>
            <a:spLocks noGrp="1"/>
          </p:cNvSpPr>
          <p:nvPr/>
        </p:nvSpPr>
        <p:spPr>
          <a:xfrm>
            <a:off x="5810250" y="61436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0048D33B-275D-D558-9C86-172D30124650}"/>
              </a:ext>
            </a:extLst>
          </p:cNvPr>
          <p:cNvSpPr>
            <a:spLocks noGrp="1"/>
          </p:cNvSpPr>
          <p:nvPr/>
        </p:nvSpPr>
        <p:spPr>
          <a:xfrm>
            <a:off x="6172200" y="6086475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默认配置统一实验</a:t>
            </a: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97E41786-D083-B3A2-D4A6-432264D7B6AF}"/>
              </a:ext>
            </a:extLst>
          </p:cNvPr>
          <p:cNvSpPr>
            <a:spLocks noGrp="1"/>
          </p:cNvSpPr>
          <p:nvPr/>
        </p:nvSpPr>
        <p:spPr>
          <a:xfrm>
            <a:off x="8248650" y="6143625"/>
            <a:ext cx="285750" cy="285750"/>
          </a:xfrm>
          <a:prstGeom prst="ellipse">
            <a:avLst/>
          </a:prstGeom>
          <a:solidFill>
            <a:srgbClr val="0A579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A23B8D0-7513-DBA8-EFAB-836647B56252}"/>
              </a:ext>
            </a:extLst>
          </p:cNvPr>
          <p:cNvSpPr>
            <a:spLocks noGrp="1"/>
          </p:cNvSpPr>
          <p:nvPr/>
        </p:nvSpPr>
        <p:spPr>
          <a:xfrm>
            <a:off x="8248650" y="61436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D02A2DD-6FD3-B34B-0173-77C617358630}"/>
              </a:ext>
            </a:extLst>
          </p:cNvPr>
          <p:cNvSpPr>
            <a:spLocks noGrp="1"/>
          </p:cNvSpPr>
          <p:nvPr/>
        </p:nvSpPr>
        <p:spPr>
          <a:xfrm>
            <a:off x="8610600" y="6086475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30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第一轮结果比较</a:t>
            </a:r>
          </a:p>
        </p:txBody>
      </p:sp>
      <p:sp>
        <p:nvSpPr>
          <p:cNvPr id="80" name="Shape 3">
            <a:extLst>
              <a:ext uri="{FF2B5EF4-FFF2-40B4-BE49-F238E27FC236}">
                <a16:creationId xmlns:a16="http://schemas.microsoft.com/office/drawing/2014/main" id="{EFDDA95D-2DCE-7C10-E5D2-119BFBD282B3}"/>
              </a:ext>
            </a:extLst>
          </p:cNvPr>
          <p:cNvSpPr/>
          <p:nvPr/>
        </p:nvSpPr>
        <p:spPr>
          <a:xfrm>
            <a:off x="557493" y="865200"/>
            <a:ext cx="10972800" cy="30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任意多边形 3">
            <a:extLst>
              <a:ext uri="{FF2B5EF4-FFF2-40B4-BE49-F238E27FC236}">
                <a16:creationId xmlns:a16="http://schemas.microsoft.com/office/drawing/2014/main" id="{B02B6265-BFB5-CEF3-7FD1-3E1B2F246169}"/>
              </a:ext>
            </a:extLst>
          </p:cNvPr>
          <p:cNvSpPr/>
          <p:nvPr/>
        </p:nvSpPr>
        <p:spPr>
          <a:xfrm>
            <a:off x="571500" y="171501"/>
            <a:ext cx="571500" cy="571500"/>
          </a:xfrm>
          <a:custGeom>
            <a:avLst/>
            <a:gdLst>
              <a:gd name="connisteX0" fmla="*/ 133349 w 571500"/>
              <a:gd name="connsiteY0" fmla="*/ 0 h 571500"/>
              <a:gd name="connisteX1" fmla="*/ 571500 w 571500"/>
              <a:gd name="connsiteY1" fmla="*/ 0 h 571500"/>
              <a:gd name="connisteX2" fmla="*/ 444500 w 571500"/>
              <a:gd name="connsiteY2" fmla="*/ 571500 h 571500"/>
              <a:gd name="connisteX3" fmla="*/ 0 w 571500"/>
              <a:gd name="connsiteY3" fmla="*/ 571500 h 571500"/>
              <a:gd name="connisteX4" fmla="*/ 133349 w 571500"/>
              <a:gd name="connsiteY4" fmla="*/ 0 h 5715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571500" h="571500">
                <a:moveTo>
                  <a:pt x="133350" y="0"/>
                </a:moveTo>
                <a:lnTo>
                  <a:pt x="571500" y="0"/>
                </a:lnTo>
                <a:lnTo>
                  <a:pt x="444500" y="571500"/>
                </a:lnTo>
                <a:lnTo>
                  <a:pt x="0" y="571500"/>
                </a:lnTo>
                <a:lnTo>
                  <a:pt x="133350" y="0"/>
                </a:lnTo>
                <a:close/>
              </a:path>
            </a:pathLst>
          </a:custGeom>
          <a:solidFill>
            <a:srgbClr val="0A5798"/>
          </a:solidFill>
          <a:ln>
            <a:solidFill>
              <a:srgbClr val="3A8FD4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4" name="任意多边形 4">
            <a:extLst>
              <a:ext uri="{FF2B5EF4-FFF2-40B4-BE49-F238E27FC236}">
                <a16:creationId xmlns:a16="http://schemas.microsoft.com/office/drawing/2014/main" id="{39D3436B-EC6C-6A54-0F88-19D46DAAFB90}"/>
              </a:ext>
            </a:extLst>
          </p:cNvPr>
          <p:cNvSpPr/>
          <p:nvPr/>
        </p:nvSpPr>
        <p:spPr>
          <a:xfrm>
            <a:off x="607060" y="206426"/>
            <a:ext cx="565150" cy="565150"/>
          </a:xfrm>
          <a:custGeom>
            <a:avLst/>
            <a:gdLst>
              <a:gd name="connisteX0" fmla="*/ 520699 w 565150"/>
              <a:gd name="connsiteY0" fmla="*/ 0 h 565150"/>
              <a:gd name="connisteX1" fmla="*/ 565150 w 565150"/>
              <a:gd name="connsiteY1" fmla="*/ 0 h 565150"/>
              <a:gd name="connisteX2" fmla="*/ 450850 w 565150"/>
              <a:gd name="connsiteY2" fmla="*/ 565150 h 565150"/>
              <a:gd name="connisteX3" fmla="*/ 0 w 565150"/>
              <a:gd name="connsiteY3" fmla="*/ 565150 h 565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65150" h="565150">
                <a:moveTo>
                  <a:pt x="520700" y="0"/>
                </a:moveTo>
                <a:lnTo>
                  <a:pt x="565150" y="0"/>
                </a:lnTo>
                <a:lnTo>
                  <a:pt x="450850" y="565150"/>
                </a:lnTo>
                <a:lnTo>
                  <a:pt x="0" y="565150"/>
                </a:lnTo>
              </a:path>
            </a:pathLst>
          </a:custGeom>
          <a:noFill/>
          <a:ln w="19050" cap="flat">
            <a:solidFill>
              <a:srgbClr val="00549A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2F2F7-3B7D-100F-3219-BB94B7D04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C7BB4FA-02D3-A314-9E03-43D3DCDA195A}"/>
              </a:ext>
            </a:extLst>
          </p:cNvPr>
          <p:cNvSpPr/>
          <p:nvPr/>
        </p:nvSpPr>
        <p:spPr>
          <a:xfrm>
            <a:off x="609600" y="444500"/>
            <a:ext cx="10972800" cy="853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3465" b="1" dirty="0">
                <a:solidFill>
                  <a:srgbClr val="1A2B5E"/>
                </a:solidFill>
                <a:latin typeface="思源黑体" panose="020B0800000000000000" charset="-122"/>
                <a:ea typeface="思源黑体" panose="020B0800000000000000" charset="-122"/>
                <a:cs typeface="Calibri" panose="020F0502020204030204" pitchFamily="34" charset="-120"/>
              </a:rPr>
              <a:t>目录</a:t>
            </a:r>
            <a:endParaRPr lang="en-US" sz="3465" dirty="0">
              <a:latin typeface="思源黑体" panose="020B0800000000000000" charset="-122"/>
              <a:ea typeface="思源黑体" panose="020B0800000000000000" charset="-12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2366378-0FB4-A5C5-9ED8-285635B7967B}"/>
              </a:ext>
            </a:extLst>
          </p:cNvPr>
          <p:cNvSpPr/>
          <p:nvPr/>
        </p:nvSpPr>
        <p:spPr>
          <a:xfrm>
            <a:off x="609600" y="1322324"/>
            <a:ext cx="6238240" cy="4876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79DD3E0-80A0-DCE3-D700-BFE2F0B8F6A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8000" y="1631315"/>
            <a:ext cx="6339840" cy="1024128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5D2E531-D983-45E7-7494-AB33C30CBBC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08000" y="1631315"/>
            <a:ext cx="85344" cy="1024128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0FBC968-7027-C730-3EA6-D3967FBD523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90880" y="1692275"/>
            <a:ext cx="609600" cy="902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8FD4"/>
                </a:solidFill>
                <a:latin typeface="Copernicus Trial Bold" panose="02000000000000000000" charset="0"/>
                <a:ea typeface="思源黑体" panose="020B0800000000000000" charset="-122"/>
              </a:rPr>
              <a:t>①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B6C8BF2-F230-E2E7-4C86-AAE25648587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452880" y="1980686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项目开发进度</a:t>
            </a:r>
            <a:endParaRPr lang="en-US" sz="28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5CC87AA-0FD6-AE89-84C5-A06C76181B8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08000" y="2826131"/>
            <a:ext cx="6339840" cy="1024128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88CE874-7870-60FF-BA27-6944E36D1FF3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08000" y="2826131"/>
            <a:ext cx="85344" cy="1024128"/>
          </a:xfrm>
          <a:prstGeom prst="rect">
            <a:avLst/>
          </a:prstGeom>
          <a:solidFill>
            <a:srgbClr val="1670D2"/>
          </a:solidFill>
          <a:ln w="1270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08F4EC5-5346-B47E-F91B-CDD65C8849C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90880" y="2887091"/>
            <a:ext cx="609600" cy="902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70D2"/>
                </a:solidFill>
                <a:latin typeface="Copernicus Trial Bold" panose="02000000000000000000" charset="0"/>
                <a:ea typeface="思源黑体" panose="020B0800000000000000" charset="-122"/>
              </a:rPr>
              <a:t>②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0B5834C-645D-3082-C403-391967D5D2E7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422400" y="2899283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  <a:cs typeface="Copernicus Trial Bold" panose="02000000000000000000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3EE31D8-CA34-9938-CEB5-381423A6D453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08000" y="4020947"/>
            <a:ext cx="6339840" cy="1024128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74141DF-2CB7-67F8-5A0F-53833EE0F92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08000" y="4020947"/>
            <a:ext cx="85344" cy="1024128"/>
          </a:xfrm>
          <a:prstGeom prst="rect">
            <a:avLst/>
          </a:prstGeom>
          <a:solidFill>
            <a:srgbClr val="0A5798"/>
          </a:solidFill>
          <a:ln w="12700">
            <a:solidFill>
              <a:srgbClr val="0A57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007E964-8FCC-1487-802F-12081F2FBA8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90880" y="4081907"/>
            <a:ext cx="609600" cy="902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5798"/>
                </a:solidFill>
                <a:latin typeface="Copernicus Trial Bold" panose="02000000000000000000" charset="0"/>
                <a:ea typeface="思源黑体" panose="020B0800000000000000" charset="-122"/>
              </a:rPr>
              <a:t>③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E55541C-002D-EAC3-DF1B-C218FAF5D22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422400" y="4094099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8A5E448-12DD-50CD-F7C7-12384750C48A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08000" y="5215763"/>
            <a:ext cx="6339840" cy="1024128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00A6775-4B70-58C0-FF72-19EB8F212B18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08000" y="5215763"/>
            <a:ext cx="85344" cy="102412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8631A5C-8999-7C0C-91FE-08F5E45CBEC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90880" y="5276723"/>
            <a:ext cx="609600" cy="902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④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F1FAF34-7171-F8EE-2C39-53F6EC0C8CAB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422400" y="5288915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1C9AD7B-5C0C-7091-3A13-A03B9D83CDF5}"/>
              </a:ext>
            </a:extLst>
          </p:cNvPr>
          <p:cNvSpPr/>
          <p:nvPr userDrawn="1"/>
        </p:nvSpPr>
        <p:spPr>
          <a:xfrm>
            <a:off x="0" y="6665537"/>
            <a:ext cx="12192000" cy="192463"/>
          </a:xfrm>
          <a:prstGeom prst="rect">
            <a:avLst/>
          </a:prstGeom>
          <a:solidFill>
            <a:srgbClr val="004098">
              <a:alpha val="100000"/>
            </a:srgbClr>
          </a:solidFill>
          <a:ln>
            <a:solidFill>
              <a:srgbClr val="2E54A1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C129EDE-C5A3-BDED-2FEE-A7E40244ACDD}"/>
              </a:ext>
            </a:extLst>
          </p:cNvPr>
          <p:cNvSpPr/>
          <p:nvPr userDrawn="1"/>
        </p:nvSpPr>
        <p:spPr>
          <a:xfrm>
            <a:off x="0" y="0"/>
            <a:ext cx="12192000" cy="192463"/>
          </a:xfrm>
          <a:prstGeom prst="rect">
            <a:avLst/>
          </a:prstGeom>
          <a:solidFill>
            <a:srgbClr val="004098">
              <a:alpha val="100000"/>
            </a:srgbClr>
          </a:solidFill>
          <a:ln>
            <a:solidFill>
              <a:srgbClr val="2E54A1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CEA071C7-CCD0-167B-A2C8-E20483B8F5BB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>
            <a:fillRect/>
          </a:stretch>
        </p:blipFill>
        <p:spPr>
          <a:xfrm>
            <a:off x="7359650" y="1341247"/>
            <a:ext cx="4324350" cy="4324350"/>
          </a:xfrm>
          <a:prstGeom prst="roundRect">
            <a:avLst>
              <a:gd name="adj" fmla="val 3409"/>
            </a:avLst>
          </a:prstGeom>
        </p:spPr>
      </p:pic>
      <p:sp>
        <p:nvSpPr>
          <p:cNvPr id="57" name="Text 8">
            <a:extLst>
              <a:ext uri="{FF2B5EF4-FFF2-40B4-BE49-F238E27FC236}">
                <a16:creationId xmlns:a16="http://schemas.microsoft.com/office/drawing/2014/main" id="{E923D932-A792-3A11-BA05-03BA1C7E6220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452880" y="3162046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实验完成情况</a:t>
            </a:r>
            <a:endParaRPr lang="en-US" sz="28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59" name="Text 8">
            <a:extLst>
              <a:ext uri="{FF2B5EF4-FFF2-40B4-BE49-F238E27FC236}">
                <a16:creationId xmlns:a16="http://schemas.microsoft.com/office/drawing/2014/main" id="{9EC747F4-5DD1-5318-C161-FD1C8BF74E7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452880" y="4374417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实验结果与分析</a:t>
            </a:r>
            <a:endParaRPr lang="en-US" sz="28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70C9FF3C-A3CA-1F81-8AC4-49246626C6E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1452880" y="5545045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下一步计划</a:t>
            </a:r>
            <a:endParaRPr lang="en-US" sz="28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3910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520897" y="4413891"/>
            <a:ext cx="141732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81D3A"/>
                </a:solidFill>
                <a:latin typeface="微软雅黑"/>
              </a:defRPr>
            </a:pPr>
            <a:r>
              <a:t>ResNet-50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11369" y="4413891"/>
            <a:ext cx="141732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81D3A"/>
                </a:solidFill>
                <a:latin typeface="微软雅黑"/>
              </a:defRPr>
            </a:pPr>
            <a:r>
              <a:t>VGG13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857" y="4862256"/>
            <a:ext cx="128016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670D2"/>
                </a:solidFill>
                <a:latin typeface="微软雅黑"/>
              </a:defRPr>
            </a:pPr>
            <a:r>
              <a:rPr dirty="0"/>
              <a:t>ImageNet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20897" y="4760985"/>
            <a:ext cx="1417320" cy="493776"/>
          </a:xfrm>
          <a:prstGeom prst="roundRect">
            <a:avLst>
              <a:gd name="adj" fmla="val 12000"/>
            </a:avLst>
          </a:prstGeom>
          <a:solidFill>
            <a:srgbClr val="1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20897" y="4868952"/>
            <a:ext cx="141732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rPr dirty="0"/>
              <a:t>✓ </a:t>
            </a:r>
            <a:r>
              <a:rPr dirty="0" err="1"/>
              <a:t>已完成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4011369" y="4760985"/>
            <a:ext cx="1417320" cy="493776"/>
          </a:xfrm>
          <a:prstGeom prst="roundRect">
            <a:avLst>
              <a:gd name="adj" fmla="val 12000"/>
            </a:avLst>
          </a:prstGeom>
          <a:solidFill>
            <a:srgbClr val="1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11369" y="4868952"/>
            <a:ext cx="141732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✓ 已完成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857" y="5511480"/>
            <a:ext cx="128016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799A9"/>
                </a:solidFill>
                <a:latin typeface="微软雅黑"/>
              </a:defRPr>
            </a:pPr>
            <a:r>
              <a:t>CHNCXR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0897" y="5410209"/>
            <a:ext cx="1417320" cy="493776"/>
          </a:xfrm>
          <a:prstGeom prst="roundRect">
            <a:avLst>
              <a:gd name="adj" fmla="val 12000"/>
            </a:avLst>
          </a:prstGeom>
          <a:solidFill>
            <a:srgbClr val="079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20897" y="5518176"/>
            <a:ext cx="141732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✓ 已完成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11369" y="5410209"/>
            <a:ext cx="1417320" cy="493776"/>
          </a:xfrm>
          <a:prstGeom prst="roundRect">
            <a:avLst>
              <a:gd name="adj" fmla="val 12000"/>
            </a:avLst>
          </a:prstGeom>
          <a:solidFill>
            <a:srgbClr val="079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11369" y="5518176"/>
            <a:ext cx="141732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✓ 已完成</a:t>
            </a: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81785" y="1757333"/>
            <a:ext cx="5121673" cy="1094551"/>
          </a:xfrm>
          <a:prstGeom prst="rect">
            <a:avLst/>
          </a:prstGeom>
        </p:spPr>
      </p:pic>
      <p:grpSp>
        <p:nvGrpSpPr>
          <p:cNvPr id="89" name="组合 88">
            <a:extLst>
              <a:ext uri="{FF2B5EF4-FFF2-40B4-BE49-F238E27FC236}">
                <a16:creationId xmlns:a16="http://schemas.microsoft.com/office/drawing/2014/main" id="{E874564D-E2A6-AF54-2CB6-6473D3C23EC4}"/>
              </a:ext>
            </a:extLst>
          </p:cNvPr>
          <p:cNvGrpSpPr/>
          <p:nvPr/>
        </p:nvGrpSpPr>
        <p:grpSpPr>
          <a:xfrm>
            <a:off x="6604528" y="3676007"/>
            <a:ext cx="4811089" cy="2910137"/>
            <a:chOff x="6390316" y="3415825"/>
            <a:chExt cx="4811089" cy="2910137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390316" y="3415825"/>
              <a:ext cx="4811089" cy="1152144"/>
            </a:xfrm>
            <a:prstGeom prst="rect">
              <a:avLst/>
            </a:prstGeom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390316" y="4567969"/>
              <a:ext cx="4811089" cy="1757993"/>
            </a:xfrm>
            <a:prstGeom prst="rect">
              <a:avLst/>
            </a:prstGeom>
          </p:spPr>
        </p:pic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9C67F2E-C471-33EA-5681-D7F4462A904F}"/>
              </a:ext>
            </a:extLst>
          </p:cNvPr>
          <p:cNvSpPr>
            <a:spLocks noGrp="1"/>
          </p:cNvSpPr>
          <p:nvPr/>
        </p:nvSpPr>
        <p:spPr>
          <a:xfrm>
            <a:off x="607060" y="1904559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1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输入图像</a:t>
            </a: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B25A58B8-C159-9355-268E-997FFB46DD7E}"/>
              </a:ext>
            </a:extLst>
          </p:cNvPr>
          <p:cNvSpPr>
            <a:spLocks noGrp="1"/>
          </p:cNvSpPr>
          <p:nvPr/>
        </p:nvSpPr>
        <p:spPr>
          <a:xfrm>
            <a:off x="2197735" y="2095059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6ABBAC6A-B355-FF59-AC0B-87E4CEB69BC0}"/>
              </a:ext>
            </a:extLst>
          </p:cNvPr>
          <p:cNvSpPr>
            <a:spLocks noGrp="1"/>
          </p:cNvSpPr>
          <p:nvPr/>
        </p:nvSpPr>
        <p:spPr>
          <a:xfrm>
            <a:off x="2531110" y="1904559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1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区域 / 随机网格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B6DACF9A-0426-C9BB-56B3-671926EF975A}"/>
              </a:ext>
            </a:extLst>
          </p:cNvPr>
          <p:cNvSpPr>
            <a:spLocks noGrp="1"/>
          </p:cNvSpPr>
          <p:nvPr/>
        </p:nvSpPr>
        <p:spPr>
          <a:xfrm>
            <a:off x="4121785" y="2095059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F8326D2-EA61-7D4C-9AF9-67DA9A45C679}"/>
              </a:ext>
            </a:extLst>
          </p:cNvPr>
          <p:cNvSpPr>
            <a:spLocks noGrp="1"/>
          </p:cNvSpPr>
          <p:nvPr/>
        </p:nvSpPr>
        <p:spPr>
          <a:xfrm>
            <a:off x="4455160" y="1864216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1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扰动 / 联盟采样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FD83508F-F153-3422-B3F9-E5E4E50E0CFB}"/>
              </a:ext>
            </a:extLst>
          </p:cNvPr>
          <p:cNvSpPr>
            <a:spLocks noGrp="1"/>
          </p:cNvSpPr>
          <p:nvPr/>
        </p:nvSpPr>
        <p:spPr>
          <a:xfrm>
            <a:off x="607060" y="2657832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EAF3FB"/>
          </a:solidFill>
          <a:ln w="9525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1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模型 pre-Softmax logit</a:t>
            </a:r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01188B6-1CED-A048-A644-8113D528AE73}"/>
              </a:ext>
            </a:extLst>
          </p:cNvPr>
          <p:cNvSpPr>
            <a:spLocks noGrp="1"/>
          </p:cNvSpPr>
          <p:nvPr/>
        </p:nvSpPr>
        <p:spPr>
          <a:xfrm>
            <a:off x="2197735" y="2848332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693B64E0-A7CA-9480-74F0-1F5627BBD1AA}"/>
              </a:ext>
            </a:extLst>
          </p:cNvPr>
          <p:cNvSpPr>
            <a:spLocks noGrp="1"/>
          </p:cNvSpPr>
          <p:nvPr/>
        </p:nvSpPr>
        <p:spPr>
          <a:xfrm>
            <a:off x="2531110" y="2657832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1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有符号归因</a:t>
            </a:r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4475F8BB-0947-FB6C-83FA-BD74D4D7CE55}"/>
              </a:ext>
            </a:extLst>
          </p:cNvPr>
          <p:cNvSpPr>
            <a:spLocks noGrp="1"/>
          </p:cNvSpPr>
          <p:nvPr/>
        </p:nvSpPr>
        <p:spPr>
          <a:xfrm>
            <a:off x="4121785" y="2848332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117F39A3-7B76-87E4-3FF9-9B70B6A3CA6A}"/>
              </a:ext>
            </a:extLst>
          </p:cNvPr>
          <p:cNvSpPr>
            <a:spLocks noGrp="1"/>
          </p:cNvSpPr>
          <p:nvPr/>
        </p:nvSpPr>
        <p:spPr>
          <a:xfrm>
            <a:off x="4455160" y="2617489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11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rPr>
              <a:t>统一评价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732B339-0208-2EC5-7755-1D1BE38D5667}"/>
              </a:ext>
            </a:extLst>
          </p:cNvPr>
          <p:cNvSpPr>
            <a:spLocks noGrp="1"/>
          </p:cNvSpPr>
          <p:nvPr/>
        </p:nvSpPr>
        <p:spPr>
          <a:xfrm>
            <a:off x="1257300" y="228651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2900" b="1" dirty="0">
                <a:solidFill>
                  <a:srgbClr val="081D3A"/>
                </a:solidFill>
                <a:latin typeface="微软雅黑"/>
                <a:ea typeface="微软雅黑"/>
                <a:cs typeface="微软雅黑"/>
              </a:rPr>
              <a:t>M3</a:t>
            </a:r>
            <a:r>
              <a:rPr lang="zh-CN" altLang="en-US" sz="2900" b="1" dirty="0">
                <a:solidFill>
                  <a:srgbClr val="081D3A"/>
                </a:solidFill>
                <a:latin typeface="微软雅黑"/>
                <a:ea typeface="微软雅黑"/>
                <a:cs typeface="微软雅黑"/>
              </a:rPr>
              <a:t>实验现状</a:t>
            </a:r>
            <a:endParaRPr sz="2900" b="1" dirty="0">
              <a:solidFill>
                <a:srgbClr val="081D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Shape 3">
            <a:extLst>
              <a:ext uri="{FF2B5EF4-FFF2-40B4-BE49-F238E27FC236}">
                <a16:creationId xmlns:a16="http://schemas.microsoft.com/office/drawing/2014/main" id="{B7DF97C8-B5B0-CDBC-0B40-479128B07F80}"/>
              </a:ext>
            </a:extLst>
          </p:cNvPr>
          <p:cNvSpPr/>
          <p:nvPr/>
        </p:nvSpPr>
        <p:spPr>
          <a:xfrm>
            <a:off x="557493" y="865200"/>
            <a:ext cx="10972800" cy="30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任意多边形 3">
            <a:extLst>
              <a:ext uri="{FF2B5EF4-FFF2-40B4-BE49-F238E27FC236}">
                <a16:creationId xmlns:a16="http://schemas.microsoft.com/office/drawing/2014/main" id="{9F7913D9-AD35-9920-B9EC-D60CF8C15CEE}"/>
              </a:ext>
            </a:extLst>
          </p:cNvPr>
          <p:cNvSpPr/>
          <p:nvPr/>
        </p:nvSpPr>
        <p:spPr>
          <a:xfrm>
            <a:off x="571500" y="171501"/>
            <a:ext cx="571500" cy="571500"/>
          </a:xfrm>
          <a:custGeom>
            <a:avLst/>
            <a:gdLst>
              <a:gd name="connisteX0" fmla="*/ 133349 w 571500"/>
              <a:gd name="connsiteY0" fmla="*/ 0 h 571500"/>
              <a:gd name="connisteX1" fmla="*/ 571500 w 571500"/>
              <a:gd name="connsiteY1" fmla="*/ 0 h 571500"/>
              <a:gd name="connisteX2" fmla="*/ 444500 w 571500"/>
              <a:gd name="connsiteY2" fmla="*/ 571500 h 571500"/>
              <a:gd name="connisteX3" fmla="*/ 0 w 571500"/>
              <a:gd name="connsiteY3" fmla="*/ 571500 h 571500"/>
              <a:gd name="connisteX4" fmla="*/ 133349 w 571500"/>
              <a:gd name="connsiteY4" fmla="*/ 0 h 5715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571500" h="571500">
                <a:moveTo>
                  <a:pt x="133350" y="0"/>
                </a:moveTo>
                <a:lnTo>
                  <a:pt x="571500" y="0"/>
                </a:lnTo>
                <a:lnTo>
                  <a:pt x="444500" y="571500"/>
                </a:lnTo>
                <a:lnTo>
                  <a:pt x="0" y="571500"/>
                </a:lnTo>
                <a:lnTo>
                  <a:pt x="133350" y="0"/>
                </a:lnTo>
                <a:close/>
              </a:path>
            </a:pathLst>
          </a:custGeom>
          <a:solidFill>
            <a:srgbClr val="0A5798"/>
          </a:solidFill>
          <a:ln>
            <a:solidFill>
              <a:srgbClr val="3A8FD4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0" name="任意多边形 4">
            <a:extLst>
              <a:ext uri="{FF2B5EF4-FFF2-40B4-BE49-F238E27FC236}">
                <a16:creationId xmlns:a16="http://schemas.microsoft.com/office/drawing/2014/main" id="{EAEC7714-0F49-F569-C83C-89CBAE2EC51C}"/>
              </a:ext>
            </a:extLst>
          </p:cNvPr>
          <p:cNvSpPr/>
          <p:nvPr/>
        </p:nvSpPr>
        <p:spPr>
          <a:xfrm>
            <a:off x="607060" y="206426"/>
            <a:ext cx="565150" cy="565150"/>
          </a:xfrm>
          <a:custGeom>
            <a:avLst/>
            <a:gdLst>
              <a:gd name="connisteX0" fmla="*/ 520699 w 565150"/>
              <a:gd name="connsiteY0" fmla="*/ 0 h 565150"/>
              <a:gd name="connisteX1" fmla="*/ 565150 w 565150"/>
              <a:gd name="connsiteY1" fmla="*/ 0 h 565150"/>
              <a:gd name="connisteX2" fmla="*/ 450850 w 565150"/>
              <a:gd name="connsiteY2" fmla="*/ 565150 h 565150"/>
              <a:gd name="connisteX3" fmla="*/ 0 w 565150"/>
              <a:gd name="connsiteY3" fmla="*/ 565150 h 565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65150" h="565150">
                <a:moveTo>
                  <a:pt x="520700" y="0"/>
                </a:moveTo>
                <a:lnTo>
                  <a:pt x="565150" y="0"/>
                </a:lnTo>
                <a:lnTo>
                  <a:pt x="450850" y="565150"/>
                </a:lnTo>
                <a:lnTo>
                  <a:pt x="0" y="565150"/>
                </a:lnTo>
              </a:path>
            </a:pathLst>
          </a:custGeom>
          <a:noFill/>
          <a:ln w="19050" cap="flat">
            <a:solidFill>
              <a:srgbClr val="00549A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任意多边形 9">
            <a:extLst>
              <a:ext uri="{FF2B5EF4-FFF2-40B4-BE49-F238E27FC236}">
                <a16:creationId xmlns:a16="http://schemas.microsoft.com/office/drawing/2014/main" id="{F8E20472-C4F7-2B86-1ACD-62A226C6F27C}"/>
              </a:ext>
            </a:extLst>
          </p:cNvPr>
          <p:cNvSpPr/>
          <p:nvPr/>
        </p:nvSpPr>
        <p:spPr>
          <a:xfrm>
            <a:off x="571500" y="1127171"/>
            <a:ext cx="5445760" cy="482600"/>
          </a:xfrm>
          <a:custGeom>
            <a:avLst/>
            <a:gdLst>
              <a:gd name="connisteX0" fmla="*/ 0 w 11658600"/>
              <a:gd name="connsiteY0" fmla="*/ 101346 h 482600"/>
              <a:gd name="connisteX1" fmla="*/ 58292 w 11658600"/>
              <a:gd name="connsiteY1" fmla="*/ 0 h 482600"/>
              <a:gd name="connisteX2" fmla="*/ 11600307 w 11658600"/>
              <a:gd name="connsiteY2" fmla="*/ 0 h 482600"/>
              <a:gd name="connisteX3" fmla="*/ 11658600 w 11658600"/>
              <a:gd name="connsiteY3" fmla="*/ 101346 h 482600"/>
              <a:gd name="connisteX4" fmla="*/ 11658600 w 11658600"/>
              <a:gd name="connsiteY4" fmla="*/ 381253 h 482600"/>
              <a:gd name="connisteX5" fmla="*/ 11600307 w 11658600"/>
              <a:gd name="connsiteY5" fmla="*/ 482600 h 482600"/>
              <a:gd name="connisteX6" fmla="*/ 58292 w 11658600"/>
              <a:gd name="connsiteY6" fmla="*/ 482600 h 482600"/>
              <a:gd name="connisteX7" fmla="*/ 0 w 11658600"/>
              <a:gd name="connsiteY7" fmla="*/ 381253 h 482600"/>
              <a:gd name="connisteX8" fmla="*/ 0 w 11658600"/>
              <a:gd name="connsiteY8" fmla="*/ 101346 h 48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658600" h="482600">
                <a:moveTo>
                  <a:pt x="0" y="101346"/>
                </a:moveTo>
                <a:cubicBezTo>
                  <a:pt x="0" y="45374"/>
                  <a:pt x="26099" y="0"/>
                  <a:pt x="58293" y="0"/>
                </a:cubicBezTo>
                <a:lnTo>
                  <a:pt x="11600307" y="0"/>
                </a:lnTo>
                <a:cubicBezTo>
                  <a:pt x="11632501" y="0"/>
                  <a:pt x="11658600" y="45374"/>
                  <a:pt x="11658600" y="101346"/>
                </a:cubicBezTo>
                <a:lnTo>
                  <a:pt x="11658600" y="381254"/>
                </a:lnTo>
                <a:cubicBezTo>
                  <a:pt x="11658600" y="437226"/>
                  <a:pt x="11632501" y="482600"/>
                  <a:pt x="11600307" y="482600"/>
                </a:cubicBezTo>
                <a:lnTo>
                  <a:pt x="58293" y="482600"/>
                </a:lnTo>
                <a:cubicBezTo>
                  <a:pt x="26099" y="482600"/>
                  <a:pt x="0" y="437226"/>
                  <a:pt x="0" y="381254"/>
                </a:cubicBezTo>
                <a:lnTo>
                  <a:pt x="0" y="101346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8" name="任意多边形 10">
            <a:extLst>
              <a:ext uri="{FF2B5EF4-FFF2-40B4-BE49-F238E27FC236}">
                <a16:creationId xmlns:a16="http://schemas.microsoft.com/office/drawing/2014/main" id="{E9DB39F6-3903-AE0D-60DD-B45A27A8A83A}"/>
              </a:ext>
            </a:extLst>
          </p:cNvPr>
          <p:cNvSpPr/>
          <p:nvPr/>
        </p:nvSpPr>
        <p:spPr>
          <a:xfrm>
            <a:off x="571500" y="1127171"/>
            <a:ext cx="229012" cy="481965"/>
          </a:xfrm>
          <a:custGeom>
            <a:avLst/>
            <a:gdLst>
              <a:gd name="connisteX0" fmla="*/ 0 w 101599"/>
              <a:gd name="connsiteY0" fmla="*/ 50672 h 482599"/>
              <a:gd name="connisteX1" fmla="*/ 50799 w 101599"/>
              <a:gd name="connsiteY1" fmla="*/ 0 h 482599"/>
              <a:gd name="connisteX2" fmla="*/ 101599 w 101599"/>
              <a:gd name="connsiteY2" fmla="*/ 50672 h 482599"/>
              <a:gd name="connisteX3" fmla="*/ 101599 w 101599"/>
              <a:gd name="connsiteY3" fmla="*/ 431926 h 482599"/>
              <a:gd name="connisteX4" fmla="*/ 50799 w 101599"/>
              <a:gd name="connsiteY4" fmla="*/ 482599 h 482599"/>
              <a:gd name="connisteX5" fmla="*/ 0 w 101599"/>
              <a:gd name="connsiteY5" fmla="*/ 431926 h 482599"/>
              <a:gd name="connisteX6" fmla="*/ 0 w 101599"/>
              <a:gd name="connsiteY6" fmla="*/ 50672 h 4825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482600">
                <a:moveTo>
                  <a:pt x="0" y="50673"/>
                </a:moveTo>
                <a:cubicBezTo>
                  <a:pt x="0" y="22687"/>
                  <a:pt x="22744" y="0"/>
                  <a:pt x="50800" y="0"/>
                </a:cubicBezTo>
                <a:cubicBezTo>
                  <a:pt x="78856" y="0"/>
                  <a:pt x="101600" y="22687"/>
                  <a:pt x="101600" y="50673"/>
                </a:cubicBezTo>
                <a:lnTo>
                  <a:pt x="101600" y="431927"/>
                </a:lnTo>
                <a:cubicBezTo>
                  <a:pt x="101600" y="459913"/>
                  <a:pt x="78856" y="482600"/>
                  <a:pt x="50800" y="482600"/>
                </a:cubicBezTo>
                <a:cubicBezTo>
                  <a:pt x="22744" y="482600"/>
                  <a:pt x="0" y="459913"/>
                  <a:pt x="0" y="431927"/>
                </a:cubicBezTo>
                <a:lnTo>
                  <a:pt x="0" y="50673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2" name="TextBox 28">
            <a:extLst>
              <a:ext uri="{FF2B5EF4-FFF2-40B4-BE49-F238E27FC236}">
                <a16:creationId xmlns:a16="http://schemas.microsoft.com/office/drawing/2014/main" id="{D533414C-B646-A808-BB84-64A51BA9F6A4}"/>
              </a:ext>
            </a:extLst>
          </p:cNvPr>
          <p:cNvSpPr txBox="1"/>
          <p:nvPr/>
        </p:nvSpPr>
        <p:spPr>
          <a:xfrm>
            <a:off x="889635" y="1167770"/>
            <a:ext cx="2169583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02FA7"/>
                </a:solidFill>
                <a:latin typeface="微软雅黑"/>
              </a:defRPr>
            </a:pPr>
            <a:r>
              <a:rPr lang="zh-CN" altLang="en-US" sz="2200" dirty="0">
                <a:solidFill>
                  <a:srgbClr val="0A57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 </a:t>
            </a:r>
            <a:r>
              <a:rPr lang="en-US" altLang="zh-CN" sz="2200" dirty="0">
                <a:solidFill>
                  <a:srgbClr val="0A57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Pipeline</a:t>
            </a:r>
            <a:endParaRPr sz="2200" dirty="0">
              <a:solidFill>
                <a:srgbClr val="0A579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任意多边形 9">
            <a:extLst>
              <a:ext uri="{FF2B5EF4-FFF2-40B4-BE49-F238E27FC236}">
                <a16:creationId xmlns:a16="http://schemas.microsoft.com/office/drawing/2014/main" id="{AB0BCB52-4766-7C07-681F-0B3D5FB1865A}"/>
              </a:ext>
            </a:extLst>
          </p:cNvPr>
          <p:cNvSpPr/>
          <p:nvPr/>
        </p:nvSpPr>
        <p:spPr>
          <a:xfrm>
            <a:off x="557493" y="3620275"/>
            <a:ext cx="5445760" cy="482600"/>
          </a:xfrm>
          <a:custGeom>
            <a:avLst/>
            <a:gdLst>
              <a:gd name="connisteX0" fmla="*/ 0 w 11658600"/>
              <a:gd name="connsiteY0" fmla="*/ 101346 h 482600"/>
              <a:gd name="connisteX1" fmla="*/ 58292 w 11658600"/>
              <a:gd name="connsiteY1" fmla="*/ 0 h 482600"/>
              <a:gd name="connisteX2" fmla="*/ 11600307 w 11658600"/>
              <a:gd name="connsiteY2" fmla="*/ 0 h 482600"/>
              <a:gd name="connisteX3" fmla="*/ 11658600 w 11658600"/>
              <a:gd name="connsiteY3" fmla="*/ 101346 h 482600"/>
              <a:gd name="connisteX4" fmla="*/ 11658600 w 11658600"/>
              <a:gd name="connsiteY4" fmla="*/ 381253 h 482600"/>
              <a:gd name="connisteX5" fmla="*/ 11600307 w 11658600"/>
              <a:gd name="connsiteY5" fmla="*/ 482600 h 482600"/>
              <a:gd name="connisteX6" fmla="*/ 58292 w 11658600"/>
              <a:gd name="connsiteY6" fmla="*/ 482600 h 482600"/>
              <a:gd name="connisteX7" fmla="*/ 0 w 11658600"/>
              <a:gd name="connsiteY7" fmla="*/ 381253 h 482600"/>
              <a:gd name="connisteX8" fmla="*/ 0 w 11658600"/>
              <a:gd name="connsiteY8" fmla="*/ 101346 h 48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658600" h="482600">
                <a:moveTo>
                  <a:pt x="0" y="101346"/>
                </a:moveTo>
                <a:cubicBezTo>
                  <a:pt x="0" y="45374"/>
                  <a:pt x="26099" y="0"/>
                  <a:pt x="58293" y="0"/>
                </a:cubicBezTo>
                <a:lnTo>
                  <a:pt x="11600307" y="0"/>
                </a:lnTo>
                <a:cubicBezTo>
                  <a:pt x="11632501" y="0"/>
                  <a:pt x="11658600" y="45374"/>
                  <a:pt x="11658600" y="101346"/>
                </a:cubicBezTo>
                <a:lnTo>
                  <a:pt x="11658600" y="381254"/>
                </a:lnTo>
                <a:cubicBezTo>
                  <a:pt x="11658600" y="437226"/>
                  <a:pt x="11632501" y="482600"/>
                  <a:pt x="11600307" y="482600"/>
                </a:cubicBezTo>
                <a:lnTo>
                  <a:pt x="58293" y="482600"/>
                </a:lnTo>
                <a:cubicBezTo>
                  <a:pt x="26099" y="482600"/>
                  <a:pt x="0" y="437226"/>
                  <a:pt x="0" y="381254"/>
                </a:cubicBezTo>
                <a:lnTo>
                  <a:pt x="0" y="101346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0" name="任意多边形 10">
            <a:extLst>
              <a:ext uri="{FF2B5EF4-FFF2-40B4-BE49-F238E27FC236}">
                <a16:creationId xmlns:a16="http://schemas.microsoft.com/office/drawing/2014/main" id="{6E6F8082-A8AF-0889-602F-E024F5ED0B84}"/>
              </a:ext>
            </a:extLst>
          </p:cNvPr>
          <p:cNvSpPr/>
          <p:nvPr/>
        </p:nvSpPr>
        <p:spPr>
          <a:xfrm>
            <a:off x="557493" y="3620275"/>
            <a:ext cx="229012" cy="481965"/>
          </a:xfrm>
          <a:custGeom>
            <a:avLst/>
            <a:gdLst>
              <a:gd name="connisteX0" fmla="*/ 0 w 101599"/>
              <a:gd name="connsiteY0" fmla="*/ 50672 h 482599"/>
              <a:gd name="connisteX1" fmla="*/ 50799 w 101599"/>
              <a:gd name="connsiteY1" fmla="*/ 0 h 482599"/>
              <a:gd name="connisteX2" fmla="*/ 101599 w 101599"/>
              <a:gd name="connsiteY2" fmla="*/ 50672 h 482599"/>
              <a:gd name="connisteX3" fmla="*/ 101599 w 101599"/>
              <a:gd name="connsiteY3" fmla="*/ 431926 h 482599"/>
              <a:gd name="connisteX4" fmla="*/ 50799 w 101599"/>
              <a:gd name="connsiteY4" fmla="*/ 482599 h 482599"/>
              <a:gd name="connisteX5" fmla="*/ 0 w 101599"/>
              <a:gd name="connsiteY5" fmla="*/ 431926 h 482599"/>
              <a:gd name="connisteX6" fmla="*/ 0 w 101599"/>
              <a:gd name="connsiteY6" fmla="*/ 50672 h 4825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482600">
                <a:moveTo>
                  <a:pt x="0" y="50673"/>
                </a:moveTo>
                <a:cubicBezTo>
                  <a:pt x="0" y="22687"/>
                  <a:pt x="22744" y="0"/>
                  <a:pt x="50800" y="0"/>
                </a:cubicBezTo>
                <a:cubicBezTo>
                  <a:pt x="78856" y="0"/>
                  <a:pt x="101600" y="22687"/>
                  <a:pt x="101600" y="50673"/>
                </a:cubicBezTo>
                <a:lnTo>
                  <a:pt x="101600" y="431927"/>
                </a:lnTo>
                <a:cubicBezTo>
                  <a:pt x="101600" y="459913"/>
                  <a:pt x="78856" y="482600"/>
                  <a:pt x="50800" y="482600"/>
                </a:cubicBezTo>
                <a:cubicBezTo>
                  <a:pt x="22744" y="482600"/>
                  <a:pt x="0" y="459913"/>
                  <a:pt x="0" y="431927"/>
                </a:cubicBezTo>
                <a:lnTo>
                  <a:pt x="0" y="50673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2" name="TextBox 28">
            <a:extLst>
              <a:ext uri="{FF2B5EF4-FFF2-40B4-BE49-F238E27FC236}">
                <a16:creationId xmlns:a16="http://schemas.microsoft.com/office/drawing/2014/main" id="{14A83B83-DEB1-305C-7FC9-B0B93164C167}"/>
              </a:ext>
            </a:extLst>
          </p:cNvPr>
          <p:cNvSpPr txBox="1"/>
          <p:nvPr/>
        </p:nvSpPr>
        <p:spPr>
          <a:xfrm>
            <a:off x="889635" y="3676007"/>
            <a:ext cx="350979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微软雅黑"/>
              </a:defRPr>
            </a:pPr>
            <a:r>
              <a:rPr lang="en-US" altLang="zh-CN" sz="2200" dirty="0">
                <a:solidFill>
                  <a:srgbClr val="0A5798"/>
                </a:solidFill>
              </a:rPr>
              <a:t>2 </a:t>
            </a:r>
            <a:r>
              <a:rPr lang="zh-CN" altLang="en-US" sz="2200" dirty="0">
                <a:solidFill>
                  <a:srgbClr val="0A5798"/>
                </a:solidFill>
              </a:rPr>
              <a:t>数据域 </a:t>
            </a:r>
            <a:r>
              <a:rPr lang="en-US" altLang="zh-CN" sz="2200" dirty="0">
                <a:solidFill>
                  <a:srgbClr val="0A5798"/>
                </a:solidFill>
              </a:rPr>
              <a:t>× 2 </a:t>
            </a:r>
            <a:r>
              <a:rPr lang="zh-CN" altLang="en-US" sz="2200" dirty="0">
                <a:solidFill>
                  <a:srgbClr val="0A5798"/>
                </a:solidFill>
              </a:rPr>
              <a:t>模型</a:t>
            </a:r>
          </a:p>
        </p:txBody>
      </p:sp>
      <p:sp>
        <p:nvSpPr>
          <p:cNvPr id="84" name="任意多边形 9">
            <a:extLst>
              <a:ext uri="{FF2B5EF4-FFF2-40B4-BE49-F238E27FC236}">
                <a16:creationId xmlns:a16="http://schemas.microsoft.com/office/drawing/2014/main" id="{32552458-10A0-D40E-2FE6-9F892D361B84}"/>
              </a:ext>
            </a:extLst>
          </p:cNvPr>
          <p:cNvSpPr/>
          <p:nvPr/>
        </p:nvSpPr>
        <p:spPr>
          <a:xfrm>
            <a:off x="6252773" y="1109870"/>
            <a:ext cx="5445760" cy="482600"/>
          </a:xfrm>
          <a:custGeom>
            <a:avLst/>
            <a:gdLst>
              <a:gd name="connisteX0" fmla="*/ 0 w 11658600"/>
              <a:gd name="connsiteY0" fmla="*/ 101346 h 482600"/>
              <a:gd name="connisteX1" fmla="*/ 58292 w 11658600"/>
              <a:gd name="connsiteY1" fmla="*/ 0 h 482600"/>
              <a:gd name="connisteX2" fmla="*/ 11600307 w 11658600"/>
              <a:gd name="connsiteY2" fmla="*/ 0 h 482600"/>
              <a:gd name="connisteX3" fmla="*/ 11658600 w 11658600"/>
              <a:gd name="connsiteY3" fmla="*/ 101346 h 482600"/>
              <a:gd name="connisteX4" fmla="*/ 11658600 w 11658600"/>
              <a:gd name="connsiteY4" fmla="*/ 381253 h 482600"/>
              <a:gd name="connisteX5" fmla="*/ 11600307 w 11658600"/>
              <a:gd name="connsiteY5" fmla="*/ 482600 h 482600"/>
              <a:gd name="connisteX6" fmla="*/ 58292 w 11658600"/>
              <a:gd name="connsiteY6" fmla="*/ 482600 h 482600"/>
              <a:gd name="connisteX7" fmla="*/ 0 w 11658600"/>
              <a:gd name="connsiteY7" fmla="*/ 381253 h 482600"/>
              <a:gd name="connisteX8" fmla="*/ 0 w 11658600"/>
              <a:gd name="connsiteY8" fmla="*/ 101346 h 48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658600" h="482600">
                <a:moveTo>
                  <a:pt x="0" y="101346"/>
                </a:moveTo>
                <a:cubicBezTo>
                  <a:pt x="0" y="45374"/>
                  <a:pt x="26099" y="0"/>
                  <a:pt x="58293" y="0"/>
                </a:cubicBezTo>
                <a:lnTo>
                  <a:pt x="11600307" y="0"/>
                </a:lnTo>
                <a:cubicBezTo>
                  <a:pt x="11632501" y="0"/>
                  <a:pt x="11658600" y="45374"/>
                  <a:pt x="11658600" y="101346"/>
                </a:cubicBezTo>
                <a:lnTo>
                  <a:pt x="11658600" y="381254"/>
                </a:lnTo>
                <a:cubicBezTo>
                  <a:pt x="11658600" y="437226"/>
                  <a:pt x="11632501" y="482600"/>
                  <a:pt x="11600307" y="482600"/>
                </a:cubicBezTo>
                <a:lnTo>
                  <a:pt x="58293" y="482600"/>
                </a:lnTo>
                <a:cubicBezTo>
                  <a:pt x="26099" y="482600"/>
                  <a:pt x="0" y="437226"/>
                  <a:pt x="0" y="381254"/>
                </a:cubicBezTo>
                <a:lnTo>
                  <a:pt x="0" y="101346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6" name="任意多边形 10">
            <a:extLst>
              <a:ext uri="{FF2B5EF4-FFF2-40B4-BE49-F238E27FC236}">
                <a16:creationId xmlns:a16="http://schemas.microsoft.com/office/drawing/2014/main" id="{52EB3C40-679F-5909-E3AD-ED2A3D96F054}"/>
              </a:ext>
            </a:extLst>
          </p:cNvPr>
          <p:cNvSpPr/>
          <p:nvPr/>
        </p:nvSpPr>
        <p:spPr>
          <a:xfrm>
            <a:off x="6252773" y="1109870"/>
            <a:ext cx="229012" cy="481965"/>
          </a:xfrm>
          <a:custGeom>
            <a:avLst/>
            <a:gdLst>
              <a:gd name="connisteX0" fmla="*/ 0 w 101599"/>
              <a:gd name="connsiteY0" fmla="*/ 50672 h 482599"/>
              <a:gd name="connisteX1" fmla="*/ 50799 w 101599"/>
              <a:gd name="connsiteY1" fmla="*/ 0 h 482599"/>
              <a:gd name="connisteX2" fmla="*/ 101599 w 101599"/>
              <a:gd name="connsiteY2" fmla="*/ 50672 h 482599"/>
              <a:gd name="connisteX3" fmla="*/ 101599 w 101599"/>
              <a:gd name="connsiteY3" fmla="*/ 431926 h 482599"/>
              <a:gd name="connisteX4" fmla="*/ 50799 w 101599"/>
              <a:gd name="connsiteY4" fmla="*/ 482599 h 482599"/>
              <a:gd name="connisteX5" fmla="*/ 0 w 101599"/>
              <a:gd name="connsiteY5" fmla="*/ 431926 h 482599"/>
              <a:gd name="connisteX6" fmla="*/ 0 w 101599"/>
              <a:gd name="connsiteY6" fmla="*/ 50672 h 4825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482600">
                <a:moveTo>
                  <a:pt x="0" y="50673"/>
                </a:moveTo>
                <a:cubicBezTo>
                  <a:pt x="0" y="22687"/>
                  <a:pt x="22744" y="0"/>
                  <a:pt x="50800" y="0"/>
                </a:cubicBezTo>
                <a:cubicBezTo>
                  <a:pt x="78856" y="0"/>
                  <a:pt x="101600" y="22687"/>
                  <a:pt x="101600" y="50673"/>
                </a:cubicBezTo>
                <a:lnTo>
                  <a:pt x="101600" y="431927"/>
                </a:lnTo>
                <a:cubicBezTo>
                  <a:pt x="101600" y="459913"/>
                  <a:pt x="78856" y="482600"/>
                  <a:pt x="50800" y="482600"/>
                </a:cubicBezTo>
                <a:cubicBezTo>
                  <a:pt x="22744" y="482600"/>
                  <a:pt x="0" y="459913"/>
                  <a:pt x="0" y="431927"/>
                </a:cubicBezTo>
                <a:lnTo>
                  <a:pt x="0" y="50673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8" name="TextBox 28">
            <a:extLst>
              <a:ext uri="{FF2B5EF4-FFF2-40B4-BE49-F238E27FC236}">
                <a16:creationId xmlns:a16="http://schemas.microsoft.com/office/drawing/2014/main" id="{29776F9B-A452-E959-702F-5F5DE8D8039B}"/>
              </a:ext>
            </a:extLst>
          </p:cNvPr>
          <p:cNvSpPr txBox="1"/>
          <p:nvPr/>
        </p:nvSpPr>
        <p:spPr>
          <a:xfrm>
            <a:off x="6570908" y="1150469"/>
            <a:ext cx="3326127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02FA7"/>
                </a:solidFill>
                <a:latin typeface="微软雅黑"/>
              </a:defRPr>
            </a:pPr>
            <a:r>
              <a:rPr lang="en-US" sz="2200" dirty="0">
                <a:solidFill>
                  <a:srgbClr val="0A57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M3 </a:t>
            </a:r>
            <a:r>
              <a:rPr lang="zh-CN" altLang="en-US" sz="2200" dirty="0">
                <a:solidFill>
                  <a:srgbClr val="0A57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初步实验运行规模</a:t>
            </a:r>
            <a:endParaRPr sz="2200" dirty="0">
              <a:solidFill>
                <a:srgbClr val="0A579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任意多边形 9">
            <a:extLst>
              <a:ext uri="{FF2B5EF4-FFF2-40B4-BE49-F238E27FC236}">
                <a16:creationId xmlns:a16="http://schemas.microsoft.com/office/drawing/2014/main" id="{68FCE51D-245A-3CA3-5007-3FF72A4F6D97}"/>
              </a:ext>
            </a:extLst>
          </p:cNvPr>
          <p:cNvSpPr/>
          <p:nvPr/>
        </p:nvSpPr>
        <p:spPr>
          <a:xfrm>
            <a:off x="6252773" y="3116117"/>
            <a:ext cx="5445760" cy="482600"/>
          </a:xfrm>
          <a:custGeom>
            <a:avLst/>
            <a:gdLst>
              <a:gd name="connisteX0" fmla="*/ 0 w 11658600"/>
              <a:gd name="connsiteY0" fmla="*/ 101346 h 482600"/>
              <a:gd name="connisteX1" fmla="*/ 58292 w 11658600"/>
              <a:gd name="connsiteY1" fmla="*/ 0 h 482600"/>
              <a:gd name="connisteX2" fmla="*/ 11600307 w 11658600"/>
              <a:gd name="connsiteY2" fmla="*/ 0 h 482600"/>
              <a:gd name="connisteX3" fmla="*/ 11658600 w 11658600"/>
              <a:gd name="connsiteY3" fmla="*/ 101346 h 482600"/>
              <a:gd name="connisteX4" fmla="*/ 11658600 w 11658600"/>
              <a:gd name="connsiteY4" fmla="*/ 381253 h 482600"/>
              <a:gd name="connisteX5" fmla="*/ 11600307 w 11658600"/>
              <a:gd name="connsiteY5" fmla="*/ 482600 h 482600"/>
              <a:gd name="connisteX6" fmla="*/ 58292 w 11658600"/>
              <a:gd name="connsiteY6" fmla="*/ 482600 h 482600"/>
              <a:gd name="connisteX7" fmla="*/ 0 w 11658600"/>
              <a:gd name="connsiteY7" fmla="*/ 381253 h 482600"/>
              <a:gd name="connisteX8" fmla="*/ 0 w 11658600"/>
              <a:gd name="connsiteY8" fmla="*/ 101346 h 48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658600" h="482600">
                <a:moveTo>
                  <a:pt x="0" y="101346"/>
                </a:moveTo>
                <a:cubicBezTo>
                  <a:pt x="0" y="45374"/>
                  <a:pt x="26099" y="0"/>
                  <a:pt x="58293" y="0"/>
                </a:cubicBezTo>
                <a:lnTo>
                  <a:pt x="11600307" y="0"/>
                </a:lnTo>
                <a:cubicBezTo>
                  <a:pt x="11632501" y="0"/>
                  <a:pt x="11658600" y="45374"/>
                  <a:pt x="11658600" y="101346"/>
                </a:cubicBezTo>
                <a:lnTo>
                  <a:pt x="11658600" y="381254"/>
                </a:lnTo>
                <a:cubicBezTo>
                  <a:pt x="11658600" y="437226"/>
                  <a:pt x="11632501" y="482600"/>
                  <a:pt x="11600307" y="482600"/>
                </a:cubicBezTo>
                <a:lnTo>
                  <a:pt x="58293" y="482600"/>
                </a:lnTo>
                <a:cubicBezTo>
                  <a:pt x="26099" y="482600"/>
                  <a:pt x="0" y="437226"/>
                  <a:pt x="0" y="381254"/>
                </a:cubicBezTo>
                <a:lnTo>
                  <a:pt x="0" y="101346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3" name="任意多边形 10">
            <a:extLst>
              <a:ext uri="{FF2B5EF4-FFF2-40B4-BE49-F238E27FC236}">
                <a16:creationId xmlns:a16="http://schemas.microsoft.com/office/drawing/2014/main" id="{0A23B57B-089F-5AF4-FF91-3CF4CA386B6B}"/>
              </a:ext>
            </a:extLst>
          </p:cNvPr>
          <p:cNvSpPr/>
          <p:nvPr/>
        </p:nvSpPr>
        <p:spPr>
          <a:xfrm>
            <a:off x="6252773" y="3116117"/>
            <a:ext cx="229012" cy="481965"/>
          </a:xfrm>
          <a:custGeom>
            <a:avLst/>
            <a:gdLst>
              <a:gd name="connisteX0" fmla="*/ 0 w 101599"/>
              <a:gd name="connsiteY0" fmla="*/ 50672 h 482599"/>
              <a:gd name="connisteX1" fmla="*/ 50799 w 101599"/>
              <a:gd name="connsiteY1" fmla="*/ 0 h 482599"/>
              <a:gd name="connisteX2" fmla="*/ 101599 w 101599"/>
              <a:gd name="connsiteY2" fmla="*/ 50672 h 482599"/>
              <a:gd name="connisteX3" fmla="*/ 101599 w 101599"/>
              <a:gd name="connsiteY3" fmla="*/ 431926 h 482599"/>
              <a:gd name="connisteX4" fmla="*/ 50799 w 101599"/>
              <a:gd name="connsiteY4" fmla="*/ 482599 h 482599"/>
              <a:gd name="connisteX5" fmla="*/ 0 w 101599"/>
              <a:gd name="connsiteY5" fmla="*/ 431926 h 482599"/>
              <a:gd name="connisteX6" fmla="*/ 0 w 101599"/>
              <a:gd name="connsiteY6" fmla="*/ 50672 h 4825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482600">
                <a:moveTo>
                  <a:pt x="0" y="50673"/>
                </a:moveTo>
                <a:cubicBezTo>
                  <a:pt x="0" y="22687"/>
                  <a:pt x="22744" y="0"/>
                  <a:pt x="50800" y="0"/>
                </a:cubicBezTo>
                <a:cubicBezTo>
                  <a:pt x="78856" y="0"/>
                  <a:pt x="101600" y="22687"/>
                  <a:pt x="101600" y="50673"/>
                </a:cubicBezTo>
                <a:lnTo>
                  <a:pt x="101600" y="431927"/>
                </a:lnTo>
                <a:cubicBezTo>
                  <a:pt x="101600" y="459913"/>
                  <a:pt x="78856" y="482600"/>
                  <a:pt x="50800" y="482600"/>
                </a:cubicBezTo>
                <a:cubicBezTo>
                  <a:pt x="22744" y="482600"/>
                  <a:pt x="0" y="459913"/>
                  <a:pt x="0" y="431927"/>
                </a:cubicBezTo>
                <a:lnTo>
                  <a:pt x="0" y="50673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5" name="TextBox 28">
            <a:extLst>
              <a:ext uri="{FF2B5EF4-FFF2-40B4-BE49-F238E27FC236}">
                <a16:creationId xmlns:a16="http://schemas.microsoft.com/office/drawing/2014/main" id="{E2614CFC-D3E5-6DF1-C3B4-39DC8CBD9C13}"/>
              </a:ext>
            </a:extLst>
          </p:cNvPr>
          <p:cNvSpPr txBox="1"/>
          <p:nvPr/>
        </p:nvSpPr>
        <p:spPr>
          <a:xfrm>
            <a:off x="6584915" y="3171849"/>
            <a:ext cx="3509795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微软雅黑"/>
              </a:defRPr>
            </a:pPr>
            <a:r>
              <a:rPr lang="en-US" altLang="zh-CN" sz="2200" dirty="0">
                <a:solidFill>
                  <a:srgbClr val="0A5798"/>
                </a:solidFill>
              </a:rPr>
              <a:t>M3 </a:t>
            </a:r>
            <a:r>
              <a:rPr lang="zh-CN" altLang="en-US" sz="2200" dirty="0">
                <a:solidFill>
                  <a:srgbClr val="0A5798"/>
                </a:solidFill>
              </a:rPr>
              <a:t>初步实验超参数设置</a:t>
            </a:r>
          </a:p>
        </p:txBody>
      </p:sp>
      <p:sp>
        <p:nvSpPr>
          <p:cNvPr id="96" name="任意多边形 10">
            <a:extLst>
              <a:ext uri="{FF2B5EF4-FFF2-40B4-BE49-F238E27FC236}">
                <a16:creationId xmlns:a16="http://schemas.microsoft.com/office/drawing/2014/main" id="{5EADFE5B-5B3B-F5F8-E788-3652F7CDA338}"/>
              </a:ext>
            </a:extLst>
          </p:cNvPr>
          <p:cNvSpPr/>
          <p:nvPr/>
        </p:nvSpPr>
        <p:spPr>
          <a:xfrm>
            <a:off x="591111" y="1109870"/>
            <a:ext cx="229012" cy="481965"/>
          </a:xfrm>
          <a:custGeom>
            <a:avLst/>
            <a:gdLst>
              <a:gd name="connisteX0" fmla="*/ 0 w 101599"/>
              <a:gd name="connsiteY0" fmla="*/ 50672 h 482599"/>
              <a:gd name="connisteX1" fmla="*/ 50799 w 101599"/>
              <a:gd name="connsiteY1" fmla="*/ 0 h 482599"/>
              <a:gd name="connisteX2" fmla="*/ 101599 w 101599"/>
              <a:gd name="connsiteY2" fmla="*/ 50672 h 482599"/>
              <a:gd name="connisteX3" fmla="*/ 101599 w 101599"/>
              <a:gd name="connsiteY3" fmla="*/ 431926 h 482599"/>
              <a:gd name="connisteX4" fmla="*/ 50799 w 101599"/>
              <a:gd name="connsiteY4" fmla="*/ 482599 h 482599"/>
              <a:gd name="connisteX5" fmla="*/ 0 w 101599"/>
              <a:gd name="connsiteY5" fmla="*/ 431926 h 482599"/>
              <a:gd name="connisteX6" fmla="*/ 0 w 101599"/>
              <a:gd name="connsiteY6" fmla="*/ 50672 h 4825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482600">
                <a:moveTo>
                  <a:pt x="0" y="50673"/>
                </a:moveTo>
                <a:cubicBezTo>
                  <a:pt x="0" y="22687"/>
                  <a:pt x="22744" y="0"/>
                  <a:pt x="50800" y="0"/>
                </a:cubicBezTo>
                <a:cubicBezTo>
                  <a:pt x="78856" y="0"/>
                  <a:pt x="101600" y="22687"/>
                  <a:pt x="101600" y="50673"/>
                </a:cubicBezTo>
                <a:lnTo>
                  <a:pt x="101600" y="431927"/>
                </a:lnTo>
                <a:cubicBezTo>
                  <a:pt x="101600" y="459913"/>
                  <a:pt x="78856" y="482600"/>
                  <a:pt x="50800" y="482600"/>
                </a:cubicBezTo>
                <a:cubicBezTo>
                  <a:pt x="22744" y="482600"/>
                  <a:pt x="0" y="459913"/>
                  <a:pt x="0" y="431927"/>
                </a:cubicBezTo>
                <a:lnTo>
                  <a:pt x="0" y="50673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2F27407-53A8-DA1C-7CD6-7EE088BFB662}"/>
              </a:ext>
            </a:extLst>
          </p:cNvPr>
          <p:cNvSpPr>
            <a:spLocks noGrp="1"/>
          </p:cNvSpPr>
          <p:nvPr/>
        </p:nvSpPr>
        <p:spPr>
          <a:xfrm>
            <a:off x="1257300" y="228651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900" b="1" dirty="0">
                <a:solidFill>
                  <a:srgbClr val="081D3A"/>
                </a:solidFill>
                <a:latin typeface="微软雅黑"/>
                <a:ea typeface="微软雅黑"/>
                <a:cs typeface="微软雅黑"/>
              </a:rPr>
              <a:t>实验环境</a:t>
            </a:r>
            <a:endParaRPr sz="2900" b="1" dirty="0">
              <a:solidFill>
                <a:srgbClr val="081D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0B1801E-3525-D1F7-F8A4-617B914D21FB}"/>
              </a:ext>
            </a:extLst>
          </p:cNvPr>
          <p:cNvSpPr/>
          <p:nvPr/>
        </p:nvSpPr>
        <p:spPr>
          <a:xfrm>
            <a:off x="557493" y="865200"/>
            <a:ext cx="10972800" cy="30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任意多边形 3">
            <a:extLst>
              <a:ext uri="{FF2B5EF4-FFF2-40B4-BE49-F238E27FC236}">
                <a16:creationId xmlns:a16="http://schemas.microsoft.com/office/drawing/2014/main" id="{1687345A-530D-0292-7F16-49617F4AFB22}"/>
              </a:ext>
            </a:extLst>
          </p:cNvPr>
          <p:cNvSpPr/>
          <p:nvPr/>
        </p:nvSpPr>
        <p:spPr>
          <a:xfrm>
            <a:off x="571500" y="171501"/>
            <a:ext cx="571500" cy="571500"/>
          </a:xfrm>
          <a:custGeom>
            <a:avLst/>
            <a:gdLst>
              <a:gd name="connisteX0" fmla="*/ 133349 w 571500"/>
              <a:gd name="connsiteY0" fmla="*/ 0 h 571500"/>
              <a:gd name="connisteX1" fmla="*/ 571500 w 571500"/>
              <a:gd name="connsiteY1" fmla="*/ 0 h 571500"/>
              <a:gd name="connisteX2" fmla="*/ 444500 w 571500"/>
              <a:gd name="connsiteY2" fmla="*/ 571500 h 571500"/>
              <a:gd name="connisteX3" fmla="*/ 0 w 571500"/>
              <a:gd name="connsiteY3" fmla="*/ 571500 h 571500"/>
              <a:gd name="connisteX4" fmla="*/ 133349 w 571500"/>
              <a:gd name="connsiteY4" fmla="*/ 0 h 5715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571500" h="571500">
                <a:moveTo>
                  <a:pt x="133350" y="0"/>
                </a:moveTo>
                <a:lnTo>
                  <a:pt x="571500" y="0"/>
                </a:lnTo>
                <a:lnTo>
                  <a:pt x="444500" y="571500"/>
                </a:lnTo>
                <a:lnTo>
                  <a:pt x="0" y="571500"/>
                </a:lnTo>
                <a:lnTo>
                  <a:pt x="133350" y="0"/>
                </a:lnTo>
                <a:close/>
              </a:path>
            </a:pathLst>
          </a:custGeom>
          <a:solidFill>
            <a:srgbClr val="0A5798"/>
          </a:solidFill>
          <a:ln>
            <a:solidFill>
              <a:srgbClr val="3A8FD4"/>
            </a:solidFill>
          </a:ln>
        </p:spPr>
        <p:txBody>
          <a:bodyPr/>
          <a:lstStyle/>
          <a:p>
            <a:endParaRPr lang="zh-CN" altLang="en-US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45EA2447-D2B3-F2FB-30A9-8CB973D06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239495"/>
              </p:ext>
            </p:extLst>
          </p:nvPr>
        </p:nvGraphicFramePr>
        <p:xfrm>
          <a:off x="571499" y="1679239"/>
          <a:ext cx="10958792" cy="376679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479396">
                  <a:extLst>
                    <a:ext uri="{9D8B030D-6E8A-4147-A177-3AD203B41FA5}">
                      <a16:colId xmlns:a16="http://schemas.microsoft.com/office/drawing/2014/main" val="1902739851"/>
                    </a:ext>
                  </a:extLst>
                </a:gridCol>
                <a:gridCol w="5479396">
                  <a:extLst>
                    <a:ext uri="{9D8B030D-6E8A-4147-A177-3AD203B41FA5}">
                      <a16:colId xmlns:a16="http://schemas.microsoft.com/office/drawing/2014/main" val="3946713690"/>
                    </a:ext>
                  </a:extLst>
                </a:gridCol>
              </a:tblGrid>
              <a:tr h="5419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1A2B5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1A2B5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规格与版本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4840984"/>
                  </a:ext>
                </a:extLst>
              </a:tr>
              <a:tr h="51532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A57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CPU</a:t>
                      </a:r>
                      <a:endParaRPr lang="zh-CN" altLang="en-US" b="1" dirty="0">
                        <a:solidFill>
                          <a:srgbClr val="0A579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zh-CN" b="1" dirty="0">
                          <a:solidFill>
                            <a:srgbClr val="0A57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Intel(R) Xeon(R) Platinum 8358</a:t>
                      </a:r>
                      <a:r>
                        <a:rPr lang="en-US" altLang="zh-CN" b="1" dirty="0">
                          <a:solidFill>
                            <a:srgbClr val="0A57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 @</a:t>
                      </a:r>
                      <a:r>
                        <a:rPr lang="pt-BR" altLang="zh-CN" b="1" dirty="0">
                          <a:solidFill>
                            <a:srgbClr val="0A57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2.60GHz</a:t>
                      </a:r>
                      <a:endParaRPr lang="zh-CN" altLang="en-US" b="1" dirty="0">
                        <a:solidFill>
                          <a:srgbClr val="0A579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203917"/>
                  </a:ext>
                </a:extLst>
              </a:tr>
              <a:tr h="541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A57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GPU</a:t>
                      </a:r>
                      <a:endParaRPr lang="zh-CN" altLang="en-US" b="1" dirty="0">
                        <a:solidFill>
                          <a:srgbClr val="0A579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A57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NVIDIA A100-SXM4-80GB</a:t>
                      </a:r>
                      <a:endParaRPr lang="zh-CN" altLang="en-US" b="1" dirty="0">
                        <a:solidFill>
                          <a:srgbClr val="0A579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718418"/>
                  </a:ext>
                </a:extLst>
              </a:tr>
              <a:tr h="541911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0A57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操作系统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A57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Ubuntu 20.04.5 LTS</a:t>
                      </a:r>
                      <a:endParaRPr lang="zh-CN" altLang="en-US" b="1" dirty="0">
                        <a:solidFill>
                          <a:srgbClr val="0A579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8291784"/>
                  </a:ext>
                </a:extLst>
              </a:tr>
              <a:tr h="541911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0A57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编程语言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A57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 3.10.0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0412072"/>
                  </a:ext>
                </a:extLst>
              </a:tr>
              <a:tr h="541911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0A57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深度学习框架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A57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PyTorch 2.6.0</a:t>
                      </a:r>
                      <a:endParaRPr lang="zh-CN" altLang="en-US" b="1" dirty="0">
                        <a:solidFill>
                          <a:srgbClr val="0A579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7583568"/>
                  </a:ext>
                </a:extLst>
              </a:tr>
              <a:tr h="541911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0A57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加速平台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A57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CUDA 13.0</a:t>
                      </a:r>
                      <a:endParaRPr lang="zh-CN" altLang="en-US" b="1" dirty="0">
                        <a:solidFill>
                          <a:srgbClr val="0A579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964478"/>
                  </a:ext>
                </a:extLst>
              </a:tr>
            </a:tbl>
          </a:graphicData>
        </a:graphic>
      </p:graphicFrame>
      <p:sp>
        <p:nvSpPr>
          <p:cNvPr id="19" name="任意多边形 4">
            <a:extLst>
              <a:ext uri="{FF2B5EF4-FFF2-40B4-BE49-F238E27FC236}">
                <a16:creationId xmlns:a16="http://schemas.microsoft.com/office/drawing/2014/main" id="{53253F07-D4B1-EA98-FC71-14857F88C447}"/>
              </a:ext>
            </a:extLst>
          </p:cNvPr>
          <p:cNvSpPr/>
          <p:nvPr/>
        </p:nvSpPr>
        <p:spPr>
          <a:xfrm>
            <a:off x="607060" y="206426"/>
            <a:ext cx="565150" cy="565150"/>
          </a:xfrm>
          <a:custGeom>
            <a:avLst/>
            <a:gdLst>
              <a:gd name="connisteX0" fmla="*/ 520699 w 565150"/>
              <a:gd name="connsiteY0" fmla="*/ 0 h 565150"/>
              <a:gd name="connisteX1" fmla="*/ 565150 w 565150"/>
              <a:gd name="connsiteY1" fmla="*/ 0 h 565150"/>
              <a:gd name="connisteX2" fmla="*/ 450850 w 565150"/>
              <a:gd name="connsiteY2" fmla="*/ 565150 h 565150"/>
              <a:gd name="connisteX3" fmla="*/ 0 w 565150"/>
              <a:gd name="connsiteY3" fmla="*/ 565150 h 565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65150" h="565150">
                <a:moveTo>
                  <a:pt x="520700" y="0"/>
                </a:moveTo>
                <a:lnTo>
                  <a:pt x="565150" y="0"/>
                </a:lnTo>
                <a:lnTo>
                  <a:pt x="450850" y="565150"/>
                </a:lnTo>
                <a:lnTo>
                  <a:pt x="0" y="565150"/>
                </a:lnTo>
              </a:path>
            </a:pathLst>
          </a:custGeom>
          <a:noFill/>
          <a:ln w="19050" cap="flat">
            <a:solidFill>
              <a:srgbClr val="00549A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0AD94-7EF9-C94A-F55D-E82A08AA9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F1AF298-87FD-75EB-966B-03DB0C9601C4}"/>
              </a:ext>
            </a:extLst>
          </p:cNvPr>
          <p:cNvSpPr/>
          <p:nvPr/>
        </p:nvSpPr>
        <p:spPr>
          <a:xfrm>
            <a:off x="609600" y="444500"/>
            <a:ext cx="10972800" cy="853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3465" b="1" dirty="0">
                <a:solidFill>
                  <a:srgbClr val="1A2B5E"/>
                </a:solidFill>
                <a:latin typeface="思源黑体" panose="020B0800000000000000" charset="-122"/>
                <a:ea typeface="思源黑体" panose="020B0800000000000000" charset="-122"/>
                <a:cs typeface="Calibri" panose="020F0502020204030204" pitchFamily="34" charset="-120"/>
              </a:rPr>
              <a:t>目录</a:t>
            </a:r>
            <a:endParaRPr lang="en-US" sz="3465" dirty="0">
              <a:latin typeface="思源黑体" panose="020B0800000000000000" charset="-122"/>
              <a:ea typeface="思源黑体" panose="020B0800000000000000" charset="-12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0A09D1-6ED3-E152-2FAB-77F2E1E2A12C}"/>
              </a:ext>
            </a:extLst>
          </p:cNvPr>
          <p:cNvSpPr/>
          <p:nvPr/>
        </p:nvSpPr>
        <p:spPr>
          <a:xfrm>
            <a:off x="609600" y="1322324"/>
            <a:ext cx="6238240" cy="4876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361361B-65E2-1269-D957-7234C63F1FA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8000" y="1631315"/>
            <a:ext cx="6339840" cy="1024128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10E22B5-85D5-F691-672E-714AD28D958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08000" y="1631315"/>
            <a:ext cx="85344" cy="1024128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4C0E889-F3B7-9B82-BA6C-789A675723F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90880" y="1692275"/>
            <a:ext cx="609600" cy="902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8FD4"/>
                </a:solidFill>
                <a:latin typeface="Copernicus Trial Bold" panose="02000000000000000000" charset="0"/>
                <a:ea typeface="思源黑体" panose="020B0800000000000000" charset="-122"/>
              </a:rPr>
              <a:t>①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F94F67F-5BCC-8AB6-9388-66C1123B5AE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452880" y="1980686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项目开发进度</a:t>
            </a:r>
            <a:endParaRPr lang="en-US" sz="28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73B2A1B-FD81-BFFA-0A82-FE7EB756579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08000" y="2826131"/>
            <a:ext cx="6339840" cy="1024128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ED3EC3F-D44D-62AA-7FEE-E34EF361EA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08000" y="2826131"/>
            <a:ext cx="85344" cy="1024128"/>
          </a:xfrm>
          <a:prstGeom prst="rect">
            <a:avLst/>
          </a:prstGeom>
          <a:solidFill>
            <a:srgbClr val="1670D2"/>
          </a:solidFill>
          <a:ln w="1270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2174C20-BD57-1861-9C14-E61233E023B4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90880" y="2887091"/>
            <a:ext cx="609600" cy="902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70D2"/>
                </a:solidFill>
                <a:latin typeface="Copernicus Trial Bold" panose="02000000000000000000" charset="0"/>
                <a:ea typeface="思源黑体" panose="020B0800000000000000" charset="-122"/>
              </a:rPr>
              <a:t>②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6468957-761C-0C15-B55C-35A3DB025676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422400" y="2899283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  <a:cs typeface="Copernicus Trial Bold" panose="02000000000000000000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9F206F9-7451-71F4-E842-1FBDE9A5F5DA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08000" y="4020947"/>
            <a:ext cx="6339840" cy="1024128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8D5B910-F781-49C7-BC4A-59AB834AC85B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08000" y="4020947"/>
            <a:ext cx="85344" cy="1024128"/>
          </a:xfrm>
          <a:prstGeom prst="rect">
            <a:avLst/>
          </a:prstGeom>
          <a:solidFill>
            <a:srgbClr val="0A5798"/>
          </a:solidFill>
          <a:ln w="12700">
            <a:solidFill>
              <a:srgbClr val="0A57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97EBC12-42F3-C502-E0FF-A1E56CB42D5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90880" y="4081907"/>
            <a:ext cx="609600" cy="902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5798"/>
                </a:solidFill>
                <a:latin typeface="Copernicus Trial Bold" panose="02000000000000000000" charset="0"/>
                <a:ea typeface="思源黑体" panose="020B0800000000000000" charset="-122"/>
              </a:rPr>
              <a:t>③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D85D985-15BE-18E7-BB48-29B3FE902FFD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422400" y="4094099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1DA0929-EE41-C185-F2E5-AF3D31243F9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08000" y="5215763"/>
            <a:ext cx="6339840" cy="1024128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2C3B15B-D02D-5564-E147-8883FA59D6BF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08000" y="5215763"/>
            <a:ext cx="85344" cy="102412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05376CB-83C7-A1E4-A03E-80B94825F25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90880" y="5276723"/>
            <a:ext cx="609600" cy="902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④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C5904D2-6604-AD6F-A7EF-BC101BEF365C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422400" y="5288915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87B24F4-4B4D-2288-EBBD-DBBE77A03716}"/>
              </a:ext>
            </a:extLst>
          </p:cNvPr>
          <p:cNvSpPr/>
          <p:nvPr userDrawn="1"/>
        </p:nvSpPr>
        <p:spPr>
          <a:xfrm>
            <a:off x="0" y="6665537"/>
            <a:ext cx="12192000" cy="192463"/>
          </a:xfrm>
          <a:prstGeom prst="rect">
            <a:avLst/>
          </a:prstGeom>
          <a:solidFill>
            <a:srgbClr val="004098">
              <a:alpha val="100000"/>
            </a:srgbClr>
          </a:solidFill>
          <a:ln>
            <a:solidFill>
              <a:srgbClr val="2E54A1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820B617-BFB7-0CD0-B240-FDE8E0488513}"/>
              </a:ext>
            </a:extLst>
          </p:cNvPr>
          <p:cNvSpPr/>
          <p:nvPr userDrawn="1"/>
        </p:nvSpPr>
        <p:spPr>
          <a:xfrm>
            <a:off x="0" y="0"/>
            <a:ext cx="12192000" cy="192463"/>
          </a:xfrm>
          <a:prstGeom prst="rect">
            <a:avLst/>
          </a:prstGeom>
          <a:solidFill>
            <a:srgbClr val="004098">
              <a:alpha val="100000"/>
            </a:srgbClr>
          </a:solidFill>
          <a:ln>
            <a:solidFill>
              <a:srgbClr val="2E54A1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B0157CD8-6269-11D6-09AA-D6F0419E36D0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>
            <a:fillRect/>
          </a:stretch>
        </p:blipFill>
        <p:spPr>
          <a:xfrm>
            <a:off x="7359650" y="1341247"/>
            <a:ext cx="4324350" cy="4324350"/>
          </a:xfrm>
          <a:prstGeom prst="roundRect">
            <a:avLst>
              <a:gd name="adj" fmla="val 3409"/>
            </a:avLst>
          </a:prstGeom>
        </p:spPr>
      </p:pic>
      <p:sp>
        <p:nvSpPr>
          <p:cNvPr id="57" name="Text 8">
            <a:extLst>
              <a:ext uri="{FF2B5EF4-FFF2-40B4-BE49-F238E27FC236}">
                <a16:creationId xmlns:a16="http://schemas.microsoft.com/office/drawing/2014/main" id="{40E94AB5-9FC5-43F5-397A-85FA3A22F076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452880" y="3162046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实验完成情况</a:t>
            </a:r>
            <a:endParaRPr lang="en-US" sz="28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59" name="Text 8">
            <a:extLst>
              <a:ext uri="{FF2B5EF4-FFF2-40B4-BE49-F238E27FC236}">
                <a16:creationId xmlns:a16="http://schemas.microsoft.com/office/drawing/2014/main" id="{7BCF0DCC-83E9-BA63-7F66-99475A2A60F5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452880" y="4374417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实验结果与分析</a:t>
            </a:r>
            <a:endParaRPr lang="en-US" sz="28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29EFCB4C-1AAD-F6AB-2CF7-9389FF792FE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1452880" y="5545045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下一步计划</a:t>
            </a:r>
            <a:endParaRPr lang="en-US" sz="28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105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5">
            <a:extLst>
              <a:ext uri="{FF2B5EF4-FFF2-40B4-BE49-F238E27FC236}">
                <a16:creationId xmlns:a16="http://schemas.microsoft.com/office/drawing/2014/main" id="{35AC8314-CD1F-A9EC-22DB-19FA769470A2}"/>
              </a:ext>
            </a:extLst>
          </p:cNvPr>
          <p:cNvSpPr/>
          <p:nvPr/>
        </p:nvSpPr>
        <p:spPr>
          <a:xfrm>
            <a:off x="449020" y="1658927"/>
            <a:ext cx="11216640" cy="792480"/>
          </a:xfrm>
          <a:prstGeom prst="rect">
            <a:avLst/>
          </a:prstGeom>
          <a:solidFill>
            <a:srgbClr val="D6E4F7">
              <a:alpha val="80000"/>
            </a:srgbClr>
          </a:solidFill>
          <a:ln w="8890">
            <a:solidFill>
              <a:srgbClr val="3A8F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2FC7B9-C1F5-12A6-0194-7B2A4DE41148}"/>
              </a:ext>
            </a:extLst>
          </p:cNvPr>
          <p:cNvSpPr>
            <a:spLocks noGrp="1"/>
          </p:cNvSpPr>
          <p:nvPr/>
        </p:nvSpPr>
        <p:spPr>
          <a:xfrm>
            <a:off x="1257300" y="228651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900" b="1" dirty="0">
                <a:solidFill>
                  <a:srgbClr val="081D3A"/>
                </a:solidFill>
                <a:latin typeface="微软雅黑"/>
                <a:ea typeface="微软雅黑"/>
                <a:cs typeface="微软雅黑"/>
              </a:rPr>
              <a:t>初步结果分析</a:t>
            </a:r>
            <a:endParaRPr sz="2900" b="1" dirty="0">
              <a:solidFill>
                <a:srgbClr val="081D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4CAEC264-55C8-4741-C776-75B3A1D15B53}"/>
              </a:ext>
            </a:extLst>
          </p:cNvPr>
          <p:cNvSpPr/>
          <p:nvPr/>
        </p:nvSpPr>
        <p:spPr>
          <a:xfrm>
            <a:off x="557493" y="865200"/>
            <a:ext cx="10972800" cy="30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任意多边形 3">
            <a:extLst>
              <a:ext uri="{FF2B5EF4-FFF2-40B4-BE49-F238E27FC236}">
                <a16:creationId xmlns:a16="http://schemas.microsoft.com/office/drawing/2014/main" id="{720B120D-9FDF-9903-ABCA-142573AD371C}"/>
              </a:ext>
            </a:extLst>
          </p:cNvPr>
          <p:cNvSpPr/>
          <p:nvPr/>
        </p:nvSpPr>
        <p:spPr>
          <a:xfrm>
            <a:off x="571500" y="171501"/>
            <a:ext cx="571500" cy="571500"/>
          </a:xfrm>
          <a:custGeom>
            <a:avLst/>
            <a:gdLst>
              <a:gd name="connisteX0" fmla="*/ 133349 w 571500"/>
              <a:gd name="connsiteY0" fmla="*/ 0 h 571500"/>
              <a:gd name="connisteX1" fmla="*/ 571500 w 571500"/>
              <a:gd name="connsiteY1" fmla="*/ 0 h 571500"/>
              <a:gd name="connisteX2" fmla="*/ 444500 w 571500"/>
              <a:gd name="connsiteY2" fmla="*/ 571500 h 571500"/>
              <a:gd name="connisteX3" fmla="*/ 0 w 571500"/>
              <a:gd name="connsiteY3" fmla="*/ 571500 h 571500"/>
              <a:gd name="connisteX4" fmla="*/ 133349 w 571500"/>
              <a:gd name="connsiteY4" fmla="*/ 0 h 5715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571500" h="571500">
                <a:moveTo>
                  <a:pt x="133350" y="0"/>
                </a:moveTo>
                <a:lnTo>
                  <a:pt x="571500" y="0"/>
                </a:lnTo>
                <a:lnTo>
                  <a:pt x="444500" y="571500"/>
                </a:lnTo>
                <a:lnTo>
                  <a:pt x="0" y="571500"/>
                </a:lnTo>
                <a:lnTo>
                  <a:pt x="133350" y="0"/>
                </a:lnTo>
                <a:close/>
              </a:path>
            </a:pathLst>
          </a:custGeom>
          <a:solidFill>
            <a:srgbClr val="0A5798"/>
          </a:solidFill>
          <a:ln>
            <a:solidFill>
              <a:srgbClr val="3A8FD4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4" name="任意多边形 4">
            <a:extLst>
              <a:ext uri="{FF2B5EF4-FFF2-40B4-BE49-F238E27FC236}">
                <a16:creationId xmlns:a16="http://schemas.microsoft.com/office/drawing/2014/main" id="{E0EC2BA6-4888-0560-56AA-FA72CDF6D6FF}"/>
              </a:ext>
            </a:extLst>
          </p:cNvPr>
          <p:cNvSpPr/>
          <p:nvPr/>
        </p:nvSpPr>
        <p:spPr>
          <a:xfrm>
            <a:off x="607060" y="206426"/>
            <a:ext cx="565150" cy="565150"/>
          </a:xfrm>
          <a:custGeom>
            <a:avLst/>
            <a:gdLst>
              <a:gd name="connisteX0" fmla="*/ 520699 w 565150"/>
              <a:gd name="connsiteY0" fmla="*/ 0 h 565150"/>
              <a:gd name="connisteX1" fmla="*/ 565150 w 565150"/>
              <a:gd name="connsiteY1" fmla="*/ 0 h 565150"/>
              <a:gd name="connisteX2" fmla="*/ 450850 w 565150"/>
              <a:gd name="connsiteY2" fmla="*/ 565150 h 565150"/>
              <a:gd name="connisteX3" fmla="*/ 0 w 565150"/>
              <a:gd name="connsiteY3" fmla="*/ 565150 h 565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65150" h="565150">
                <a:moveTo>
                  <a:pt x="520700" y="0"/>
                </a:moveTo>
                <a:lnTo>
                  <a:pt x="565150" y="0"/>
                </a:lnTo>
                <a:lnTo>
                  <a:pt x="450850" y="565150"/>
                </a:lnTo>
                <a:lnTo>
                  <a:pt x="0" y="565150"/>
                </a:lnTo>
              </a:path>
            </a:pathLst>
          </a:custGeom>
          <a:noFill/>
          <a:ln w="19050" cap="flat">
            <a:solidFill>
              <a:srgbClr val="00549A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A5B34A5B-9C74-792F-B60F-48523CC69CDC}"/>
              </a:ext>
            </a:extLst>
          </p:cNvPr>
          <p:cNvSpPr txBox="1"/>
          <p:nvPr/>
        </p:nvSpPr>
        <p:spPr>
          <a:xfrm>
            <a:off x="674572" y="1799642"/>
            <a:ext cx="10716768" cy="4678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81D3A"/>
                </a:solidFill>
                <a:latin typeface="微软雅黑"/>
              </a:defRPr>
            </a:pPr>
            <a:r>
              <a:rPr sz="2800" dirty="0" err="1">
                <a:solidFill>
                  <a:srgbClr val="0A5798"/>
                </a:solidFill>
              </a:rPr>
              <a:t>不同方法没有单一总冠军，而是呈现出明显的互补优势</a:t>
            </a:r>
            <a:r>
              <a:rPr sz="2800" dirty="0">
                <a:solidFill>
                  <a:srgbClr val="0A5798"/>
                </a:solidFill>
              </a:rPr>
              <a:t>。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F4BB4BE3-F040-2FC1-27E5-67ED58765D8D}"/>
              </a:ext>
            </a:extLst>
          </p:cNvPr>
          <p:cNvGrpSpPr/>
          <p:nvPr/>
        </p:nvGrpSpPr>
        <p:grpSpPr>
          <a:xfrm>
            <a:off x="355898" y="2852046"/>
            <a:ext cx="11507097" cy="2432648"/>
            <a:chOff x="487680" y="2630170"/>
            <a:chExt cx="11507097" cy="2432648"/>
          </a:xfrm>
        </p:grpSpPr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A39F195D-2B51-F451-4A01-7FC30A543D24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87680" y="2630170"/>
              <a:ext cx="2517738" cy="2432648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 w="8890">
              <a:solidFill>
                <a:srgbClr val="E2EAF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Shape 7">
              <a:extLst>
                <a:ext uri="{FF2B5EF4-FFF2-40B4-BE49-F238E27FC236}">
                  <a16:creationId xmlns:a16="http://schemas.microsoft.com/office/drawing/2014/main" id="{4B04FA78-83BB-67FB-2A8B-22B67C9C2F3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484133" y="2630170"/>
              <a:ext cx="2517738" cy="2432648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 w="8890">
              <a:solidFill>
                <a:srgbClr val="E2EAF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Shape 8">
              <a:extLst>
                <a:ext uri="{FF2B5EF4-FFF2-40B4-BE49-F238E27FC236}">
                  <a16:creationId xmlns:a16="http://schemas.microsoft.com/office/drawing/2014/main" id="{A42A9FCB-12E5-5A54-8C00-48EA591EF273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484133" y="2630170"/>
              <a:ext cx="2517738" cy="463296"/>
            </a:xfrm>
            <a:prstGeom prst="rect">
              <a:avLst/>
            </a:prstGeom>
            <a:solidFill>
              <a:srgbClr val="3A8FD4">
                <a:alpha val="80000"/>
              </a:srgbClr>
            </a:solidFill>
            <a:ln w="12700">
              <a:solidFill>
                <a:srgbClr val="3A8FD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16726629-3AD2-8175-7CEA-217B61A7A3A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480586" y="2630170"/>
              <a:ext cx="2517738" cy="2432648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 w="8890">
              <a:solidFill>
                <a:srgbClr val="E2EAF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Shape 8">
              <a:extLst>
                <a:ext uri="{FF2B5EF4-FFF2-40B4-BE49-F238E27FC236}">
                  <a16:creationId xmlns:a16="http://schemas.microsoft.com/office/drawing/2014/main" id="{37A9B221-ABA1-64EF-C946-5537EA9602B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480586" y="2630170"/>
              <a:ext cx="2517738" cy="463296"/>
            </a:xfrm>
            <a:prstGeom prst="rect">
              <a:avLst/>
            </a:prstGeom>
            <a:solidFill>
              <a:srgbClr val="3A8FD4">
                <a:alpha val="80000"/>
              </a:srgbClr>
            </a:solidFill>
            <a:ln w="12700">
              <a:solidFill>
                <a:srgbClr val="3A8FD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0DFB0DE9-A6AB-EF3B-69DD-CA229F2122B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477039" y="2630170"/>
              <a:ext cx="2517738" cy="2432648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 w="8890">
              <a:solidFill>
                <a:srgbClr val="E2EAF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Shape 8">
              <a:extLst>
                <a:ext uri="{FF2B5EF4-FFF2-40B4-BE49-F238E27FC236}">
                  <a16:creationId xmlns:a16="http://schemas.microsoft.com/office/drawing/2014/main" id="{FC0CE566-2B77-43FE-F6E8-05D944E0055C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477039" y="2630170"/>
              <a:ext cx="2517738" cy="463296"/>
            </a:xfrm>
            <a:prstGeom prst="rect">
              <a:avLst/>
            </a:prstGeom>
            <a:solidFill>
              <a:srgbClr val="3A8FD4">
                <a:alpha val="80000"/>
              </a:srgbClr>
            </a:solidFill>
            <a:ln w="12700">
              <a:solidFill>
                <a:srgbClr val="3A8FD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7" name="Shape 8">
            <a:extLst>
              <a:ext uri="{FF2B5EF4-FFF2-40B4-BE49-F238E27FC236}">
                <a16:creationId xmlns:a16="http://schemas.microsoft.com/office/drawing/2014/main" id="{843FF63C-C598-8955-E41E-05B8A3AB0BE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55898" y="2875255"/>
            <a:ext cx="2517738" cy="463296"/>
          </a:xfrm>
          <a:prstGeom prst="rect">
            <a:avLst/>
          </a:prstGeom>
          <a:solidFill>
            <a:srgbClr val="3A8FD4">
              <a:alpha val="80000"/>
            </a:srgbClr>
          </a:solidFill>
          <a:ln w="12700">
            <a:solidFill>
              <a:srgbClr val="3A8F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Box 10">
            <a:extLst>
              <a:ext uri="{FF2B5EF4-FFF2-40B4-BE49-F238E27FC236}">
                <a16:creationId xmlns:a16="http://schemas.microsoft.com/office/drawing/2014/main" id="{655F5892-90CB-0798-198A-E37883B8137A}"/>
              </a:ext>
            </a:extLst>
          </p:cNvPr>
          <p:cNvSpPr txBox="1"/>
          <p:nvPr/>
        </p:nvSpPr>
        <p:spPr>
          <a:xfrm>
            <a:off x="780769" y="2919018"/>
            <a:ext cx="1667995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002FA7"/>
                </a:solidFill>
                <a:latin typeface="微软雅黑"/>
              </a:defRPr>
            </a:pPr>
            <a:r>
              <a:rPr lang="en-US" altLang="zh-CN" sz="2000" dirty="0">
                <a:solidFill>
                  <a:schemeClr val="bg1"/>
                </a:solidFill>
              </a:rPr>
              <a:t>1</a:t>
            </a:r>
            <a:r>
              <a:rPr lang="zh-CN" altLang="en-US" sz="2000" dirty="0">
                <a:solidFill>
                  <a:schemeClr val="bg1"/>
                </a:solidFill>
              </a:rPr>
              <a:t>｜</a:t>
            </a:r>
            <a:r>
              <a:rPr sz="2000" dirty="0" err="1">
                <a:solidFill>
                  <a:schemeClr val="bg1"/>
                </a:solidFill>
              </a:rPr>
              <a:t>忠实性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51" name="TextBox 10">
            <a:extLst>
              <a:ext uri="{FF2B5EF4-FFF2-40B4-BE49-F238E27FC236}">
                <a16:creationId xmlns:a16="http://schemas.microsoft.com/office/drawing/2014/main" id="{E565DC52-C15C-AD7A-D13B-D6CC06813F06}"/>
              </a:ext>
            </a:extLst>
          </p:cNvPr>
          <p:cNvSpPr txBox="1"/>
          <p:nvPr/>
        </p:nvSpPr>
        <p:spPr>
          <a:xfrm>
            <a:off x="3777222" y="2919018"/>
            <a:ext cx="1667995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002FA7"/>
                </a:solidFill>
                <a:latin typeface="微软雅黑"/>
              </a:defRPr>
            </a:pPr>
            <a:r>
              <a:rPr lang="en-US" altLang="zh-CN" sz="2000" dirty="0">
                <a:solidFill>
                  <a:schemeClr val="bg1"/>
                </a:solidFill>
              </a:rPr>
              <a:t>2</a:t>
            </a:r>
            <a:r>
              <a:rPr lang="zh-CN" altLang="en-US" sz="2000" dirty="0">
                <a:solidFill>
                  <a:schemeClr val="bg1"/>
                </a:solidFill>
              </a:rPr>
              <a:t>｜稳定性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53" name="TextBox 10">
            <a:extLst>
              <a:ext uri="{FF2B5EF4-FFF2-40B4-BE49-F238E27FC236}">
                <a16:creationId xmlns:a16="http://schemas.microsoft.com/office/drawing/2014/main" id="{213723D9-F63A-23AE-0D0F-A83D3B84DA17}"/>
              </a:ext>
            </a:extLst>
          </p:cNvPr>
          <p:cNvSpPr txBox="1"/>
          <p:nvPr/>
        </p:nvSpPr>
        <p:spPr>
          <a:xfrm>
            <a:off x="6773675" y="2916612"/>
            <a:ext cx="1667995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002FA7"/>
                </a:solidFill>
                <a:latin typeface="微软雅黑"/>
              </a:defRPr>
            </a:pPr>
            <a:r>
              <a:rPr lang="en-US" altLang="zh-CN" sz="2000" dirty="0">
                <a:solidFill>
                  <a:schemeClr val="bg1"/>
                </a:solidFill>
              </a:rPr>
              <a:t>3</a:t>
            </a:r>
            <a:r>
              <a:rPr lang="zh-CN" altLang="en-US" sz="2000" dirty="0">
                <a:solidFill>
                  <a:schemeClr val="bg1"/>
                </a:solidFill>
              </a:rPr>
              <a:t>｜效率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55" name="TextBox 10">
            <a:extLst>
              <a:ext uri="{FF2B5EF4-FFF2-40B4-BE49-F238E27FC236}">
                <a16:creationId xmlns:a16="http://schemas.microsoft.com/office/drawing/2014/main" id="{BD789423-010C-00F0-C95B-4533216EE1B2}"/>
              </a:ext>
            </a:extLst>
          </p:cNvPr>
          <p:cNvSpPr txBox="1"/>
          <p:nvPr/>
        </p:nvSpPr>
        <p:spPr>
          <a:xfrm>
            <a:off x="9770128" y="2916612"/>
            <a:ext cx="1667995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002FA7"/>
                </a:solidFill>
                <a:latin typeface="微软雅黑"/>
              </a:defRPr>
            </a:pPr>
            <a:r>
              <a:rPr lang="en-US" altLang="zh-CN" sz="2000" dirty="0">
                <a:solidFill>
                  <a:schemeClr val="bg1"/>
                </a:solidFill>
              </a:rPr>
              <a:t>4</a:t>
            </a:r>
            <a:r>
              <a:rPr lang="zh-CN" altLang="en-US" sz="2000" dirty="0">
                <a:solidFill>
                  <a:schemeClr val="bg1"/>
                </a:solidFill>
              </a:rPr>
              <a:t>｜定位性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9844914-D658-E999-EE4B-1E5EC9A6204F}"/>
              </a:ext>
            </a:extLst>
          </p:cNvPr>
          <p:cNvSpPr txBox="1"/>
          <p:nvPr/>
        </p:nvSpPr>
        <p:spPr>
          <a:xfrm>
            <a:off x="449020" y="3429000"/>
            <a:ext cx="23277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81D3A"/>
                </a:solidFill>
                <a:latin typeface="微软雅黑"/>
              </a:defRPr>
            </a:pPr>
            <a:r>
              <a:rPr lang="zh-CN" altLang="en-US" sz="2000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当前领先：</a:t>
            </a:r>
            <a:endParaRPr lang="en-US" altLang="zh-CN" sz="2000" dirty="0">
              <a:solidFill>
                <a:srgbClr val="1670D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spcAft>
                <a:spcPts val="0"/>
              </a:spcAft>
              <a:buFont typeface="Wingdings" panose="05000000000000000000" pitchFamily="2" charset="2"/>
              <a:buChar char="l"/>
              <a:defRPr sz="1200" b="1">
                <a:solidFill>
                  <a:srgbClr val="081D3A"/>
                </a:solidFill>
                <a:latin typeface="微软雅黑"/>
              </a:defRPr>
            </a:pPr>
            <a:r>
              <a:rPr lang="en-US" altLang="zh-CN" sz="2000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LIME</a:t>
            </a:r>
          </a:p>
          <a:p>
            <a:pPr marL="342900" indent="-342900" algn="l">
              <a:spcAft>
                <a:spcPts val="0"/>
              </a:spcAft>
              <a:buFont typeface="Wingdings" panose="05000000000000000000" pitchFamily="2" charset="2"/>
              <a:buChar char="l"/>
              <a:defRPr sz="1200" b="1">
                <a:solidFill>
                  <a:srgbClr val="081D3A"/>
                </a:solidFill>
                <a:latin typeface="微软雅黑"/>
              </a:defRPr>
            </a:pPr>
            <a:r>
              <a:rPr lang="en-US" altLang="zh-CN" sz="2000" dirty="0" err="1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KernelSHAP</a:t>
            </a:r>
            <a:endParaRPr lang="zh-CN" altLang="en-US" sz="2000" dirty="0">
              <a:solidFill>
                <a:srgbClr val="1670D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0BF0EAD-657F-3A3E-3DB9-5510F820E2F2}"/>
              </a:ext>
            </a:extLst>
          </p:cNvPr>
          <p:cNvSpPr txBox="1"/>
          <p:nvPr/>
        </p:nvSpPr>
        <p:spPr>
          <a:xfrm>
            <a:off x="3447320" y="3429000"/>
            <a:ext cx="23277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81D3A"/>
                </a:solidFill>
                <a:latin typeface="微软雅黑"/>
              </a:defRPr>
            </a:pPr>
            <a:r>
              <a:rPr lang="zh-CN" altLang="en-US" sz="2000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当前领先：</a:t>
            </a:r>
            <a:endParaRPr lang="en-US" altLang="zh-CN" sz="2000" dirty="0">
              <a:solidFill>
                <a:srgbClr val="1670D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spcAft>
                <a:spcPts val="0"/>
              </a:spcAft>
              <a:buFont typeface="Wingdings" panose="05000000000000000000" pitchFamily="2" charset="2"/>
              <a:buChar char="l"/>
              <a:defRPr sz="1200" b="1">
                <a:solidFill>
                  <a:srgbClr val="081D3A"/>
                </a:solidFill>
                <a:latin typeface="微软雅黑"/>
              </a:defRPr>
            </a:pPr>
            <a:r>
              <a:rPr lang="en-US" altLang="zh-CN" sz="2000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RISE</a:t>
            </a:r>
          </a:p>
          <a:p>
            <a:pPr algn="l">
              <a:spcAft>
                <a:spcPts val="0"/>
              </a:spcAft>
              <a:defRPr sz="1200" b="1">
                <a:solidFill>
                  <a:srgbClr val="081D3A"/>
                </a:solidFill>
                <a:latin typeface="微软雅黑"/>
              </a:defRPr>
            </a:pPr>
            <a:r>
              <a:rPr lang="zh-CN" altLang="en-US" sz="2000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稳定性差：</a:t>
            </a:r>
            <a:endParaRPr lang="en-US" altLang="zh-CN" sz="2000" dirty="0">
              <a:solidFill>
                <a:srgbClr val="1670D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spcAft>
                <a:spcPts val="0"/>
              </a:spcAft>
              <a:buFont typeface="Wingdings" panose="05000000000000000000" pitchFamily="2" charset="2"/>
              <a:buChar char="l"/>
              <a:defRPr sz="1200" b="1">
                <a:solidFill>
                  <a:srgbClr val="081D3A"/>
                </a:solidFill>
                <a:latin typeface="微软雅黑"/>
              </a:defRPr>
            </a:pPr>
            <a:r>
              <a:rPr lang="en-US" altLang="zh-CN" sz="2000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Ablation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ED20D95-D01E-2F5B-53B8-65EB751A062B}"/>
              </a:ext>
            </a:extLst>
          </p:cNvPr>
          <p:cNvSpPr txBox="1"/>
          <p:nvPr/>
        </p:nvSpPr>
        <p:spPr>
          <a:xfrm>
            <a:off x="6443773" y="3429000"/>
            <a:ext cx="23277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81D3A"/>
                </a:solidFill>
                <a:latin typeface="微软雅黑"/>
              </a:defRPr>
            </a:pPr>
            <a:r>
              <a:rPr lang="zh-CN" altLang="en-US" sz="2000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当前领先：</a:t>
            </a:r>
            <a:endParaRPr lang="en-US" altLang="zh-CN" sz="2000" dirty="0">
              <a:solidFill>
                <a:srgbClr val="1670D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spcAft>
                <a:spcPts val="0"/>
              </a:spcAft>
              <a:buFont typeface="Wingdings" panose="05000000000000000000" pitchFamily="2" charset="2"/>
              <a:buChar char="l"/>
              <a:defRPr sz="1200" b="1">
                <a:solidFill>
                  <a:srgbClr val="081D3A"/>
                </a:solidFill>
                <a:latin typeface="微软雅黑"/>
              </a:defRPr>
            </a:pPr>
            <a:r>
              <a:rPr lang="en-US" altLang="zh-CN" sz="2000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Ablation</a:t>
            </a:r>
          </a:p>
          <a:p>
            <a:pPr algn="l">
              <a:spcAft>
                <a:spcPts val="0"/>
              </a:spcAft>
              <a:defRPr sz="1200" b="1">
                <a:solidFill>
                  <a:srgbClr val="081D3A"/>
                </a:solidFill>
                <a:latin typeface="微软雅黑"/>
              </a:defRPr>
            </a:pPr>
            <a:r>
              <a:rPr lang="zh-CN" altLang="en-US" sz="2000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推理最慢：</a:t>
            </a:r>
            <a:endParaRPr lang="en-US" altLang="zh-CN" sz="2000" dirty="0">
              <a:solidFill>
                <a:srgbClr val="1670D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spcAft>
                <a:spcPts val="0"/>
              </a:spcAft>
              <a:buFont typeface="Wingdings" panose="05000000000000000000" pitchFamily="2" charset="2"/>
              <a:buChar char="l"/>
              <a:defRPr sz="1200" b="1">
                <a:solidFill>
                  <a:srgbClr val="081D3A"/>
                </a:solidFill>
                <a:latin typeface="微软雅黑"/>
              </a:defRPr>
            </a:pPr>
            <a:r>
              <a:rPr lang="en-US" altLang="zh-CN" sz="2000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RISE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3D3DB53-3B89-A774-4919-B2CD703300DA}"/>
              </a:ext>
            </a:extLst>
          </p:cNvPr>
          <p:cNvSpPr txBox="1"/>
          <p:nvPr/>
        </p:nvSpPr>
        <p:spPr>
          <a:xfrm>
            <a:off x="9415182" y="3429000"/>
            <a:ext cx="23277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81D3A"/>
                </a:solidFill>
                <a:latin typeface="微软雅黑"/>
              </a:defRPr>
            </a:pPr>
            <a:r>
              <a:rPr lang="zh-CN" altLang="en-US" sz="2000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定位性好：</a:t>
            </a:r>
            <a:endParaRPr lang="en-US" altLang="zh-CN" sz="2000" dirty="0">
              <a:solidFill>
                <a:srgbClr val="1670D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spcAft>
                <a:spcPts val="0"/>
              </a:spcAft>
              <a:buFont typeface="Wingdings" panose="05000000000000000000" pitchFamily="2" charset="2"/>
              <a:buChar char="l"/>
              <a:defRPr sz="1200" b="1">
                <a:solidFill>
                  <a:srgbClr val="081D3A"/>
                </a:solidFill>
                <a:latin typeface="微软雅黑"/>
              </a:defRPr>
            </a:pPr>
            <a:r>
              <a:rPr lang="en-US" altLang="zh-CN" sz="2000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ImageNet</a:t>
            </a:r>
          </a:p>
          <a:p>
            <a:pPr algn="l">
              <a:spcAft>
                <a:spcPts val="0"/>
              </a:spcAft>
              <a:defRPr sz="1200" b="1">
                <a:solidFill>
                  <a:srgbClr val="081D3A"/>
                </a:solidFill>
                <a:latin typeface="微软雅黑"/>
              </a:defRPr>
            </a:pPr>
            <a:r>
              <a:rPr lang="zh-CN" altLang="en-US" sz="2000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定位性差：</a:t>
            </a:r>
            <a:endParaRPr lang="en-US" altLang="zh-CN" sz="2000" dirty="0">
              <a:solidFill>
                <a:srgbClr val="1670D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spcAft>
                <a:spcPts val="0"/>
              </a:spcAft>
              <a:buFont typeface="Wingdings" panose="05000000000000000000" pitchFamily="2" charset="2"/>
              <a:buChar char="l"/>
              <a:defRPr sz="1200" b="1">
                <a:solidFill>
                  <a:srgbClr val="081D3A"/>
                </a:solidFill>
                <a:latin typeface="微软雅黑"/>
              </a:defRPr>
            </a:pPr>
            <a:r>
              <a:rPr lang="en-US" altLang="zh-CN" sz="2000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CNHCXR</a:t>
            </a:r>
          </a:p>
        </p:txBody>
      </p:sp>
    </p:spTree>
    <p:extLst>
      <p:ext uri="{BB962C8B-B14F-4D97-AF65-F5344CB8AC3E}">
        <p14:creationId xmlns:p14="http://schemas.microsoft.com/office/powerpoint/2010/main" val="3886129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620"/>
          <a:stretch>
            <a:fillRect/>
          </a:stretch>
        </p:blipFill>
        <p:spPr>
          <a:xfrm>
            <a:off x="549392" y="1064849"/>
            <a:ext cx="11093216" cy="47006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7F44E9A-7EFB-0A6E-39BE-FAF7AD3456A9}"/>
              </a:ext>
            </a:extLst>
          </p:cNvPr>
          <p:cNvSpPr>
            <a:spLocks noGrp="1"/>
          </p:cNvSpPr>
          <p:nvPr/>
        </p:nvSpPr>
        <p:spPr>
          <a:xfrm>
            <a:off x="1257300" y="228651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900" b="1" dirty="0">
                <a:solidFill>
                  <a:srgbClr val="081D3A"/>
                </a:solidFill>
                <a:latin typeface="微软雅黑"/>
                <a:ea typeface="微软雅黑"/>
                <a:cs typeface="微软雅黑"/>
              </a:rPr>
              <a:t>忠实性结果</a:t>
            </a:r>
            <a:endParaRPr sz="2900" b="1" dirty="0">
              <a:solidFill>
                <a:srgbClr val="081D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C7338DAB-C657-9DC7-A22D-63A8198E4C5E}"/>
              </a:ext>
            </a:extLst>
          </p:cNvPr>
          <p:cNvSpPr/>
          <p:nvPr/>
        </p:nvSpPr>
        <p:spPr>
          <a:xfrm>
            <a:off x="557493" y="865200"/>
            <a:ext cx="10972800" cy="30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任意多边形 3">
            <a:extLst>
              <a:ext uri="{FF2B5EF4-FFF2-40B4-BE49-F238E27FC236}">
                <a16:creationId xmlns:a16="http://schemas.microsoft.com/office/drawing/2014/main" id="{474E0D9E-340A-C07E-3798-9FA3B2E21199}"/>
              </a:ext>
            </a:extLst>
          </p:cNvPr>
          <p:cNvSpPr/>
          <p:nvPr/>
        </p:nvSpPr>
        <p:spPr>
          <a:xfrm>
            <a:off x="571500" y="171501"/>
            <a:ext cx="571500" cy="571500"/>
          </a:xfrm>
          <a:custGeom>
            <a:avLst/>
            <a:gdLst>
              <a:gd name="connisteX0" fmla="*/ 133349 w 571500"/>
              <a:gd name="connsiteY0" fmla="*/ 0 h 571500"/>
              <a:gd name="connisteX1" fmla="*/ 571500 w 571500"/>
              <a:gd name="connsiteY1" fmla="*/ 0 h 571500"/>
              <a:gd name="connisteX2" fmla="*/ 444500 w 571500"/>
              <a:gd name="connsiteY2" fmla="*/ 571500 h 571500"/>
              <a:gd name="connisteX3" fmla="*/ 0 w 571500"/>
              <a:gd name="connsiteY3" fmla="*/ 571500 h 571500"/>
              <a:gd name="connisteX4" fmla="*/ 133349 w 571500"/>
              <a:gd name="connsiteY4" fmla="*/ 0 h 5715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571500" h="571500">
                <a:moveTo>
                  <a:pt x="133350" y="0"/>
                </a:moveTo>
                <a:lnTo>
                  <a:pt x="571500" y="0"/>
                </a:lnTo>
                <a:lnTo>
                  <a:pt x="444500" y="571500"/>
                </a:lnTo>
                <a:lnTo>
                  <a:pt x="0" y="571500"/>
                </a:lnTo>
                <a:lnTo>
                  <a:pt x="133350" y="0"/>
                </a:lnTo>
                <a:close/>
              </a:path>
            </a:pathLst>
          </a:custGeom>
          <a:solidFill>
            <a:srgbClr val="0A5798"/>
          </a:solidFill>
          <a:ln>
            <a:solidFill>
              <a:srgbClr val="3A8FD4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6" name="任意多边形 4">
            <a:extLst>
              <a:ext uri="{FF2B5EF4-FFF2-40B4-BE49-F238E27FC236}">
                <a16:creationId xmlns:a16="http://schemas.microsoft.com/office/drawing/2014/main" id="{B43CA3C7-9A92-F323-BBE8-8A27E038DA23}"/>
              </a:ext>
            </a:extLst>
          </p:cNvPr>
          <p:cNvSpPr/>
          <p:nvPr/>
        </p:nvSpPr>
        <p:spPr>
          <a:xfrm>
            <a:off x="607060" y="206426"/>
            <a:ext cx="565150" cy="565150"/>
          </a:xfrm>
          <a:custGeom>
            <a:avLst/>
            <a:gdLst>
              <a:gd name="connisteX0" fmla="*/ 520699 w 565150"/>
              <a:gd name="connsiteY0" fmla="*/ 0 h 565150"/>
              <a:gd name="connisteX1" fmla="*/ 565150 w 565150"/>
              <a:gd name="connsiteY1" fmla="*/ 0 h 565150"/>
              <a:gd name="connisteX2" fmla="*/ 450850 w 565150"/>
              <a:gd name="connsiteY2" fmla="*/ 565150 h 565150"/>
              <a:gd name="connisteX3" fmla="*/ 0 w 565150"/>
              <a:gd name="connsiteY3" fmla="*/ 565150 h 565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65150" h="565150">
                <a:moveTo>
                  <a:pt x="520700" y="0"/>
                </a:moveTo>
                <a:lnTo>
                  <a:pt x="565150" y="0"/>
                </a:lnTo>
                <a:lnTo>
                  <a:pt x="450850" y="565150"/>
                </a:lnTo>
                <a:lnTo>
                  <a:pt x="0" y="565150"/>
                </a:lnTo>
              </a:path>
            </a:pathLst>
          </a:custGeom>
          <a:noFill/>
          <a:ln w="19050" cap="flat">
            <a:solidFill>
              <a:srgbClr val="00549A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任意多边形 9">
            <a:extLst>
              <a:ext uri="{FF2B5EF4-FFF2-40B4-BE49-F238E27FC236}">
                <a16:creationId xmlns:a16="http://schemas.microsoft.com/office/drawing/2014/main" id="{1A37C970-D3BB-416C-8232-0DB61ADB84F0}"/>
              </a:ext>
            </a:extLst>
          </p:cNvPr>
          <p:cNvSpPr/>
          <p:nvPr/>
        </p:nvSpPr>
        <p:spPr>
          <a:xfrm>
            <a:off x="477370" y="5935976"/>
            <a:ext cx="5445760" cy="482600"/>
          </a:xfrm>
          <a:custGeom>
            <a:avLst/>
            <a:gdLst>
              <a:gd name="connisteX0" fmla="*/ 0 w 11658600"/>
              <a:gd name="connsiteY0" fmla="*/ 101346 h 482600"/>
              <a:gd name="connisteX1" fmla="*/ 58292 w 11658600"/>
              <a:gd name="connsiteY1" fmla="*/ 0 h 482600"/>
              <a:gd name="connisteX2" fmla="*/ 11600307 w 11658600"/>
              <a:gd name="connsiteY2" fmla="*/ 0 h 482600"/>
              <a:gd name="connisteX3" fmla="*/ 11658600 w 11658600"/>
              <a:gd name="connsiteY3" fmla="*/ 101346 h 482600"/>
              <a:gd name="connisteX4" fmla="*/ 11658600 w 11658600"/>
              <a:gd name="connsiteY4" fmla="*/ 381253 h 482600"/>
              <a:gd name="connisteX5" fmla="*/ 11600307 w 11658600"/>
              <a:gd name="connsiteY5" fmla="*/ 482600 h 482600"/>
              <a:gd name="connisteX6" fmla="*/ 58292 w 11658600"/>
              <a:gd name="connsiteY6" fmla="*/ 482600 h 482600"/>
              <a:gd name="connisteX7" fmla="*/ 0 w 11658600"/>
              <a:gd name="connsiteY7" fmla="*/ 381253 h 482600"/>
              <a:gd name="connisteX8" fmla="*/ 0 w 11658600"/>
              <a:gd name="connsiteY8" fmla="*/ 101346 h 48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658600" h="482600">
                <a:moveTo>
                  <a:pt x="0" y="101346"/>
                </a:moveTo>
                <a:cubicBezTo>
                  <a:pt x="0" y="45374"/>
                  <a:pt x="26099" y="0"/>
                  <a:pt x="58293" y="0"/>
                </a:cubicBezTo>
                <a:lnTo>
                  <a:pt x="11600307" y="0"/>
                </a:lnTo>
                <a:cubicBezTo>
                  <a:pt x="11632501" y="0"/>
                  <a:pt x="11658600" y="45374"/>
                  <a:pt x="11658600" y="101346"/>
                </a:cubicBezTo>
                <a:lnTo>
                  <a:pt x="11658600" y="381254"/>
                </a:lnTo>
                <a:cubicBezTo>
                  <a:pt x="11658600" y="437226"/>
                  <a:pt x="11632501" y="482600"/>
                  <a:pt x="11600307" y="482600"/>
                </a:cubicBezTo>
                <a:lnTo>
                  <a:pt x="58293" y="482600"/>
                </a:lnTo>
                <a:cubicBezTo>
                  <a:pt x="26099" y="482600"/>
                  <a:pt x="0" y="437226"/>
                  <a:pt x="0" y="381254"/>
                </a:cubicBezTo>
                <a:lnTo>
                  <a:pt x="0" y="101346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9" name="任意多边形 10">
            <a:extLst>
              <a:ext uri="{FF2B5EF4-FFF2-40B4-BE49-F238E27FC236}">
                <a16:creationId xmlns:a16="http://schemas.microsoft.com/office/drawing/2014/main" id="{8DCF605B-C735-B484-1D3D-2D457BB40D16}"/>
              </a:ext>
            </a:extLst>
          </p:cNvPr>
          <p:cNvSpPr/>
          <p:nvPr/>
        </p:nvSpPr>
        <p:spPr>
          <a:xfrm>
            <a:off x="477370" y="5935976"/>
            <a:ext cx="229012" cy="481965"/>
          </a:xfrm>
          <a:custGeom>
            <a:avLst/>
            <a:gdLst>
              <a:gd name="connisteX0" fmla="*/ 0 w 101599"/>
              <a:gd name="connsiteY0" fmla="*/ 50672 h 482599"/>
              <a:gd name="connisteX1" fmla="*/ 50799 w 101599"/>
              <a:gd name="connsiteY1" fmla="*/ 0 h 482599"/>
              <a:gd name="connisteX2" fmla="*/ 101599 w 101599"/>
              <a:gd name="connsiteY2" fmla="*/ 50672 h 482599"/>
              <a:gd name="connisteX3" fmla="*/ 101599 w 101599"/>
              <a:gd name="connsiteY3" fmla="*/ 431926 h 482599"/>
              <a:gd name="connisteX4" fmla="*/ 50799 w 101599"/>
              <a:gd name="connsiteY4" fmla="*/ 482599 h 482599"/>
              <a:gd name="connisteX5" fmla="*/ 0 w 101599"/>
              <a:gd name="connsiteY5" fmla="*/ 431926 h 482599"/>
              <a:gd name="connisteX6" fmla="*/ 0 w 101599"/>
              <a:gd name="connsiteY6" fmla="*/ 50672 h 4825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482600">
                <a:moveTo>
                  <a:pt x="0" y="50673"/>
                </a:moveTo>
                <a:cubicBezTo>
                  <a:pt x="0" y="22687"/>
                  <a:pt x="22744" y="0"/>
                  <a:pt x="50800" y="0"/>
                </a:cubicBezTo>
                <a:cubicBezTo>
                  <a:pt x="78856" y="0"/>
                  <a:pt x="101600" y="22687"/>
                  <a:pt x="101600" y="50673"/>
                </a:cubicBezTo>
                <a:lnTo>
                  <a:pt x="101600" y="431927"/>
                </a:lnTo>
                <a:cubicBezTo>
                  <a:pt x="101600" y="459913"/>
                  <a:pt x="78856" y="482600"/>
                  <a:pt x="50800" y="482600"/>
                </a:cubicBezTo>
                <a:cubicBezTo>
                  <a:pt x="22744" y="482600"/>
                  <a:pt x="0" y="459913"/>
                  <a:pt x="0" y="431927"/>
                </a:cubicBezTo>
                <a:lnTo>
                  <a:pt x="0" y="50673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1CDB8EDC-0AD1-E25A-5224-C50126721F8F}"/>
              </a:ext>
            </a:extLst>
          </p:cNvPr>
          <p:cNvSpPr txBox="1"/>
          <p:nvPr/>
        </p:nvSpPr>
        <p:spPr>
          <a:xfrm>
            <a:off x="809512" y="5991708"/>
            <a:ext cx="6377940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微软雅黑"/>
              </a:defRPr>
            </a:pPr>
            <a:r>
              <a:rPr lang="en-US" altLang="zh-CN" sz="2200" dirty="0">
                <a:solidFill>
                  <a:srgbClr val="0A5798"/>
                </a:solidFill>
              </a:rPr>
              <a:t>LIME </a:t>
            </a:r>
            <a:r>
              <a:rPr lang="zh-CN" altLang="en-US" sz="2200" dirty="0">
                <a:solidFill>
                  <a:srgbClr val="0A5798"/>
                </a:solidFill>
              </a:rPr>
              <a:t>总体领先：两项指标均最优</a:t>
            </a:r>
          </a:p>
        </p:txBody>
      </p:sp>
      <p:sp>
        <p:nvSpPr>
          <p:cNvPr id="33" name="任意多边形 9">
            <a:extLst>
              <a:ext uri="{FF2B5EF4-FFF2-40B4-BE49-F238E27FC236}">
                <a16:creationId xmlns:a16="http://schemas.microsoft.com/office/drawing/2014/main" id="{9BCA3A92-F544-6C66-0E5C-37EDCDB427F2}"/>
              </a:ext>
            </a:extLst>
          </p:cNvPr>
          <p:cNvSpPr/>
          <p:nvPr/>
        </p:nvSpPr>
        <p:spPr>
          <a:xfrm>
            <a:off x="6353175" y="5935341"/>
            <a:ext cx="5445760" cy="482600"/>
          </a:xfrm>
          <a:custGeom>
            <a:avLst/>
            <a:gdLst>
              <a:gd name="connisteX0" fmla="*/ 0 w 11658600"/>
              <a:gd name="connsiteY0" fmla="*/ 101346 h 482600"/>
              <a:gd name="connisteX1" fmla="*/ 58292 w 11658600"/>
              <a:gd name="connsiteY1" fmla="*/ 0 h 482600"/>
              <a:gd name="connisteX2" fmla="*/ 11600307 w 11658600"/>
              <a:gd name="connsiteY2" fmla="*/ 0 h 482600"/>
              <a:gd name="connisteX3" fmla="*/ 11658600 w 11658600"/>
              <a:gd name="connsiteY3" fmla="*/ 101346 h 482600"/>
              <a:gd name="connisteX4" fmla="*/ 11658600 w 11658600"/>
              <a:gd name="connsiteY4" fmla="*/ 381253 h 482600"/>
              <a:gd name="connisteX5" fmla="*/ 11600307 w 11658600"/>
              <a:gd name="connsiteY5" fmla="*/ 482600 h 482600"/>
              <a:gd name="connisteX6" fmla="*/ 58292 w 11658600"/>
              <a:gd name="connsiteY6" fmla="*/ 482600 h 482600"/>
              <a:gd name="connisteX7" fmla="*/ 0 w 11658600"/>
              <a:gd name="connsiteY7" fmla="*/ 381253 h 482600"/>
              <a:gd name="connisteX8" fmla="*/ 0 w 11658600"/>
              <a:gd name="connsiteY8" fmla="*/ 101346 h 48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658600" h="482600">
                <a:moveTo>
                  <a:pt x="0" y="101346"/>
                </a:moveTo>
                <a:cubicBezTo>
                  <a:pt x="0" y="45374"/>
                  <a:pt x="26099" y="0"/>
                  <a:pt x="58293" y="0"/>
                </a:cubicBezTo>
                <a:lnTo>
                  <a:pt x="11600307" y="0"/>
                </a:lnTo>
                <a:cubicBezTo>
                  <a:pt x="11632501" y="0"/>
                  <a:pt x="11658600" y="45374"/>
                  <a:pt x="11658600" y="101346"/>
                </a:cubicBezTo>
                <a:lnTo>
                  <a:pt x="11658600" y="381254"/>
                </a:lnTo>
                <a:cubicBezTo>
                  <a:pt x="11658600" y="437226"/>
                  <a:pt x="11632501" y="482600"/>
                  <a:pt x="11600307" y="482600"/>
                </a:cubicBezTo>
                <a:lnTo>
                  <a:pt x="58293" y="482600"/>
                </a:lnTo>
                <a:cubicBezTo>
                  <a:pt x="26099" y="482600"/>
                  <a:pt x="0" y="437226"/>
                  <a:pt x="0" y="381254"/>
                </a:cubicBezTo>
                <a:lnTo>
                  <a:pt x="0" y="101346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5" name="任意多边形 10">
            <a:extLst>
              <a:ext uri="{FF2B5EF4-FFF2-40B4-BE49-F238E27FC236}">
                <a16:creationId xmlns:a16="http://schemas.microsoft.com/office/drawing/2014/main" id="{69C7A683-E9BA-FBB1-CB80-4B77DC8C1B5F}"/>
              </a:ext>
            </a:extLst>
          </p:cNvPr>
          <p:cNvSpPr/>
          <p:nvPr/>
        </p:nvSpPr>
        <p:spPr>
          <a:xfrm>
            <a:off x="6353175" y="5935341"/>
            <a:ext cx="229012" cy="481965"/>
          </a:xfrm>
          <a:custGeom>
            <a:avLst/>
            <a:gdLst>
              <a:gd name="connisteX0" fmla="*/ 0 w 101599"/>
              <a:gd name="connsiteY0" fmla="*/ 50672 h 482599"/>
              <a:gd name="connisteX1" fmla="*/ 50799 w 101599"/>
              <a:gd name="connsiteY1" fmla="*/ 0 h 482599"/>
              <a:gd name="connisteX2" fmla="*/ 101599 w 101599"/>
              <a:gd name="connsiteY2" fmla="*/ 50672 h 482599"/>
              <a:gd name="connisteX3" fmla="*/ 101599 w 101599"/>
              <a:gd name="connsiteY3" fmla="*/ 431926 h 482599"/>
              <a:gd name="connisteX4" fmla="*/ 50799 w 101599"/>
              <a:gd name="connsiteY4" fmla="*/ 482599 h 482599"/>
              <a:gd name="connisteX5" fmla="*/ 0 w 101599"/>
              <a:gd name="connsiteY5" fmla="*/ 431926 h 482599"/>
              <a:gd name="connisteX6" fmla="*/ 0 w 101599"/>
              <a:gd name="connsiteY6" fmla="*/ 50672 h 4825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482600">
                <a:moveTo>
                  <a:pt x="0" y="50673"/>
                </a:moveTo>
                <a:cubicBezTo>
                  <a:pt x="0" y="22687"/>
                  <a:pt x="22744" y="0"/>
                  <a:pt x="50800" y="0"/>
                </a:cubicBezTo>
                <a:cubicBezTo>
                  <a:pt x="78856" y="0"/>
                  <a:pt x="101600" y="22687"/>
                  <a:pt x="101600" y="50673"/>
                </a:cubicBezTo>
                <a:lnTo>
                  <a:pt x="101600" y="431927"/>
                </a:lnTo>
                <a:cubicBezTo>
                  <a:pt x="101600" y="459913"/>
                  <a:pt x="78856" y="482600"/>
                  <a:pt x="50800" y="482600"/>
                </a:cubicBezTo>
                <a:cubicBezTo>
                  <a:pt x="22744" y="482600"/>
                  <a:pt x="0" y="459913"/>
                  <a:pt x="0" y="431927"/>
                </a:cubicBezTo>
                <a:lnTo>
                  <a:pt x="0" y="50673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28">
            <a:extLst>
              <a:ext uri="{FF2B5EF4-FFF2-40B4-BE49-F238E27FC236}">
                <a16:creationId xmlns:a16="http://schemas.microsoft.com/office/drawing/2014/main" id="{23396D6D-E22D-8EDA-BD42-1594564E5328}"/>
              </a:ext>
            </a:extLst>
          </p:cNvPr>
          <p:cNvSpPr txBox="1"/>
          <p:nvPr/>
        </p:nvSpPr>
        <p:spPr>
          <a:xfrm>
            <a:off x="6685317" y="5991073"/>
            <a:ext cx="4072329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微软雅黑"/>
              </a:defRPr>
            </a:pPr>
            <a:r>
              <a:rPr lang="en-US" altLang="zh-CN" sz="2200" dirty="0">
                <a:solidFill>
                  <a:srgbClr val="0A5798"/>
                </a:solidFill>
              </a:rPr>
              <a:t>RISE </a:t>
            </a:r>
            <a:r>
              <a:rPr lang="zh-CN" altLang="en-US" sz="2200" dirty="0">
                <a:solidFill>
                  <a:srgbClr val="0A5798"/>
                </a:solidFill>
              </a:rPr>
              <a:t>效果差：四项实验均最低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Grp="1"/>
          </p:cNvSpPr>
          <p:nvPr/>
        </p:nvSpPr>
        <p:spPr>
          <a:xfrm>
            <a:off x="1229591" y="1223586"/>
            <a:ext cx="4112084" cy="3576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>
              <a:defRPr sz="16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endParaRPr lang="zh-CN" altLang="en-US" sz="1600" b="1" dirty="0">
              <a:solidFill>
                <a:srgbClr val="081D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46909" y="5599579"/>
            <a:ext cx="308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defRPr>
            </a:pPr>
            <a:endParaRPr sz="1300" b="1" dirty="0">
              <a:solidFill>
                <a:srgbClr val="002FA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ounded Rectangle 13"/>
          <p:cNvSpPr/>
          <p:nvPr/>
        </p:nvSpPr>
        <p:spPr>
          <a:xfrm>
            <a:off x="1028410" y="5872173"/>
            <a:ext cx="10030965" cy="624885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1619" y="6012260"/>
            <a:ext cx="4186061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670D2"/>
                </a:solidFill>
                <a:latin typeface="微软雅黑"/>
              </a:defRPr>
            </a:pPr>
            <a:r>
              <a:rPr lang="en-US" altLang="zh-CN" sz="2000" dirty="0"/>
              <a:t>RISE</a:t>
            </a:r>
            <a:r>
              <a:rPr lang="zh-CN" altLang="en-US" sz="2000" dirty="0"/>
              <a:t>：</a:t>
            </a:r>
            <a:r>
              <a:rPr lang="en-US" altLang="zh-CN" sz="2000" dirty="0"/>
              <a:t>4 </a:t>
            </a:r>
            <a:r>
              <a:rPr lang="zh-CN" altLang="en-US" sz="2000" dirty="0"/>
              <a:t>个数据域 </a:t>
            </a:r>
            <a:r>
              <a:rPr lang="en-US" altLang="zh-CN" sz="2000" dirty="0"/>
              <a:t>× </a:t>
            </a:r>
            <a:r>
              <a:rPr lang="zh-CN" altLang="en-US" sz="2000" dirty="0"/>
              <a:t>模型组合均领先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>
          <a:xfrm>
            <a:off x="792663" y="1035767"/>
            <a:ext cx="10606674" cy="44605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D446326-D261-1D5B-6FFF-1A2BB778880D}"/>
              </a:ext>
            </a:extLst>
          </p:cNvPr>
          <p:cNvSpPr>
            <a:spLocks noGrp="1"/>
          </p:cNvSpPr>
          <p:nvPr/>
        </p:nvSpPr>
        <p:spPr>
          <a:xfrm>
            <a:off x="1257300" y="228651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900" b="1" dirty="0">
                <a:solidFill>
                  <a:srgbClr val="081D3A"/>
                </a:solidFill>
                <a:latin typeface="微软雅黑"/>
                <a:ea typeface="微软雅黑"/>
                <a:cs typeface="微软雅黑"/>
              </a:rPr>
              <a:t>稳定性结果</a:t>
            </a:r>
            <a:endParaRPr sz="2900" b="1" dirty="0">
              <a:solidFill>
                <a:srgbClr val="081D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65770B10-8B6F-24C9-2657-820BA50206C5}"/>
              </a:ext>
            </a:extLst>
          </p:cNvPr>
          <p:cNvSpPr/>
          <p:nvPr/>
        </p:nvSpPr>
        <p:spPr>
          <a:xfrm>
            <a:off x="557493" y="865200"/>
            <a:ext cx="10972800" cy="30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任意多边形 3">
            <a:extLst>
              <a:ext uri="{FF2B5EF4-FFF2-40B4-BE49-F238E27FC236}">
                <a16:creationId xmlns:a16="http://schemas.microsoft.com/office/drawing/2014/main" id="{4F9785DA-8E4C-F583-D094-61CDADFDD624}"/>
              </a:ext>
            </a:extLst>
          </p:cNvPr>
          <p:cNvSpPr/>
          <p:nvPr/>
        </p:nvSpPr>
        <p:spPr>
          <a:xfrm>
            <a:off x="571500" y="171501"/>
            <a:ext cx="571500" cy="571500"/>
          </a:xfrm>
          <a:custGeom>
            <a:avLst/>
            <a:gdLst>
              <a:gd name="connisteX0" fmla="*/ 133349 w 571500"/>
              <a:gd name="connsiteY0" fmla="*/ 0 h 571500"/>
              <a:gd name="connisteX1" fmla="*/ 571500 w 571500"/>
              <a:gd name="connsiteY1" fmla="*/ 0 h 571500"/>
              <a:gd name="connisteX2" fmla="*/ 444500 w 571500"/>
              <a:gd name="connsiteY2" fmla="*/ 571500 h 571500"/>
              <a:gd name="connisteX3" fmla="*/ 0 w 571500"/>
              <a:gd name="connsiteY3" fmla="*/ 571500 h 571500"/>
              <a:gd name="connisteX4" fmla="*/ 133349 w 571500"/>
              <a:gd name="connsiteY4" fmla="*/ 0 h 5715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571500" h="571500">
                <a:moveTo>
                  <a:pt x="133350" y="0"/>
                </a:moveTo>
                <a:lnTo>
                  <a:pt x="571500" y="0"/>
                </a:lnTo>
                <a:lnTo>
                  <a:pt x="444500" y="571500"/>
                </a:lnTo>
                <a:lnTo>
                  <a:pt x="0" y="571500"/>
                </a:lnTo>
                <a:lnTo>
                  <a:pt x="133350" y="0"/>
                </a:lnTo>
                <a:close/>
              </a:path>
            </a:pathLst>
          </a:custGeom>
          <a:solidFill>
            <a:srgbClr val="0A5798"/>
          </a:solidFill>
          <a:ln>
            <a:solidFill>
              <a:srgbClr val="3A8FD4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任意多边形 4">
            <a:extLst>
              <a:ext uri="{FF2B5EF4-FFF2-40B4-BE49-F238E27FC236}">
                <a16:creationId xmlns:a16="http://schemas.microsoft.com/office/drawing/2014/main" id="{1B68CC51-CA22-0464-3B41-0A69CB32AD5D}"/>
              </a:ext>
            </a:extLst>
          </p:cNvPr>
          <p:cNvSpPr/>
          <p:nvPr/>
        </p:nvSpPr>
        <p:spPr>
          <a:xfrm>
            <a:off x="607060" y="206426"/>
            <a:ext cx="565150" cy="565150"/>
          </a:xfrm>
          <a:custGeom>
            <a:avLst/>
            <a:gdLst>
              <a:gd name="connisteX0" fmla="*/ 520699 w 565150"/>
              <a:gd name="connsiteY0" fmla="*/ 0 h 565150"/>
              <a:gd name="connisteX1" fmla="*/ 565150 w 565150"/>
              <a:gd name="connsiteY1" fmla="*/ 0 h 565150"/>
              <a:gd name="connisteX2" fmla="*/ 450850 w 565150"/>
              <a:gd name="connsiteY2" fmla="*/ 565150 h 565150"/>
              <a:gd name="connisteX3" fmla="*/ 0 w 565150"/>
              <a:gd name="connsiteY3" fmla="*/ 565150 h 565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65150" h="565150">
                <a:moveTo>
                  <a:pt x="520700" y="0"/>
                </a:moveTo>
                <a:lnTo>
                  <a:pt x="565150" y="0"/>
                </a:lnTo>
                <a:lnTo>
                  <a:pt x="450850" y="565150"/>
                </a:lnTo>
                <a:lnTo>
                  <a:pt x="0" y="565150"/>
                </a:lnTo>
              </a:path>
            </a:pathLst>
          </a:custGeom>
          <a:noFill/>
          <a:ln w="19050" cap="flat">
            <a:solidFill>
              <a:srgbClr val="00549A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m3_stability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27" y="1637530"/>
            <a:ext cx="8850363" cy="347692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54790" y="1695396"/>
            <a:ext cx="2776483" cy="117043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441461" y="1828875"/>
            <a:ext cx="2099477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799A9"/>
                </a:solidFill>
                <a:latin typeface="微软雅黑"/>
              </a:defRPr>
            </a:pPr>
            <a:r>
              <a:rPr sz="1600" dirty="0" err="1">
                <a:solidFill>
                  <a:srgbClr val="1670D2"/>
                </a:solidFill>
              </a:rPr>
              <a:t>Ablation｜耗时最低</a:t>
            </a:r>
            <a:endParaRPr sz="1600" dirty="0">
              <a:solidFill>
                <a:srgbClr val="1670D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77588" y="2280612"/>
            <a:ext cx="2227224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  <a:defRPr sz="1060" b="0">
                <a:solidFill>
                  <a:srgbClr val="17324D"/>
                </a:solidFill>
                <a:latin typeface="微软雅黑"/>
              </a:defRPr>
            </a:pPr>
            <a:r>
              <a:rPr sz="1400" b="1" dirty="0"/>
              <a:t>86.5–91 </a:t>
            </a:r>
            <a:r>
              <a:rPr sz="1400" b="1" dirty="0" err="1"/>
              <a:t>次前向</a:t>
            </a:r>
            <a:endParaRPr sz="1400" b="1" dirty="0"/>
          </a:p>
          <a:p>
            <a:pPr algn="l">
              <a:spcAft>
                <a:spcPts val="0"/>
              </a:spcAft>
              <a:defRPr sz="1060" b="0">
                <a:solidFill>
                  <a:srgbClr val="17324D"/>
                </a:solidFill>
                <a:latin typeface="微软雅黑"/>
              </a:defRPr>
            </a:pPr>
            <a:r>
              <a:rPr sz="1400" b="1" dirty="0"/>
              <a:t>0.1912–0.2113 秒 / 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54790" y="2957268"/>
            <a:ext cx="2776483" cy="117043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54790" y="3097530"/>
            <a:ext cx="2750249" cy="2855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02FA7"/>
                </a:solidFill>
                <a:latin typeface="微软雅黑"/>
              </a:defRPr>
            </a:pPr>
            <a:r>
              <a:rPr sz="1600" b="1" dirty="0">
                <a:solidFill>
                  <a:srgbClr val="1670D2"/>
                </a:solidFill>
                <a:latin typeface="微软雅黑"/>
              </a:rPr>
              <a:t>LIME / </a:t>
            </a:r>
            <a:r>
              <a:rPr sz="1600" b="1" dirty="0" err="1">
                <a:solidFill>
                  <a:srgbClr val="1670D2"/>
                </a:solidFill>
                <a:latin typeface="微软雅黑"/>
              </a:rPr>
              <a:t>KernelSHAP｜居中</a:t>
            </a:r>
            <a:endParaRPr sz="1600" b="1" dirty="0">
              <a:solidFill>
                <a:srgbClr val="1670D2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229671" y="3502746"/>
            <a:ext cx="2913024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60" b="0">
                <a:solidFill>
                  <a:srgbClr val="17324D"/>
                </a:solidFill>
                <a:latin typeface="微软雅黑"/>
              </a:defRPr>
            </a:pPr>
            <a:r>
              <a:rPr sz="1400" b="1" dirty="0" err="1">
                <a:solidFill>
                  <a:srgbClr val="17324D"/>
                </a:solidFill>
                <a:latin typeface="微软雅黑"/>
              </a:rPr>
              <a:t>每图</a:t>
            </a:r>
            <a:r>
              <a:rPr sz="1400" b="1" dirty="0">
                <a:solidFill>
                  <a:srgbClr val="17324D"/>
                </a:solidFill>
                <a:latin typeface="微软雅黑"/>
              </a:rPr>
              <a:t> 1024 </a:t>
            </a:r>
            <a:r>
              <a:rPr sz="1400" b="1" dirty="0" err="1">
                <a:solidFill>
                  <a:srgbClr val="17324D"/>
                </a:solidFill>
                <a:latin typeface="微软雅黑"/>
              </a:rPr>
              <a:t>次前向</a:t>
            </a:r>
            <a:endParaRPr sz="1400" b="1" dirty="0">
              <a:solidFill>
                <a:srgbClr val="17324D"/>
              </a:solidFill>
              <a:latin typeface="微软雅黑"/>
            </a:endParaRPr>
          </a:p>
          <a:p>
            <a:pPr>
              <a:defRPr sz="1060" b="0">
                <a:solidFill>
                  <a:srgbClr val="17324D"/>
                </a:solidFill>
                <a:latin typeface="微软雅黑"/>
              </a:defRPr>
            </a:pPr>
            <a:r>
              <a:rPr sz="1400" b="1" dirty="0" err="1">
                <a:solidFill>
                  <a:srgbClr val="17324D"/>
                </a:solidFill>
                <a:latin typeface="微软雅黑"/>
              </a:rPr>
              <a:t>耗时为</a:t>
            </a:r>
            <a:r>
              <a:rPr sz="1400" b="1" dirty="0">
                <a:solidFill>
                  <a:srgbClr val="17324D"/>
                </a:solidFill>
                <a:latin typeface="微软雅黑"/>
              </a:rPr>
              <a:t> Ablation 的 13.5–14.4</a:t>
            </a:r>
            <a:r>
              <a:rPr lang="en-US" sz="1400" b="1" dirty="0">
                <a:solidFill>
                  <a:srgbClr val="17324D"/>
                </a:solidFill>
                <a:latin typeface="微软雅黑"/>
              </a:rPr>
              <a:t> </a:t>
            </a:r>
            <a:r>
              <a:rPr lang="en-US" altLang="zh-CN" sz="1400" b="1" dirty="0">
                <a:solidFill>
                  <a:srgbClr val="17324D"/>
                </a:solidFill>
                <a:latin typeface="微软雅黑"/>
              </a:rPr>
              <a:t>×</a:t>
            </a:r>
            <a:endParaRPr sz="1400" b="1" dirty="0">
              <a:solidFill>
                <a:srgbClr val="17324D"/>
              </a:solidFill>
              <a:latin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54790" y="4219140"/>
            <a:ext cx="2776483" cy="1170432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34494" y="4358420"/>
            <a:ext cx="1913409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47A24"/>
                </a:solidFill>
                <a:latin typeface="微软雅黑"/>
              </a:defRPr>
            </a:pPr>
            <a:r>
              <a:rPr sz="1600" b="1" dirty="0" err="1">
                <a:solidFill>
                  <a:srgbClr val="1670D2"/>
                </a:solidFill>
                <a:latin typeface="微软雅黑"/>
              </a:rPr>
              <a:t>RISE｜最稳也最慢</a:t>
            </a:r>
            <a:endParaRPr sz="1600" b="1" dirty="0">
              <a:solidFill>
                <a:srgbClr val="1670D2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29671" y="4764618"/>
            <a:ext cx="274530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60" b="0">
                <a:solidFill>
                  <a:srgbClr val="17324D"/>
                </a:solidFill>
                <a:latin typeface="微软雅黑"/>
              </a:defRPr>
            </a:pPr>
            <a:r>
              <a:rPr sz="1400" b="1" dirty="0" err="1">
                <a:solidFill>
                  <a:srgbClr val="17324D"/>
                </a:solidFill>
                <a:latin typeface="微软雅黑"/>
              </a:rPr>
              <a:t>同为</a:t>
            </a:r>
            <a:r>
              <a:rPr sz="1400" b="1" dirty="0">
                <a:solidFill>
                  <a:srgbClr val="17324D"/>
                </a:solidFill>
                <a:latin typeface="微软雅黑"/>
              </a:rPr>
              <a:t> 1024 </a:t>
            </a:r>
            <a:r>
              <a:rPr sz="1400" b="1" dirty="0" err="1">
                <a:solidFill>
                  <a:srgbClr val="17324D"/>
                </a:solidFill>
                <a:latin typeface="微软雅黑"/>
              </a:rPr>
              <a:t>次前向</a:t>
            </a:r>
            <a:endParaRPr sz="1400" b="1" dirty="0">
              <a:solidFill>
                <a:srgbClr val="17324D"/>
              </a:solidFill>
              <a:latin typeface="微软雅黑"/>
            </a:endParaRPr>
          </a:p>
          <a:p>
            <a:pPr>
              <a:defRPr sz="1060" b="0">
                <a:solidFill>
                  <a:srgbClr val="17324D"/>
                </a:solidFill>
                <a:latin typeface="微软雅黑"/>
              </a:defRPr>
            </a:pPr>
            <a:r>
              <a:rPr sz="1400" b="1" dirty="0" err="1">
                <a:solidFill>
                  <a:srgbClr val="17324D"/>
                </a:solidFill>
                <a:latin typeface="微软雅黑"/>
              </a:rPr>
              <a:t>耗时为</a:t>
            </a:r>
            <a:r>
              <a:rPr sz="1400" b="1" dirty="0">
                <a:solidFill>
                  <a:srgbClr val="17324D"/>
                </a:solidFill>
                <a:latin typeface="微软雅黑"/>
              </a:rPr>
              <a:t> Ablation 的 28.9–31.1 </a:t>
            </a:r>
            <a:r>
              <a:rPr lang="en-US" altLang="zh-CN" sz="1400" b="1" dirty="0">
                <a:solidFill>
                  <a:srgbClr val="17324D"/>
                </a:solidFill>
                <a:latin typeface="微软雅黑"/>
              </a:rPr>
              <a:t>×</a:t>
            </a:r>
            <a:endParaRPr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C1781FE-B5FA-8A66-628A-965C1FDEF53C}"/>
              </a:ext>
            </a:extLst>
          </p:cNvPr>
          <p:cNvSpPr>
            <a:spLocks noGrp="1"/>
          </p:cNvSpPr>
          <p:nvPr/>
        </p:nvSpPr>
        <p:spPr>
          <a:xfrm>
            <a:off x="1257300" y="228651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900" b="1" dirty="0">
                <a:solidFill>
                  <a:srgbClr val="081D3A"/>
                </a:solidFill>
                <a:latin typeface="微软雅黑"/>
                <a:ea typeface="微软雅黑"/>
                <a:cs typeface="微软雅黑"/>
              </a:rPr>
              <a:t>效率结果：更稳定需要付出多少代价</a:t>
            </a:r>
            <a:endParaRPr sz="2900" b="1" dirty="0">
              <a:solidFill>
                <a:srgbClr val="081D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EBE90A04-3E09-92F2-8E1B-9D10D912E2D5}"/>
              </a:ext>
            </a:extLst>
          </p:cNvPr>
          <p:cNvSpPr/>
          <p:nvPr/>
        </p:nvSpPr>
        <p:spPr>
          <a:xfrm>
            <a:off x="557493" y="865200"/>
            <a:ext cx="10972800" cy="30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任意多边形 3">
            <a:extLst>
              <a:ext uri="{FF2B5EF4-FFF2-40B4-BE49-F238E27FC236}">
                <a16:creationId xmlns:a16="http://schemas.microsoft.com/office/drawing/2014/main" id="{F1557CF8-B31E-6162-A1B3-A9B89966DA5A}"/>
              </a:ext>
            </a:extLst>
          </p:cNvPr>
          <p:cNvSpPr/>
          <p:nvPr/>
        </p:nvSpPr>
        <p:spPr>
          <a:xfrm>
            <a:off x="571500" y="171501"/>
            <a:ext cx="571500" cy="571500"/>
          </a:xfrm>
          <a:custGeom>
            <a:avLst/>
            <a:gdLst>
              <a:gd name="connisteX0" fmla="*/ 133349 w 571500"/>
              <a:gd name="connsiteY0" fmla="*/ 0 h 571500"/>
              <a:gd name="connisteX1" fmla="*/ 571500 w 571500"/>
              <a:gd name="connsiteY1" fmla="*/ 0 h 571500"/>
              <a:gd name="connisteX2" fmla="*/ 444500 w 571500"/>
              <a:gd name="connsiteY2" fmla="*/ 571500 h 571500"/>
              <a:gd name="connisteX3" fmla="*/ 0 w 571500"/>
              <a:gd name="connsiteY3" fmla="*/ 571500 h 571500"/>
              <a:gd name="connisteX4" fmla="*/ 133349 w 571500"/>
              <a:gd name="connsiteY4" fmla="*/ 0 h 5715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571500" h="571500">
                <a:moveTo>
                  <a:pt x="133350" y="0"/>
                </a:moveTo>
                <a:lnTo>
                  <a:pt x="571500" y="0"/>
                </a:lnTo>
                <a:lnTo>
                  <a:pt x="444500" y="571500"/>
                </a:lnTo>
                <a:lnTo>
                  <a:pt x="0" y="571500"/>
                </a:lnTo>
                <a:lnTo>
                  <a:pt x="133350" y="0"/>
                </a:lnTo>
                <a:close/>
              </a:path>
            </a:pathLst>
          </a:custGeom>
          <a:solidFill>
            <a:srgbClr val="0A5798"/>
          </a:solidFill>
          <a:ln>
            <a:solidFill>
              <a:srgbClr val="3A8FD4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6" name="任意多边形 4">
            <a:extLst>
              <a:ext uri="{FF2B5EF4-FFF2-40B4-BE49-F238E27FC236}">
                <a16:creationId xmlns:a16="http://schemas.microsoft.com/office/drawing/2014/main" id="{A029B024-F666-FA5B-2699-CD682335D09D}"/>
              </a:ext>
            </a:extLst>
          </p:cNvPr>
          <p:cNvSpPr/>
          <p:nvPr/>
        </p:nvSpPr>
        <p:spPr>
          <a:xfrm>
            <a:off x="607060" y="206426"/>
            <a:ext cx="565150" cy="565150"/>
          </a:xfrm>
          <a:custGeom>
            <a:avLst/>
            <a:gdLst>
              <a:gd name="connisteX0" fmla="*/ 520699 w 565150"/>
              <a:gd name="connsiteY0" fmla="*/ 0 h 565150"/>
              <a:gd name="connisteX1" fmla="*/ 565150 w 565150"/>
              <a:gd name="connsiteY1" fmla="*/ 0 h 565150"/>
              <a:gd name="connisteX2" fmla="*/ 450850 w 565150"/>
              <a:gd name="connsiteY2" fmla="*/ 565150 h 565150"/>
              <a:gd name="connisteX3" fmla="*/ 0 w 565150"/>
              <a:gd name="connsiteY3" fmla="*/ 565150 h 565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65150" h="565150">
                <a:moveTo>
                  <a:pt x="520700" y="0"/>
                </a:moveTo>
                <a:lnTo>
                  <a:pt x="565150" y="0"/>
                </a:lnTo>
                <a:lnTo>
                  <a:pt x="450850" y="565150"/>
                </a:lnTo>
                <a:lnTo>
                  <a:pt x="0" y="565150"/>
                </a:lnTo>
              </a:path>
            </a:pathLst>
          </a:custGeom>
          <a:noFill/>
          <a:ln w="19050" cap="flat">
            <a:solidFill>
              <a:srgbClr val="00549A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13">
            <a:extLst>
              <a:ext uri="{FF2B5EF4-FFF2-40B4-BE49-F238E27FC236}">
                <a16:creationId xmlns:a16="http://schemas.microsoft.com/office/drawing/2014/main" id="{83AD1D74-1678-2738-EB0B-EC2AC93F5902}"/>
              </a:ext>
            </a:extLst>
          </p:cNvPr>
          <p:cNvSpPr/>
          <p:nvPr/>
        </p:nvSpPr>
        <p:spPr>
          <a:xfrm>
            <a:off x="1028410" y="6182026"/>
            <a:ext cx="10030965" cy="624885"/>
          </a:xfrm>
          <a:prstGeom prst="roundRect">
            <a:avLst>
              <a:gd name="adj" fmla="val 12000"/>
            </a:avLst>
          </a:prstGeom>
          <a:solidFill>
            <a:srgbClr val="F6FAFD"/>
          </a:solidFill>
          <a:ln w="10160"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net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154" y="1669315"/>
            <a:ext cx="9951180" cy="1809304"/>
          </a:xfrm>
          <a:prstGeom prst="rect">
            <a:avLst/>
          </a:prstGeom>
        </p:spPr>
      </p:pic>
      <p:pic>
        <p:nvPicPr>
          <p:cNvPr id="11" name="Picture 10" descr="chncxr_ex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70" y="4284033"/>
            <a:ext cx="9951179" cy="180930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13531" y="6193224"/>
            <a:ext cx="10564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分类模型可能并不依赖病灶区域，或病灶过小（统计约 40%的病灶小于一个SLIC-100区域）。</a:t>
            </a:r>
            <a:endParaRPr lang="en-US" altLang="zh-CN" b="1" dirty="0">
              <a:solidFill>
                <a:srgbClr val="1670D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b="1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M4</a:t>
            </a:r>
            <a:r>
              <a:rPr lang="zh-CN" altLang="zh-CN" b="1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继续诊断。</a:t>
            </a:r>
            <a:endParaRPr lang="zh-CN" altLang="en-US" b="1" dirty="0">
              <a:solidFill>
                <a:srgbClr val="1670D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A827B4-9678-CD14-2659-DCFE23E6B548}"/>
              </a:ext>
            </a:extLst>
          </p:cNvPr>
          <p:cNvSpPr>
            <a:spLocks noGrp="1"/>
          </p:cNvSpPr>
          <p:nvPr/>
        </p:nvSpPr>
        <p:spPr>
          <a:xfrm>
            <a:off x="1257300" y="228651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900" b="1" dirty="0">
                <a:solidFill>
                  <a:srgbClr val="081D3A"/>
                </a:solidFill>
                <a:latin typeface="微软雅黑"/>
                <a:ea typeface="微软雅黑"/>
                <a:cs typeface="微软雅黑"/>
              </a:rPr>
              <a:t>定位性结果</a:t>
            </a:r>
            <a:endParaRPr sz="2900" b="1" dirty="0">
              <a:solidFill>
                <a:srgbClr val="081D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9FA85E50-B8DA-11C3-AD1A-815F3A4FBCBB}"/>
              </a:ext>
            </a:extLst>
          </p:cNvPr>
          <p:cNvSpPr/>
          <p:nvPr/>
        </p:nvSpPr>
        <p:spPr>
          <a:xfrm>
            <a:off x="557493" y="865200"/>
            <a:ext cx="10972800" cy="30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任意多边形 3">
            <a:extLst>
              <a:ext uri="{FF2B5EF4-FFF2-40B4-BE49-F238E27FC236}">
                <a16:creationId xmlns:a16="http://schemas.microsoft.com/office/drawing/2014/main" id="{B3000E1B-0FC4-D309-916C-6A78C0F73049}"/>
              </a:ext>
            </a:extLst>
          </p:cNvPr>
          <p:cNvSpPr/>
          <p:nvPr/>
        </p:nvSpPr>
        <p:spPr>
          <a:xfrm>
            <a:off x="571500" y="171501"/>
            <a:ext cx="571500" cy="571500"/>
          </a:xfrm>
          <a:custGeom>
            <a:avLst/>
            <a:gdLst>
              <a:gd name="connisteX0" fmla="*/ 133349 w 571500"/>
              <a:gd name="connsiteY0" fmla="*/ 0 h 571500"/>
              <a:gd name="connisteX1" fmla="*/ 571500 w 571500"/>
              <a:gd name="connsiteY1" fmla="*/ 0 h 571500"/>
              <a:gd name="connisteX2" fmla="*/ 444500 w 571500"/>
              <a:gd name="connsiteY2" fmla="*/ 571500 h 571500"/>
              <a:gd name="connisteX3" fmla="*/ 0 w 571500"/>
              <a:gd name="connsiteY3" fmla="*/ 571500 h 571500"/>
              <a:gd name="connisteX4" fmla="*/ 133349 w 571500"/>
              <a:gd name="connsiteY4" fmla="*/ 0 h 5715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571500" h="571500">
                <a:moveTo>
                  <a:pt x="133350" y="0"/>
                </a:moveTo>
                <a:lnTo>
                  <a:pt x="571500" y="0"/>
                </a:lnTo>
                <a:lnTo>
                  <a:pt x="444500" y="571500"/>
                </a:lnTo>
                <a:lnTo>
                  <a:pt x="0" y="571500"/>
                </a:lnTo>
                <a:lnTo>
                  <a:pt x="133350" y="0"/>
                </a:lnTo>
                <a:close/>
              </a:path>
            </a:pathLst>
          </a:custGeom>
          <a:solidFill>
            <a:srgbClr val="0A5798"/>
          </a:solidFill>
          <a:ln>
            <a:solidFill>
              <a:srgbClr val="3A8FD4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任意多边形 4">
            <a:extLst>
              <a:ext uri="{FF2B5EF4-FFF2-40B4-BE49-F238E27FC236}">
                <a16:creationId xmlns:a16="http://schemas.microsoft.com/office/drawing/2014/main" id="{FC161CCE-2A4E-3DD6-A592-F8313F223402}"/>
              </a:ext>
            </a:extLst>
          </p:cNvPr>
          <p:cNvSpPr/>
          <p:nvPr/>
        </p:nvSpPr>
        <p:spPr>
          <a:xfrm>
            <a:off x="607060" y="206426"/>
            <a:ext cx="565150" cy="565150"/>
          </a:xfrm>
          <a:custGeom>
            <a:avLst/>
            <a:gdLst>
              <a:gd name="connisteX0" fmla="*/ 520699 w 565150"/>
              <a:gd name="connsiteY0" fmla="*/ 0 h 565150"/>
              <a:gd name="connisteX1" fmla="*/ 565150 w 565150"/>
              <a:gd name="connsiteY1" fmla="*/ 0 h 565150"/>
              <a:gd name="connisteX2" fmla="*/ 450850 w 565150"/>
              <a:gd name="connsiteY2" fmla="*/ 565150 h 565150"/>
              <a:gd name="connisteX3" fmla="*/ 0 w 565150"/>
              <a:gd name="connsiteY3" fmla="*/ 565150 h 565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65150" h="565150">
                <a:moveTo>
                  <a:pt x="520700" y="0"/>
                </a:moveTo>
                <a:lnTo>
                  <a:pt x="565150" y="0"/>
                </a:lnTo>
                <a:lnTo>
                  <a:pt x="450850" y="565150"/>
                </a:lnTo>
                <a:lnTo>
                  <a:pt x="0" y="565150"/>
                </a:lnTo>
              </a:path>
            </a:pathLst>
          </a:custGeom>
          <a:noFill/>
          <a:ln w="19050" cap="flat">
            <a:solidFill>
              <a:srgbClr val="00549A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任意多边形 9">
            <a:extLst>
              <a:ext uri="{FF2B5EF4-FFF2-40B4-BE49-F238E27FC236}">
                <a16:creationId xmlns:a16="http://schemas.microsoft.com/office/drawing/2014/main" id="{2EEB235D-064E-F453-60EA-7160F52B04B4}"/>
              </a:ext>
            </a:extLst>
          </p:cNvPr>
          <p:cNvSpPr/>
          <p:nvPr/>
        </p:nvSpPr>
        <p:spPr>
          <a:xfrm>
            <a:off x="977154" y="1077026"/>
            <a:ext cx="9951180" cy="482600"/>
          </a:xfrm>
          <a:custGeom>
            <a:avLst/>
            <a:gdLst>
              <a:gd name="connisteX0" fmla="*/ 0 w 11658600"/>
              <a:gd name="connsiteY0" fmla="*/ 101346 h 482600"/>
              <a:gd name="connisteX1" fmla="*/ 58292 w 11658600"/>
              <a:gd name="connsiteY1" fmla="*/ 0 h 482600"/>
              <a:gd name="connisteX2" fmla="*/ 11600307 w 11658600"/>
              <a:gd name="connsiteY2" fmla="*/ 0 h 482600"/>
              <a:gd name="connisteX3" fmla="*/ 11658600 w 11658600"/>
              <a:gd name="connsiteY3" fmla="*/ 101346 h 482600"/>
              <a:gd name="connisteX4" fmla="*/ 11658600 w 11658600"/>
              <a:gd name="connsiteY4" fmla="*/ 381253 h 482600"/>
              <a:gd name="connisteX5" fmla="*/ 11600307 w 11658600"/>
              <a:gd name="connsiteY5" fmla="*/ 482600 h 482600"/>
              <a:gd name="connisteX6" fmla="*/ 58292 w 11658600"/>
              <a:gd name="connsiteY6" fmla="*/ 482600 h 482600"/>
              <a:gd name="connisteX7" fmla="*/ 0 w 11658600"/>
              <a:gd name="connsiteY7" fmla="*/ 381253 h 482600"/>
              <a:gd name="connisteX8" fmla="*/ 0 w 11658600"/>
              <a:gd name="connsiteY8" fmla="*/ 101346 h 48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658600" h="482600">
                <a:moveTo>
                  <a:pt x="0" y="101346"/>
                </a:moveTo>
                <a:cubicBezTo>
                  <a:pt x="0" y="45374"/>
                  <a:pt x="26099" y="0"/>
                  <a:pt x="58293" y="0"/>
                </a:cubicBezTo>
                <a:lnTo>
                  <a:pt x="11600307" y="0"/>
                </a:lnTo>
                <a:cubicBezTo>
                  <a:pt x="11632501" y="0"/>
                  <a:pt x="11658600" y="45374"/>
                  <a:pt x="11658600" y="101346"/>
                </a:cubicBezTo>
                <a:lnTo>
                  <a:pt x="11658600" y="381254"/>
                </a:lnTo>
                <a:cubicBezTo>
                  <a:pt x="11658600" y="437226"/>
                  <a:pt x="11632501" y="482600"/>
                  <a:pt x="11600307" y="482600"/>
                </a:cubicBezTo>
                <a:lnTo>
                  <a:pt x="58293" y="482600"/>
                </a:lnTo>
                <a:cubicBezTo>
                  <a:pt x="26099" y="482600"/>
                  <a:pt x="0" y="437226"/>
                  <a:pt x="0" y="381254"/>
                </a:cubicBezTo>
                <a:lnTo>
                  <a:pt x="0" y="101346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任意多边形 10">
            <a:extLst>
              <a:ext uri="{FF2B5EF4-FFF2-40B4-BE49-F238E27FC236}">
                <a16:creationId xmlns:a16="http://schemas.microsoft.com/office/drawing/2014/main" id="{078F337F-1408-884C-6839-038793DFA49F}"/>
              </a:ext>
            </a:extLst>
          </p:cNvPr>
          <p:cNvSpPr/>
          <p:nvPr/>
        </p:nvSpPr>
        <p:spPr>
          <a:xfrm>
            <a:off x="996765" y="1059725"/>
            <a:ext cx="229012" cy="481965"/>
          </a:xfrm>
          <a:custGeom>
            <a:avLst/>
            <a:gdLst>
              <a:gd name="connisteX0" fmla="*/ 0 w 101599"/>
              <a:gd name="connsiteY0" fmla="*/ 50672 h 482599"/>
              <a:gd name="connisteX1" fmla="*/ 50799 w 101599"/>
              <a:gd name="connsiteY1" fmla="*/ 0 h 482599"/>
              <a:gd name="connisteX2" fmla="*/ 101599 w 101599"/>
              <a:gd name="connsiteY2" fmla="*/ 50672 h 482599"/>
              <a:gd name="connisteX3" fmla="*/ 101599 w 101599"/>
              <a:gd name="connsiteY3" fmla="*/ 431926 h 482599"/>
              <a:gd name="connisteX4" fmla="*/ 50799 w 101599"/>
              <a:gd name="connsiteY4" fmla="*/ 482599 h 482599"/>
              <a:gd name="connisteX5" fmla="*/ 0 w 101599"/>
              <a:gd name="connsiteY5" fmla="*/ 431926 h 482599"/>
              <a:gd name="connisteX6" fmla="*/ 0 w 101599"/>
              <a:gd name="connsiteY6" fmla="*/ 50672 h 4825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482600">
                <a:moveTo>
                  <a:pt x="0" y="50673"/>
                </a:moveTo>
                <a:cubicBezTo>
                  <a:pt x="0" y="22687"/>
                  <a:pt x="22744" y="0"/>
                  <a:pt x="50800" y="0"/>
                </a:cubicBezTo>
                <a:cubicBezTo>
                  <a:pt x="78856" y="0"/>
                  <a:pt x="101600" y="22687"/>
                  <a:pt x="101600" y="50673"/>
                </a:cubicBezTo>
                <a:lnTo>
                  <a:pt x="101600" y="431927"/>
                </a:lnTo>
                <a:cubicBezTo>
                  <a:pt x="101600" y="459913"/>
                  <a:pt x="78856" y="482600"/>
                  <a:pt x="50800" y="482600"/>
                </a:cubicBezTo>
                <a:cubicBezTo>
                  <a:pt x="22744" y="482600"/>
                  <a:pt x="0" y="459913"/>
                  <a:pt x="0" y="431927"/>
                </a:cubicBezTo>
                <a:lnTo>
                  <a:pt x="0" y="50673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347355" y="1109450"/>
            <a:ext cx="5257800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670D2"/>
                </a:solidFill>
                <a:latin typeface="微软雅黑"/>
              </a:defRPr>
            </a:pPr>
            <a:r>
              <a:rPr sz="2200" dirty="0" err="1"/>
              <a:t>ImageNet｜热图较好落在目标附近</a:t>
            </a:r>
            <a:endParaRPr sz="2200" dirty="0"/>
          </a:p>
        </p:txBody>
      </p:sp>
      <p:sp>
        <p:nvSpPr>
          <p:cNvPr id="24" name="任意多边形 9">
            <a:extLst>
              <a:ext uri="{FF2B5EF4-FFF2-40B4-BE49-F238E27FC236}">
                <a16:creationId xmlns:a16="http://schemas.microsoft.com/office/drawing/2014/main" id="{31015E5B-E3C2-32B3-7CFC-5C7EC79C0F10}"/>
              </a:ext>
            </a:extLst>
          </p:cNvPr>
          <p:cNvSpPr/>
          <p:nvPr/>
        </p:nvSpPr>
        <p:spPr>
          <a:xfrm>
            <a:off x="977154" y="3668382"/>
            <a:ext cx="9951180" cy="482600"/>
          </a:xfrm>
          <a:custGeom>
            <a:avLst/>
            <a:gdLst>
              <a:gd name="connisteX0" fmla="*/ 0 w 11658600"/>
              <a:gd name="connsiteY0" fmla="*/ 101346 h 482600"/>
              <a:gd name="connisteX1" fmla="*/ 58292 w 11658600"/>
              <a:gd name="connsiteY1" fmla="*/ 0 h 482600"/>
              <a:gd name="connisteX2" fmla="*/ 11600307 w 11658600"/>
              <a:gd name="connsiteY2" fmla="*/ 0 h 482600"/>
              <a:gd name="connisteX3" fmla="*/ 11658600 w 11658600"/>
              <a:gd name="connsiteY3" fmla="*/ 101346 h 482600"/>
              <a:gd name="connisteX4" fmla="*/ 11658600 w 11658600"/>
              <a:gd name="connsiteY4" fmla="*/ 381253 h 482600"/>
              <a:gd name="connisteX5" fmla="*/ 11600307 w 11658600"/>
              <a:gd name="connsiteY5" fmla="*/ 482600 h 482600"/>
              <a:gd name="connisteX6" fmla="*/ 58292 w 11658600"/>
              <a:gd name="connsiteY6" fmla="*/ 482600 h 482600"/>
              <a:gd name="connisteX7" fmla="*/ 0 w 11658600"/>
              <a:gd name="connsiteY7" fmla="*/ 381253 h 482600"/>
              <a:gd name="connisteX8" fmla="*/ 0 w 11658600"/>
              <a:gd name="connsiteY8" fmla="*/ 101346 h 48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658600" h="482600">
                <a:moveTo>
                  <a:pt x="0" y="101346"/>
                </a:moveTo>
                <a:cubicBezTo>
                  <a:pt x="0" y="45374"/>
                  <a:pt x="26099" y="0"/>
                  <a:pt x="58293" y="0"/>
                </a:cubicBezTo>
                <a:lnTo>
                  <a:pt x="11600307" y="0"/>
                </a:lnTo>
                <a:cubicBezTo>
                  <a:pt x="11632501" y="0"/>
                  <a:pt x="11658600" y="45374"/>
                  <a:pt x="11658600" y="101346"/>
                </a:cubicBezTo>
                <a:lnTo>
                  <a:pt x="11658600" y="381254"/>
                </a:lnTo>
                <a:cubicBezTo>
                  <a:pt x="11658600" y="437226"/>
                  <a:pt x="11632501" y="482600"/>
                  <a:pt x="11600307" y="482600"/>
                </a:cubicBezTo>
                <a:lnTo>
                  <a:pt x="58293" y="482600"/>
                </a:lnTo>
                <a:cubicBezTo>
                  <a:pt x="26099" y="482600"/>
                  <a:pt x="0" y="437226"/>
                  <a:pt x="0" y="381254"/>
                </a:cubicBezTo>
                <a:lnTo>
                  <a:pt x="0" y="101346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6" name="任意多边形 10">
            <a:extLst>
              <a:ext uri="{FF2B5EF4-FFF2-40B4-BE49-F238E27FC236}">
                <a16:creationId xmlns:a16="http://schemas.microsoft.com/office/drawing/2014/main" id="{FA9E2791-F149-215E-2D12-78485E2D6BA2}"/>
              </a:ext>
            </a:extLst>
          </p:cNvPr>
          <p:cNvSpPr/>
          <p:nvPr/>
        </p:nvSpPr>
        <p:spPr>
          <a:xfrm>
            <a:off x="996765" y="3651081"/>
            <a:ext cx="229012" cy="481965"/>
          </a:xfrm>
          <a:custGeom>
            <a:avLst/>
            <a:gdLst>
              <a:gd name="connisteX0" fmla="*/ 0 w 101599"/>
              <a:gd name="connsiteY0" fmla="*/ 50672 h 482599"/>
              <a:gd name="connisteX1" fmla="*/ 50799 w 101599"/>
              <a:gd name="connsiteY1" fmla="*/ 0 h 482599"/>
              <a:gd name="connisteX2" fmla="*/ 101599 w 101599"/>
              <a:gd name="connsiteY2" fmla="*/ 50672 h 482599"/>
              <a:gd name="connisteX3" fmla="*/ 101599 w 101599"/>
              <a:gd name="connsiteY3" fmla="*/ 431926 h 482599"/>
              <a:gd name="connisteX4" fmla="*/ 50799 w 101599"/>
              <a:gd name="connsiteY4" fmla="*/ 482599 h 482599"/>
              <a:gd name="connisteX5" fmla="*/ 0 w 101599"/>
              <a:gd name="connsiteY5" fmla="*/ 431926 h 482599"/>
              <a:gd name="connisteX6" fmla="*/ 0 w 101599"/>
              <a:gd name="connsiteY6" fmla="*/ 50672 h 4825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482600">
                <a:moveTo>
                  <a:pt x="0" y="50673"/>
                </a:moveTo>
                <a:cubicBezTo>
                  <a:pt x="0" y="22687"/>
                  <a:pt x="22744" y="0"/>
                  <a:pt x="50800" y="0"/>
                </a:cubicBezTo>
                <a:cubicBezTo>
                  <a:pt x="78856" y="0"/>
                  <a:pt x="101600" y="22687"/>
                  <a:pt x="101600" y="50673"/>
                </a:cubicBezTo>
                <a:lnTo>
                  <a:pt x="101600" y="431927"/>
                </a:lnTo>
                <a:cubicBezTo>
                  <a:pt x="101600" y="459913"/>
                  <a:pt x="78856" y="482600"/>
                  <a:pt x="50800" y="482600"/>
                </a:cubicBezTo>
                <a:cubicBezTo>
                  <a:pt x="22744" y="482600"/>
                  <a:pt x="0" y="459913"/>
                  <a:pt x="0" y="431927"/>
                </a:cubicBezTo>
                <a:lnTo>
                  <a:pt x="0" y="50673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5">
            <a:extLst>
              <a:ext uri="{FF2B5EF4-FFF2-40B4-BE49-F238E27FC236}">
                <a16:creationId xmlns:a16="http://schemas.microsoft.com/office/drawing/2014/main" id="{BBCDF920-215D-FBBD-C69C-1B7E690170CD}"/>
              </a:ext>
            </a:extLst>
          </p:cNvPr>
          <p:cNvSpPr txBox="1"/>
          <p:nvPr/>
        </p:nvSpPr>
        <p:spPr>
          <a:xfrm>
            <a:off x="1347355" y="3700806"/>
            <a:ext cx="5257800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defRPr sz="1400" b="1">
                <a:solidFill>
                  <a:srgbClr val="1670D2"/>
                </a:solidFill>
                <a:latin typeface="微软雅黑"/>
              </a:defRPr>
            </a:pPr>
            <a:r>
              <a:rPr lang="en-US" altLang="zh-CN" sz="2200" dirty="0"/>
              <a:t>CNHCXR</a:t>
            </a:r>
            <a:r>
              <a:rPr lang="zh-CN" altLang="en-US" sz="2200" dirty="0"/>
              <a:t>｜未能有效定位病灶所在位置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5">
            <a:extLst>
              <a:ext uri="{FF2B5EF4-FFF2-40B4-BE49-F238E27FC236}">
                <a16:creationId xmlns:a16="http://schemas.microsoft.com/office/drawing/2014/main" id="{01F738CA-C120-26E4-2C73-C666B10DE4A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840678" y="4703736"/>
            <a:ext cx="8510643" cy="1434079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F434B9-47B2-FE1F-10BB-526950C6B845}"/>
              </a:ext>
            </a:extLst>
          </p:cNvPr>
          <p:cNvSpPr>
            <a:spLocks noGrp="1"/>
          </p:cNvSpPr>
          <p:nvPr/>
        </p:nvSpPr>
        <p:spPr>
          <a:xfrm>
            <a:off x="1257300" y="228651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2900" b="1" dirty="0">
                <a:solidFill>
                  <a:srgbClr val="081D3A"/>
                </a:solidFill>
                <a:latin typeface="微软雅黑"/>
                <a:ea typeface="微软雅黑"/>
                <a:cs typeface="微软雅黑"/>
              </a:rPr>
              <a:t>M3 </a:t>
            </a:r>
            <a:r>
              <a:rPr lang="zh-CN" altLang="en-US" sz="2900" b="1" dirty="0">
                <a:solidFill>
                  <a:srgbClr val="081D3A"/>
                </a:solidFill>
                <a:latin typeface="微软雅黑"/>
                <a:ea typeface="微软雅黑"/>
                <a:cs typeface="微软雅黑"/>
              </a:rPr>
              <a:t>可以初步回答</a:t>
            </a:r>
            <a:r>
              <a:rPr lang="en-US" altLang="zh-CN" sz="2900" b="1" dirty="0">
                <a:solidFill>
                  <a:srgbClr val="081D3A"/>
                </a:solidFill>
                <a:latin typeface="微软雅黑"/>
                <a:ea typeface="微软雅黑"/>
                <a:cs typeface="微软雅黑"/>
              </a:rPr>
              <a:t> RQ1</a:t>
            </a:r>
            <a:endParaRPr sz="2900" b="1" dirty="0">
              <a:solidFill>
                <a:srgbClr val="081D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D2A4DAD9-D7BE-650D-4BCB-A75D031BCA7E}"/>
              </a:ext>
            </a:extLst>
          </p:cNvPr>
          <p:cNvSpPr/>
          <p:nvPr/>
        </p:nvSpPr>
        <p:spPr>
          <a:xfrm>
            <a:off x="557493" y="865200"/>
            <a:ext cx="10972800" cy="30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任意多边形 3">
            <a:extLst>
              <a:ext uri="{FF2B5EF4-FFF2-40B4-BE49-F238E27FC236}">
                <a16:creationId xmlns:a16="http://schemas.microsoft.com/office/drawing/2014/main" id="{72222B31-87F0-961A-FE99-7E8301F87F5E}"/>
              </a:ext>
            </a:extLst>
          </p:cNvPr>
          <p:cNvSpPr/>
          <p:nvPr/>
        </p:nvSpPr>
        <p:spPr>
          <a:xfrm>
            <a:off x="571500" y="171501"/>
            <a:ext cx="571500" cy="571500"/>
          </a:xfrm>
          <a:custGeom>
            <a:avLst/>
            <a:gdLst>
              <a:gd name="connisteX0" fmla="*/ 133349 w 571500"/>
              <a:gd name="connsiteY0" fmla="*/ 0 h 571500"/>
              <a:gd name="connisteX1" fmla="*/ 571500 w 571500"/>
              <a:gd name="connsiteY1" fmla="*/ 0 h 571500"/>
              <a:gd name="connisteX2" fmla="*/ 444500 w 571500"/>
              <a:gd name="connsiteY2" fmla="*/ 571500 h 571500"/>
              <a:gd name="connisteX3" fmla="*/ 0 w 571500"/>
              <a:gd name="connsiteY3" fmla="*/ 571500 h 571500"/>
              <a:gd name="connisteX4" fmla="*/ 133349 w 571500"/>
              <a:gd name="connsiteY4" fmla="*/ 0 h 5715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571500" h="571500">
                <a:moveTo>
                  <a:pt x="133350" y="0"/>
                </a:moveTo>
                <a:lnTo>
                  <a:pt x="571500" y="0"/>
                </a:lnTo>
                <a:lnTo>
                  <a:pt x="444500" y="571500"/>
                </a:lnTo>
                <a:lnTo>
                  <a:pt x="0" y="571500"/>
                </a:lnTo>
                <a:lnTo>
                  <a:pt x="133350" y="0"/>
                </a:lnTo>
                <a:close/>
              </a:path>
            </a:pathLst>
          </a:custGeom>
          <a:solidFill>
            <a:srgbClr val="0A5798"/>
          </a:solidFill>
          <a:ln>
            <a:solidFill>
              <a:srgbClr val="3A8FD4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8" name="任意多边形 4">
            <a:extLst>
              <a:ext uri="{FF2B5EF4-FFF2-40B4-BE49-F238E27FC236}">
                <a16:creationId xmlns:a16="http://schemas.microsoft.com/office/drawing/2014/main" id="{2E272628-E7C8-2AA4-32E0-C0CDFF76B1E4}"/>
              </a:ext>
            </a:extLst>
          </p:cNvPr>
          <p:cNvSpPr/>
          <p:nvPr/>
        </p:nvSpPr>
        <p:spPr>
          <a:xfrm>
            <a:off x="607060" y="206426"/>
            <a:ext cx="565150" cy="565150"/>
          </a:xfrm>
          <a:custGeom>
            <a:avLst/>
            <a:gdLst>
              <a:gd name="connisteX0" fmla="*/ 520699 w 565150"/>
              <a:gd name="connsiteY0" fmla="*/ 0 h 565150"/>
              <a:gd name="connisteX1" fmla="*/ 565150 w 565150"/>
              <a:gd name="connsiteY1" fmla="*/ 0 h 565150"/>
              <a:gd name="connisteX2" fmla="*/ 450850 w 565150"/>
              <a:gd name="connsiteY2" fmla="*/ 565150 h 565150"/>
              <a:gd name="connisteX3" fmla="*/ 0 w 565150"/>
              <a:gd name="connsiteY3" fmla="*/ 565150 h 565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65150" h="565150">
                <a:moveTo>
                  <a:pt x="520700" y="0"/>
                </a:moveTo>
                <a:lnTo>
                  <a:pt x="565150" y="0"/>
                </a:lnTo>
                <a:lnTo>
                  <a:pt x="450850" y="565150"/>
                </a:lnTo>
                <a:lnTo>
                  <a:pt x="0" y="565150"/>
                </a:lnTo>
              </a:path>
            </a:pathLst>
          </a:custGeom>
          <a:noFill/>
          <a:ln w="19050" cap="flat">
            <a:solidFill>
              <a:srgbClr val="00549A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C3C63B5E-D254-0C10-43F9-6ACEB306D43C}"/>
              </a:ext>
            </a:extLst>
          </p:cNvPr>
          <p:cNvGrpSpPr/>
          <p:nvPr/>
        </p:nvGrpSpPr>
        <p:grpSpPr>
          <a:xfrm>
            <a:off x="1840678" y="1490877"/>
            <a:ext cx="8510644" cy="2777346"/>
            <a:chOff x="1778333" y="2121622"/>
            <a:chExt cx="8510644" cy="277734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5CDEA0A9-B460-B536-97DC-8D64A787A9B8}"/>
                </a:ext>
              </a:extLst>
            </p:cNvPr>
            <p:cNvGrpSpPr/>
            <p:nvPr/>
          </p:nvGrpSpPr>
          <p:grpSpPr>
            <a:xfrm>
              <a:off x="1778333" y="2121622"/>
              <a:ext cx="8510644" cy="2777346"/>
              <a:chOff x="487680" y="2630170"/>
              <a:chExt cx="8510644" cy="2432648"/>
            </a:xfrm>
          </p:grpSpPr>
          <p:sp>
            <p:nvSpPr>
              <p:cNvPr id="31" name="Shape 7">
                <a:extLst>
                  <a:ext uri="{FF2B5EF4-FFF2-40B4-BE49-F238E27FC236}">
                    <a16:creationId xmlns:a16="http://schemas.microsoft.com/office/drawing/2014/main" id="{9389B271-F5E6-7FF4-6021-CBFFEFF3D32E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487680" y="2630170"/>
                <a:ext cx="2517738" cy="2432648"/>
              </a:xfrm>
              <a:prstGeom prst="rect">
                <a:avLst/>
              </a:prstGeom>
              <a:solidFill>
                <a:srgbClr val="FFFFFF">
                  <a:alpha val="80000"/>
                </a:srgbClr>
              </a:solidFill>
              <a:ln w="8890">
                <a:solidFill>
                  <a:srgbClr val="E2EAF6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Shape 7">
                <a:extLst>
                  <a:ext uri="{FF2B5EF4-FFF2-40B4-BE49-F238E27FC236}">
                    <a16:creationId xmlns:a16="http://schemas.microsoft.com/office/drawing/2014/main" id="{0CFA07BC-5C9A-8B99-A61F-BCB61E0FD815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3484133" y="2630170"/>
                <a:ext cx="2517738" cy="2432648"/>
              </a:xfrm>
              <a:prstGeom prst="rect">
                <a:avLst/>
              </a:prstGeom>
              <a:solidFill>
                <a:srgbClr val="FFFFFF">
                  <a:alpha val="80000"/>
                </a:srgbClr>
              </a:solidFill>
              <a:ln w="8890">
                <a:solidFill>
                  <a:srgbClr val="E2EAF6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Shape 8">
                <a:extLst>
                  <a:ext uri="{FF2B5EF4-FFF2-40B4-BE49-F238E27FC236}">
                    <a16:creationId xmlns:a16="http://schemas.microsoft.com/office/drawing/2014/main" id="{3D055BB3-6608-D29C-750E-73F9E3288C99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3484133" y="2630171"/>
                <a:ext cx="2517738" cy="413630"/>
              </a:xfrm>
              <a:prstGeom prst="rect">
                <a:avLst/>
              </a:prstGeom>
              <a:solidFill>
                <a:srgbClr val="3A8FD4">
                  <a:alpha val="80000"/>
                </a:srgbClr>
              </a:solidFill>
              <a:ln w="12700">
                <a:solidFill>
                  <a:srgbClr val="3A8FD4"/>
                </a:solidFill>
                <a:prstDash val="solid"/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34" name="Shape 7">
                <a:extLst>
                  <a:ext uri="{FF2B5EF4-FFF2-40B4-BE49-F238E27FC236}">
                    <a16:creationId xmlns:a16="http://schemas.microsoft.com/office/drawing/2014/main" id="{E80F44A6-84F1-F63B-66A8-A1FEE307F8DA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6480586" y="2630170"/>
                <a:ext cx="2517738" cy="2432648"/>
              </a:xfrm>
              <a:prstGeom prst="rect">
                <a:avLst/>
              </a:prstGeom>
              <a:solidFill>
                <a:srgbClr val="FFFFFF">
                  <a:alpha val="80000"/>
                </a:srgbClr>
              </a:solidFill>
              <a:ln w="8890">
                <a:solidFill>
                  <a:srgbClr val="E2EAF6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Shape 8">
                <a:extLst>
                  <a:ext uri="{FF2B5EF4-FFF2-40B4-BE49-F238E27FC236}">
                    <a16:creationId xmlns:a16="http://schemas.microsoft.com/office/drawing/2014/main" id="{116481EB-2721-47A8-6039-78C08C16B05B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6480586" y="2630171"/>
                <a:ext cx="2517738" cy="413630"/>
              </a:xfrm>
              <a:prstGeom prst="rect">
                <a:avLst/>
              </a:prstGeom>
              <a:solidFill>
                <a:srgbClr val="3A8FD4">
                  <a:alpha val="80000"/>
                </a:srgbClr>
              </a:solidFill>
              <a:ln w="12700">
                <a:solidFill>
                  <a:srgbClr val="3A8FD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" name="Shape 8">
              <a:extLst>
                <a:ext uri="{FF2B5EF4-FFF2-40B4-BE49-F238E27FC236}">
                  <a16:creationId xmlns:a16="http://schemas.microsoft.com/office/drawing/2014/main" id="{0A31C424-06D1-EB97-68A3-D4A1EB0F11D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778333" y="2144831"/>
              <a:ext cx="2517738" cy="463296"/>
            </a:xfrm>
            <a:prstGeom prst="rect">
              <a:avLst/>
            </a:prstGeom>
            <a:solidFill>
              <a:srgbClr val="3A8FD4">
                <a:alpha val="80000"/>
              </a:srgbClr>
            </a:solidFill>
            <a:ln w="12700">
              <a:solidFill>
                <a:srgbClr val="3A8FD4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10">
              <a:extLst>
                <a:ext uri="{FF2B5EF4-FFF2-40B4-BE49-F238E27FC236}">
                  <a16:creationId xmlns:a16="http://schemas.microsoft.com/office/drawing/2014/main" id="{62D536DF-2212-66AE-EE45-71B955F9227E}"/>
                </a:ext>
              </a:extLst>
            </p:cNvPr>
            <p:cNvSpPr txBox="1"/>
            <p:nvPr/>
          </p:nvSpPr>
          <p:spPr>
            <a:xfrm>
              <a:off x="1778333" y="2202042"/>
              <a:ext cx="2517738" cy="34471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ctr">
                <a:spcAft>
                  <a:spcPts val="0"/>
                </a:spcAft>
                <a:defRPr sz="1400" b="1">
                  <a:solidFill>
                    <a:srgbClr val="002FA7"/>
                  </a:solidFill>
                  <a:latin typeface="微软雅黑"/>
                </a:defRPr>
              </a:pPr>
              <a:r>
                <a:rPr lang="en-US" altLang="zh-CN" sz="2000" dirty="0">
                  <a:solidFill>
                    <a:schemeClr val="bg1"/>
                  </a:solidFill>
                </a:rPr>
                <a:t>RQ1</a:t>
              </a:r>
              <a:r>
                <a:rPr lang="zh-CN" altLang="en-US" sz="2000" dirty="0">
                  <a:solidFill>
                    <a:schemeClr val="bg1"/>
                  </a:solidFill>
                </a:rPr>
                <a:t>｜质量 </a:t>
              </a:r>
              <a:r>
                <a:rPr lang="en-US" altLang="zh-CN" sz="2000" dirty="0">
                  <a:solidFill>
                    <a:schemeClr val="bg1"/>
                  </a:solidFill>
                </a:rPr>
                <a:t>× </a:t>
              </a:r>
              <a:r>
                <a:rPr lang="zh-CN" altLang="en-US" sz="2000" dirty="0">
                  <a:solidFill>
                    <a:schemeClr val="bg1"/>
                  </a:solidFill>
                </a:rPr>
                <a:t>效率</a:t>
              </a:r>
            </a:p>
          </p:txBody>
        </p:sp>
        <p:sp>
          <p:nvSpPr>
            <p:cNvPr id="40" name="TextBox 10">
              <a:extLst>
                <a:ext uri="{FF2B5EF4-FFF2-40B4-BE49-F238E27FC236}">
                  <a16:creationId xmlns:a16="http://schemas.microsoft.com/office/drawing/2014/main" id="{C6F7C975-EA8C-9BCA-C363-F7003770329F}"/>
                </a:ext>
              </a:extLst>
            </p:cNvPr>
            <p:cNvSpPr txBox="1"/>
            <p:nvPr/>
          </p:nvSpPr>
          <p:spPr>
            <a:xfrm>
              <a:off x="4774786" y="2188594"/>
              <a:ext cx="2517737" cy="34471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ctr">
                <a:spcAft>
                  <a:spcPts val="0"/>
                </a:spcAft>
                <a:defRPr sz="1400" b="1">
                  <a:solidFill>
                    <a:srgbClr val="002FA7"/>
                  </a:solidFill>
                  <a:latin typeface="微软雅黑"/>
                </a:defRPr>
              </a:pPr>
              <a:r>
                <a:rPr lang="en-US" altLang="zh-CN" sz="2000" dirty="0">
                  <a:solidFill>
                    <a:schemeClr val="bg1"/>
                  </a:solidFill>
                </a:rPr>
                <a:t>RQ2</a:t>
              </a:r>
              <a:r>
                <a:rPr lang="zh-CN" altLang="en-US" sz="2000" dirty="0">
                  <a:solidFill>
                    <a:schemeClr val="bg1"/>
                  </a:solidFill>
                </a:rPr>
                <a:t>｜参数敏感性</a:t>
              </a:r>
            </a:p>
          </p:txBody>
        </p:sp>
        <p:sp>
          <p:nvSpPr>
            <p:cNvPr id="41" name="TextBox 10">
              <a:extLst>
                <a:ext uri="{FF2B5EF4-FFF2-40B4-BE49-F238E27FC236}">
                  <a16:creationId xmlns:a16="http://schemas.microsoft.com/office/drawing/2014/main" id="{2B225BE8-9016-35C7-4319-D4154D51E878}"/>
                </a:ext>
              </a:extLst>
            </p:cNvPr>
            <p:cNvSpPr txBox="1"/>
            <p:nvPr/>
          </p:nvSpPr>
          <p:spPr>
            <a:xfrm>
              <a:off x="7771239" y="2186188"/>
              <a:ext cx="2517737" cy="34471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ctr">
                <a:spcAft>
                  <a:spcPts val="0"/>
                </a:spcAft>
                <a:defRPr sz="1400" b="1">
                  <a:solidFill>
                    <a:srgbClr val="002FA7"/>
                  </a:solidFill>
                  <a:latin typeface="微软雅黑"/>
                </a:defRPr>
              </a:pPr>
              <a:r>
                <a:rPr lang="en-US" altLang="zh-CN" sz="2000" dirty="0">
                  <a:solidFill>
                    <a:schemeClr val="bg1"/>
                  </a:solidFill>
                </a:rPr>
                <a:t>RQ3</a:t>
              </a:r>
              <a:r>
                <a:rPr lang="zh-CN" altLang="en-US" sz="2000" dirty="0">
                  <a:solidFill>
                    <a:schemeClr val="bg1"/>
                  </a:solidFill>
                </a:rPr>
                <a:t>｜理论 </a:t>
              </a:r>
              <a:r>
                <a:rPr lang="en-US" altLang="zh-CN" sz="2000" dirty="0">
                  <a:solidFill>
                    <a:schemeClr val="bg1"/>
                  </a:solidFill>
                </a:rPr>
                <a:t>× </a:t>
              </a:r>
              <a:r>
                <a:rPr lang="zh-CN" altLang="en-US" sz="2000" dirty="0">
                  <a:solidFill>
                    <a:schemeClr val="bg1"/>
                  </a:solidFill>
                </a:rPr>
                <a:t>实践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3DAC7478-3F68-420A-701B-5B147B4AA7FD}"/>
                </a:ext>
              </a:extLst>
            </p:cNvPr>
            <p:cNvSpPr txBox="1"/>
            <p:nvPr/>
          </p:nvSpPr>
          <p:spPr>
            <a:xfrm>
              <a:off x="1871455" y="2698576"/>
              <a:ext cx="2327798" cy="2123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0"/>
                </a:spcAft>
                <a:defRPr sz="1200" b="1">
                  <a:solidFill>
                    <a:srgbClr val="081D3A"/>
                  </a:solidFill>
                  <a:latin typeface="微软雅黑"/>
                </a:defRPr>
              </a:pPr>
              <a:r>
                <a:rPr lang="zh-CN" altLang="en-US" sz="2000" dirty="0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已有证据：</a:t>
              </a:r>
              <a:endParaRPr lang="en-US" altLang="zh-CN" sz="2000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algn="l">
                <a:spcAft>
                  <a:spcPts val="0"/>
                </a:spcAft>
                <a:buFont typeface="+mj-ea"/>
                <a:buAutoNum type="circleNumDbPlain"/>
                <a:defRPr sz="1200" b="1">
                  <a:solidFill>
                    <a:srgbClr val="081D3A"/>
                  </a:solidFill>
                  <a:latin typeface="微软雅黑"/>
                </a:defRPr>
              </a:pPr>
              <a:r>
                <a:rPr lang="en-US" altLang="zh-CN" sz="1600" dirty="0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LIME / </a:t>
              </a:r>
              <a:r>
                <a:rPr lang="en-US" altLang="zh-CN" sz="1600" dirty="0" err="1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KernelSHAP</a:t>
              </a:r>
              <a:r>
                <a:rPr lang="en-US" altLang="zh-CN" sz="1600" dirty="0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600" dirty="0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忠实性较强</a:t>
              </a:r>
            </a:p>
            <a:p>
              <a:pPr marL="342900" indent="-342900" algn="l">
                <a:spcAft>
                  <a:spcPts val="0"/>
                </a:spcAft>
                <a:buFont typeface="+mj-ea"/>
                <a:buAutoNum type="circleNumDbPlain"/>
                <a:defRPr sz="1200" b="1">
                  <a:solidFill>
                    <a:srgbClr val="081D3A"/>
                  </a:solidFill>
                  <a:latin typeface="微软雅黑"/>
                </a:defRPr>
              </a:pPr>
              <a:r>
                <a:rPr lang="en-US" altLang="zh-CN" sz="1600" dirty="0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RISE </a:t>
              </a:r>
              <a:r>
                <a:rPr lang="zh-CN" altLang="en-US" sz="1600" dirty="0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稳定性最好但耗时最高</a:t>
              </a:r>
            </a:p>
            <a:p>
              <a:pPr marL="342900" indent="-342900" algn="l">
                <a:spcAft>
                  <a:spcPts val="0"/>
                </a:spcAft>
                <a:buFont typeface="+mj-ea"/>
                <a:buAutoNum type="circleNumDbPlain"/>
                <a:defRPr sz="1200" b="1">
                  <a:solidFill>
                    <a:srgbClr val="081D3A"/>
                  </a:solidFill>
                  <a:latin typeface="微软雅黑"/>
                </a:defRPr>
              </a:pPr>
              <a:r>
                <a:rPr lang="en-US" altLang="zh-CN" sz="1600" dirty="0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Ablation </a:t>
              </a:r>
              <a:r>
                <a:rPr lang="zh-CN" altLang="en-US" sz="1600" dirty="0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计算成本最低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99AEE28F-5D61-723B-50A2-0E45133AC4E0}"/>
                </a:ext>
              </a:extLst>
            </p:cNvPr>
            <p:cNvSpPr txBox="1"/>
            <p:nvPr/>
          </p:nvSpPr>
          <p:spPr>
            <a:xfrm>
              <a:off x="4869755" y="2698576"/>
              <a:ext cx="2327798" cy="18774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0"/>
                </a:spcAft>
                <a:defRPr sz="1200" b="1">
                  <a:solidFill>
                    <a:srgbClr val="081D3A"/>
                  </a:solidFill>
                  <a:latin typeface="微软雅黑"/>
                </a:defRPr>
              </a:pPr>
              <a:r>
                <a:rPr lang="zh-CN" altLang="en-US" sz="2000" dirty="0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已有证据：</a:t>
              </a:r>
              <a:endParaRPr lang="en-US" altLang="zh-CN" sz="2000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algn="l">
                <a:spcAft>
                  <a:spcPts val="0"/>
                </a:spcAft>
                <a:buFont typeface="+mj-ea"/>
                <a:buAutoNum type="circleNumDbPlain"/>
                <a:defRPr sz="1200" b="1">
                  <a:solidFill>
                    <a:srgbClr val="081D3A"/>
                  </a:solidFill>
                  <a:latin typeface="微软雅黑"/>
                </a:defRPr>
              </a:pPr>
              <a:r>
                <a:rPr lang="zh-CN" altLang="en-US" sz="1600" dirty="0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医学小病灶与当前粒度</a:t>
              </a:r>
            </a:p>
            <a:p>
              <a:pPr marL="342900" indent="-342900" algn="l">
                <a:spcAft>
                  <a:spcPts val="0"/>
                </a:spcAft>
                <a:buFont typeface="+mj-ea"/>
                <a:buAutoNum type="circleNumDbPlain"/>
                <a:defRPr sz="1200" b="1">
                  <a:solidFill>
                    <a:srgbClr val="081D3A"/>
                  </a:solidFill>
                  <a:latin typeface="微软雅黑"/>
                </a:defRPr>
              </a:pPr>
              <a:r>
                <a:rPr lang="zh-CN" altLang="en-US" sz="1600" dirty="0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存在明显不匹配风险</a:t>
              </a:r>
            </a:p>
            <a:p>
              <a:pPr marL="342900" indent="-342900" algn="l">
                <a:spcAft>
                  <a:spcPts val="0"/>
                </a:spcAft>
                <a:buFont typeface="+mj-ea"/>
                <a:buAutoNum type="circleNumDbPlain"/>
                <a:defRPr sz="1200" b="1">
                  <a:solidFill>
                    <a:srgbClr val="081D3A"/>
                  </a:solidFill>
                  <a:latin typeface="微软雅黑"/>
                </a:defRPr>
              </a:pPr>
              <a:r>
                <a:rPr lang="en-US" altLang="zh-CN" sz="1600" dirty="0" err="1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KernelSHAP</a:t>
              </a:r>
              <a:r>
                <a:rPr lang="en-US" altLang="zh-CN" sz="1600" dirty="0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600" dirty="0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出现种子波动组合</a:t>
              </a: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854AA466-3EE6-8C20-839A-C64EA9F3DC33}"/>
                </a:ext>
              </a:extLst>
            </p:cNvPr>
            <p:cNvSpPr txBox="1"/>
            <p:nvPr/>
          </p:nvSpPr>
          <p:spPr>
            <a:xfrm>
              <a:off x="7866208" y="2698576"/>
              <a:ext cx="2327798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0"/>
                </a:spcAft>
                <a:defRPr sz="1200" b="1">
                  <a:solidFill>
                    <a:srgbClr val="081D3A"/>
                  </a:solidFill>
                  <a:latin typeface="微软雅黑"/>
                </a:defRPr>
              </a:pPr>
              <a:r>
                <a:rPr lang="zh-CN" altLang="en-US" sz="2000" dirty="0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已有证据：</a:t>
              </a:r>
              <a:endParaRPr lang="en-US" altLang="zh-CN" sz="2000" dirty="0">
                <a:solidFill>
                  <a:srgbClr val="1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 algn="l">
                <a:spcAft>
                  <a:spcPts val="0"/>
                </a:spcAft>
                <a:buFont typeface="+mj-ea"/>
                <a:buAutoNum type="circleNumDbPlain"/>
                <a:defRPr sz="1200" b="1">
                  <a:solidFill>
                    <a:srgbClr val="081D3A"/>
                  </a:solidFill>
                  <a:latin typeface="微软雅黑"/>
                </a:defRPr>
              </a:pPr>
              <a:r>
                <a:rPr lang="en-US" altLang="zh-CN" sz="1600" dirty="0" err="1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KernelSHAP</a:t>
              </a:r>
              <a:r>
                <a:rPr lang="en-US" altLang="zh-CN" sz="1600" dirty="0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efficiency </a:t>
              </a:r>
              <a:r>
                <a:rPr lang="zh-CN" altLang="en-US" sz="1600" dirty="0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约束</a:t>
              </a:r>
            </a:p>
            <a:p>
              <a:pPr marL="342900" indent="-342900" algn="l">
                <a:spcAft>
                  <a:spcPts val="0"/>
                </a:spcAft>
                <a:buFont typeface="+mj-ea"/>
                <a:buAutoNum type="circleNumDbPlain"/>
                <a:defRPr sz="1200" b="1">
                  <a:solidFill>
                    <a:srgbClr val="081D3A"/>
                  </a:solidFill>
                  <a:latin typeface="微软雅黑"/>
                </a:defRPr>
              </a:pPr>
              <a:r>
                <a:rPr lang="zh-CN" altLang="en-US" sz="1600" dirty="0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已通过数值检查</a:t>
              </a:r>
            </a:p>
            <a:p>
              <a:pPr marL="342900" indent="-342900" algn="l">
                <a:spcAft>
                  <a:spcPts val="0"/>
                </a:spcAft>
                <a:buFont typeface="+mj-ea"/>
                <a:buAutoNum type="circleNumDbPlain"/>
                <a:defRPr sz="1200" b="1">
                  <a:solidFill>
                    <a:srgbClr val="081D3A"/>
                  </a:solidFill>
                  <a:latin typeface="微软雅黑"/>
                </a:defRPr>
              </a:pPr>
              <a:r>
                <a:rPr lang="zh-CN" altLang="en-US" sz="1600" dirty="0">
                  <a:solidFill>
                    <a:srgbClr val="1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未形成全面质量优势</a:t>
              </a:r>
            </a:p>
          </p:txBody>
        </p:sp>
      </p:grpSp>
      <p:sp>
        <p:nvSpPr>
          <p:cNvPr id="51" name="TextBox 10">
            <a:extLst>
              <a:ext uri="{FF2B5EF4-FFF2-40B4-BE49-F238E27FC236}">
                <a16:creationId xmlns:a16="http://schemas.microsoft.com/office/drawing/2014/main" id="{20F52322-A177-7C88-6A65-273AF1A69906}"/>
              </a:ext>
            </a:extLst>
          </p:cNvPr>
          <p:cNvSpPr txBox="1"/>
          <p:nvPr/>
        </p:nvSpPr>
        <p:spPr>
          <a:xfrm>
            <a:off x="2225493" y="4933512"/>
            <a:ext cx="8283027" cy="96026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342900" indent="-342900">
              <a:spcAft>
                <a:spcPts val="0"/>
              </a:spcAft>
              <a:buFont typeface="Arial" panose="020B0604020202020204" pitchFamily="34" charset="0"/>
              <a:buChar char="•"/>
              <a:defRPr sz="1400" b="1">
                <a:solidFill>
                  <a:srgbClr val="002FA7"/>
                </a:solidFill>
                <a:latin typeface="微软雅黑"/>
              </a:defRPr>
            </a:pPr>
            <a:r>
              <a:rPr lang="en-US" altLang="zh-CN" sz="2000" dirty="0">
                <a:solidFill>
                  <a:srgbClr val="0A5798"/>
                </a:solidFill>
              </a:rPr>
              <a:t>RQ1</a:t>
            </a:r>
            <a:r>
              <a:rPr lang="zh-CN" altLang="en-US" sz="2000" dirty="0">
                <a:solidFill>
                  <a:srgbClr val="0A5798"/>
                </a:solidFill>
              </a:rPr>
              <a:t>：额外计算可以换取部分收益，但收益程度因算法而异</a:t>
            </a:r>
            <a:endParaRPr lang="en-US" altLang="zh-CN" sz="2000" dirty="0">
              <a:solidFill>
                <a:srgbClr val="0A5798"/>
              </a:solidFill>
            </a:endParaRPr>
          </a:p>
          <a:p>
            <a:pPr marL="342900" indent="-342900">
              <a:spcAft>
                <a:spcPts val="0"/>
              </a:spcAft>
              <a:buFont typeface="Arial" panose="020B0604020202020204" pitchFamily="34" charset="0"/>
              <a:buChar char="•"/>
              <a:defRPr sz="1400" b="1">
                <a:solidFill>
                  <a:srgbClr val="002FA7"/>
                </a:solidFill>
                <a:latin typeface="微软雅黑"/>
              </a:defRPr>
            </a:pPr>
            <a:r>
              <a:rPr lang="en-US" altLang="zh-CN" sz="2000" dirty="0">
                <a:solidFill>
                  <a:srgbClr val="0A5798"/>
                </a:solidFill>
              </a:rPr>
              <a:t>RQ2</a:t>
            </a:r>
            <a:r>
              <a:rPr lang="zh-CN" altLang="en-US" sz="2000" dirty="0">
                <a:solidFill>
                  <a:srgbClr val="0A5798"/>
                </a:solidFill>
              </a:rPr>
              <a:t>：下一步应该进行单因素参数扫描</a:t>
            </a:r>
            <a:endParaRPr lang="en-US" altLang="zh-CN" sz="2000" dirty="0">
              <a:solidFill>
                <a:srgbClr val="0A5798"/>
              </a:solidFill>
            </a:endParaRPr>
          </a:p>
          <a:p>
            <a:pPr marL="342900" indent="-342900">
              <a:spcAft>
                <a:spcPts val="0"/>
              </a:spcAft>
              <a:buFont typeface="Arial" panose="020B0604020202020204" pitchFamily="34" charset="0"/>
              <a:buChar char="•"/>
              <a:defRPr sz="1400" b="1">
                <a:solidFill>
                  <a:srgbClr val="002FA7"/>
                </a:solidFill>
                <a:latin typeface="微软雅黑"/>
              </a:defRPr>
            </a:pPr>
            <a:r>
              <a:rPr lang="en-US" altLang="zh-CN" sz="2000" dirty="0">
                <a:solidFill>
                  <a:srgbClr val="0A5798"/>
                </a:solidFill>
              </a:rPr>
              <a:t>RQ3</a:t>
            </a:r>
            <a:r>
              <a:rPr lang="zh-CN" altLang="en-US" sz="2000" dirty="0">
                <a:solidFill>
                  <a:srgbClr val="0A5798"/>
                </a:solidFill>
              </a:rPr>
              <a:t>：仍需预算扫描、与梯度类方法进行交叉比较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26C7D-C00D-2EF5-4F9C-A137FBC6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D170011-E17A-161F-430C-F9F3AF7EFBF3}"/>
              </a:ext>
            </a:extLst>
          </p:cNvPr>
          <p:cNvSpPr/>
          <p:nvPr/>
        </p:nvSpPr>
        <p:spPr>
          <a:xfrm>
            <a:off x="609600" y="444500"/>
            <a:ext cx="10972800" cy="853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3465" b="1" dirty="0">
                <a:solidFill>
                  <a:srgbClr val="1A2B5E"/>
                </a:solidFill>
                <a:latin typeface="思源黑体" panose="020B0800000000000000" charset="-122"/>
                <a:ea typeface="思源黑体" panose="020B0800000000000000" charset="-122"/>
                <a:cs typeface="Calibri" panose="020F0502020204030204" pitchFamily="34" charset="-120"/>
              </a:rPr>
              <a:t>目录</a:t>
            </a:r>
            <a:endParaRPr lang="en-US" sz="3465" dirty="0">
              <a:latin typeface="思源黑体" panose="020B0800000000000000" charset="-122"/>
              <a:ea typeface="思源黑体" panose="020B0800000000000000" charset="-12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2B4376D-2648-D8A0-2F95-8F541E703D18}"/>
              </a:ext>
            </a:extLst>
          </p:cNvPr>
          <p:cNvSpPr/>
          <p:nvPr/>
        </p:nvSpPr>
        <p:spPr>
          <a:xfrm>
            <a:off x="609600" y="1322324"/>
            <a:ext cx="6238240" cy="4876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5DE1988-0A80-88B6-8267-490B50C7866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8000" y="1631315"/>
            <a:ext cx="6339840" cy="1024128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7EBAE2-BC53-B645-55A0-F6DD5781D6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08000" y="1631315"/>
            <a:ext cx="85344" cy="1024128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5BDE75F-5B1A-1D29-0F06-27A85D49BBE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90880" y="1692275"/>
            <a:ext cx="609600" cy="902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8FD4"/>
                </a:solidFill>
                <a:latin typeface="Copernicus Trial Bold" panose="02000000000000000000" charset="0"/>
                <a:ea typeface="思源黑体" panose="020B0800000000000000" charset="-122"/>
              </a:rPr>
              <a:t>①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92785A3-BCC3-2F33-453A-170DFB6B46A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452880" y="1980686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项目开发进度</a:t>
            </a:r>
            <a:endParaRPr lang="en-US" sz="28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D2D81C3-89DB-4C9A-B4F4-D91838DEF01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08000" y="2826131"/>
            <a:ext cx="6339840" cy="1024128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6833CD9-0525-9967-8B2A-D94465A618D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08000" y="2826131"/>
            <a:ext cx="85344" cy="1024128"/>
          </a:xfrm>
          <a:prstGeom prst="rect">
            <a:avLst/>
          </a:prstGeom>
          <a:solidFill>
            <a:srgbClr val="1670D2"/>
          </a:solidFill>
          <a:ln w="1270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3DC125F-0339-3FB6-557E-65FD03610BA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90880" y="2887091"/>
            <a:ext cx="609600" cy="902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70D2"/>
                </a:solidFill>
                <a:latin typeface="Copernicus Trial Bold" panose="02000000000000000000" charset="0"/>
                <a:ea typeface="思源黑体" panose="020B0800000000000000" charset="-122"/>
              </a:rPr>
              <a:t>②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3FA0940-06F3-D4E6-FBE3-D740DDAF258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422400" y="2899283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  <a:cs typeface="Copernicus Trial Bold" panose="02000000000000000000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D07DBC9-7808-A244-0C68-C1E4E0CCAF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08000" y="4020947"/>
            <a:ext cx="6339840" cy="1024128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1D76F33-BA43-7FDC-5F84-C8FDF782D0A6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08000" y="4020947"/>
            <a:ext cx="85344" cy="1024128"/>
          </a:xfrm>
          <a:prstGeom prst="rect">
            <a:avLst/>
          </a:prstGeom>
          <a:solidFill>
            <a:srgbClr val="0A5798"/>
          </a:solidFill>
          <a:ln w="12700">
            <a:solidFill>
              <a:srgbClr val="0A57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DD5FE07-8BB9-2239-EA4B-182887C2D50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90880" y="4081907"/>
            <a:ext cx="609600" cy="902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5798"/>
                </a:solidFill>
                <a:latin typeface="Copernicus Trial Bold" panose="02000000000000000000" charset="0"/>
                <a:ea typeface="思源黑体" panose="020B0800000000000000" charset="-122"/>
              </a:rPr>
              <a:t>③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E9BEFF2-F7D4-A4FA-B3EC-EFC0BD3D6FB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422400" y="4094099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A8FF2B1-B533-710E-AF16-8D841BF90DB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08000" y="5215763"/>
            <a:ext cx="6339840" cy="1024128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B05FC48-DCA8-D665-DC50-0CA9107160FE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08000" y="5215763"/>
            <a:ext cx="85344" cy="102412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E81E9A5-9033-26B2-861F-CD9DDD5717AA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90880" y="5276723"/>
            <a:ext cx="609600" cy="902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④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9CC7DF9-2437-709A-9E1C-9513F507BD5B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422400" y="5288915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54D30AC-F82C-3C3A-0116-F6F8465AA70F}"/>
              </a:ext>
            </a:extLst>
          </p:cNvPr>
          <p:cNvSpPr/>
          <p:nvPr userDrawn="1"/>
        </p:nvSpPr>
        <p:spPr>
          <a:xfrm>
            <a:off x="0" y="6665537"/>
            <a:ext cx="12192000" cy="192463"/>
          </a:xfrm>
          <a:prstGeom prst="rect">
            <a:avLst/>
          </a:prstGeom>
          <a:solidFill>
            <a:srgbClr val="004098">
              <a:alpha val="100000"/>
            </a:srgbClr>
          </a:solidFill>
          <a:ln>
            <a:solidFill>
              <a:srgbClr val="2E54A1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F61280E-1AD6-0191-469E-9228E455663D}"/>
              </a:ext>
            </a:extLst>
          </p:cNvPr>
          <p:cNvSpPr/>
          <p:nvPr userDrawn="1"/>
        </p:nvSpPr>
        <p:spPr>
          <a:xfrm>
            <a:off x="0" y="0"/>
            <a:ext cx="12192000" cy="192463"/>
          </a:xfrm>
          <a:prstGeom prst="rect">
            <a:avLst/>
          </a:prstGeom>
          <a:solidFill>
            <a:srgbClr val="004098">
              <a:alpha val="100000"/>
            </a:srgbClr>
          </a:solidFill>
          <a:ln>
            <a:solidFill>
              <a:srgbClr val="2E54A1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E47AF654-0CE7-08A7-CAA0-AE3628D1EEC4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>
            <a:fillRect/>
          </a:stretch>
        </p:blipFill>
        <p:spPr>
          <a:xfrm>
            <a:off x="7359650" y="1341247"/>
            <a:ext cx="4324350" cy="4324350"/>
          </a:xfrm>
          <a:prstGeom prst="roundRect">
            <a:avLst>
              <a:gd name="adj" fmla="val 3409"/>
            </a:avLst>
          </a:prstGeom>
        </p:spPr>
      </p:pic>
      <p:sp>
        <p:nvSpPr>
          <p:cNvPr id="57" name="Text 8">
            <a:extLst>
              <a:ext uri="{FF2B5EF4-FFF2-40B4-BE49-F238E27FC236}">
                <a16:creationId xmlns:a16="http://schemas.microsoft.com/office/drawing/2014/main" id="{6A0F7343-6021-6A6F-752D-1D50CDF75AA8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452880" y="3162046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实验完成情况</a:t>
            </a:r>
            <a:endParaRPr lang="en-US" sz="28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59" name="Text 8">
            <a:extLst>
              <a:ext uri="{FF2B5EF4-FFF2-40B4-BE49-F238E27FC236}">
                <a16:creationId xmlns:a16="http://schemas.microsoft.com/office/drawing/2014/main" id="{68256F8D-4B09-E544-CC3B-F0A22938BB84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452880" y="4374417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实验结果与分析</a:t>
            </a:r>
            <a:endParaRPr lang="en-US" sz="28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D8DDD7C5-DE2E-7F13-93A9-CBD0EB6085DA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1452880" y="5545045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A2B5E"/>
                </a:solidFill>
                <a:latin typeface="Copernicus Trial Bold" panose="02000000000000000000" charset="0"/>
                <a:ea typeface="思源黑体" panose="020B0800000000000000" charset="-122"/>
              </a:rPr>
              <a:t>下一步计划</a:t>
            </a:r>
            <a:endParaRPr lang="en-US" sz="2800" b="1" dirty="0">
              <a:solidFill>
                <a:srgbClr val="1A2B5E"/>
              </a:solidFill>
              <a:latin typeface="Copernicus Trial Bold" panose="02000000000000000000" charset="0"/>
              <a:ea typeface="思源黑体" panose="020B08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7077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>
            <a:spLocks noGrp="1"/>
          </p:cNvSpPr>
          <p:nvPr/>
        </p:nvSpPr>
        <p:spPr>
          <a:xfrm>
            <a:off x="723900" y="1547527"/>
            <a:ext cx="2571750" cy="3703543"/>
          </a:xfrm>
          <a:prstGeom prst="roundRect">
            <a:avLst>
              <a:gd name="adj" fmla="val 5926"/>
            </a:avLst>
          </a:prstGeom>
          <a:solidFill>
            <a:srgbClr val="0A5798"/>
          </a:solidFill>
          <a:ln w="9525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A579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1757079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M3｜已完成</a:t>
            </a: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876300" y="2271429"/>
            <a:ext cx="21907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2519079"/>
            <a:ext cx="21526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marL="342900" indent="-342900" algn="l">
              <a:buFont typeface="Arial" panose="020B0604020202090204" pitchFamily="34" charset="0"/>
              <a:buChar char="•"/>
              <a:def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统一实现</a:t>
            </a:r>
            <a:endParaRPr sz="2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342900" indent="-342900" algn="l">
              <a:buFont typeface="Arial" panose="020B0604020202090204" pitchFamily="34" charset="0"/>
              <a:buChar char="•"/>
              <a:def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默认配置初步比较</a:t>
            </a:r>
            <a:endParaRPr sz="2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9" name="箭头: 右 8"/>
          <p:cNvSpPr>
            <a:spLocks noGrp="1"/>
          </p:cNvSpPr>
          <p:nvPr/>
        </p:nvSpPr>
        <p:spPr>
          <a:xfrm>
            <a:off x="3333750" y="2842929"/>
            <a:ext cx="24765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/>
          <p:cNvSpPr>
            <a:spLocks noGrp="1"/>
          </p:cNvSpPr>
          <p:nvPr/>
        </p:nvSpPr>
        <p:spPr>
          <a:xfrm>
            <a:off x="3581400" y="1547527"/>
            <a:ext cx="3429000" cy="3703543"/>
          </a:xfrm>
          <a:prstGeom prst="roundRect">
            <a:avLst>
              <a:gd name="adj" fmla="val 5405"/>
            </a:avLst>
          </a:prstGeom>
          <a:solidFill>
            <a:srgbClr val="0A5798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A5798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771900" y="1757079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M4｜完整实验</a:t>
            </a: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771900" y="2271429"/>
            <a:ext cx="3048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790950" y="2519079"/>
            <a:ext cx="30099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marL="342900" indent="-342900" algn="l">
              <a:buFont typeface="Arial" panose="020B0604020202090204" pitchFamily="34" charset="0"/>
              <a:buChar char="•"/>
              <a:def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参数敏感性与异常诊断</a:t>
            </a:r>
            <a:endParaRPr sz="2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342900" indent="-342900" algn="l">
              <a:buFont typeface="Arial" panose="020B0604020202090204" pitchFamily="34" charset="0"/>
              <a:buChar char="•"/>
              <a:def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梯度类交叉比较</a:t>
            </a:r>
            <a:endParaRPr sz="2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342900" indent="-342900" algn="l">
              <a:buFont typeface="Arial" panose="020B0604020202090204" pitchFamily="34" charset="0"/>
              <a:buChar char="•"/>
              <a:def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医学域配置冻结与最终评价</a:t>
            </a:r>
            <a:endParaRPr lang="en-US" sz="2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342900" indent="-342900" algn="l">
              <a:buFont typeface="Arial" panose="020B0604020202090204" pitchFamily="34" charset="0"/>
              <a:buChar char="•"/>
              <a:def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附加</a:t>
            </a: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ViT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实验</a:t>
            </a:r>
            <a:endParaRPr sz="2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14" name="箭头: 右 13"/>
          <p:cNvSpPr>
            <a:spLocks noGrp="1"/>
          </p:cNvSpPr>
          <p:nvPr/>
        </p:nvSpPr>
        <p:spPr>
          <a:xfrm>
            <a:off x="7086600" y="2842929"/>
            <a:ext cx="24765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: 圆角 14"/>
          <p:cNvSpPr>
            <a:spLocks noGrp="1"/>
          </p:cNvSpPr>
          <p:nvPr/>
        </p:nvSpPr>
        <p:spPr>
          <a:xfrm>
            <a:off x="7334250" y="1547528"/>
            <a:ext cx="4171950" cy="3703543"/>
          </a:xfrm>
          <a:prstGeom prst="roundRect">
            <a:avLst>
              <a:gd name="adj" fmla="val 5405"/>
            </a:avLst>
          </a:prstGeom>
          <a:solidFill>
            <a:srgbClr val="0A5798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524750" y="1757079"/>
            <a:ext cx="3790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M5｜最终成果</a:t>
            </a: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7524750" y="2271429"/>
            <a:ext cx="379095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543800" y="2519079"/>
            <a:ext cx="37528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marL="342900" indent="-342900" algn="l">
              <a:buFont typeface="Arial" panose="020B0604020202090204" pitchFamily="34" charset="0"/>
              <a:buChar char="•"/>
              <a:defRPr sz="12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RQ1–RQ3 </a:t>
            </a:r>
            <a:r>
              <a:rPr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最终回答</a:t>
            </a:r>
            <a:endParaRPr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342900" indent="-342900" algn="l">
              <a:buFont typeface="Arial" panose="020B0604020202090204" pitchFamily="34" charset="0"/>
              <a:buChar char="•"/>
              <a:defRPr sz="12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代码、结果与复现说明</a:t>
            </a:r>
            <a:endParaRPr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342900" indent="-342900" algn="l">
              <a:buFont typeface="Arial" panose="020B0604020202090204" pitchFamily="34" charset="0"/>
              <a:buChar char="•"/>
              <a:defRPr sz="12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报告与答辩</a:t>
            </a: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PPT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085248-A1CF-4C6A-35AF-C339BEEDBF7A}"/>
              </a:ext>
            </a:extLst>
          </p:cNvPr>
          <p:cNvSpPr>
            <a:spLocks noGrp="1"/>
          </p:cNvSpPr>
          <p:nvPr/>
        </p:nvSpPr>
        <p:spPr>
          <a:xfrm>
            <a:off x="1257300" y="228651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900" b="1" dirty="0">
                <a:solidFill>
                  <a:srgbClr val="081D3A"/>
                </a:solidFill>
                <a:latin typeface="微软雅黑"/>
                <a:ea typeface="微软雅黑"/>
                <a:cs typeface="微软雅黑"/>
              </a:rPr>
              <a:t>汇报总结</a:t>
            </a:r>
            <a:endParaRPr sz="2900" b="1" dirty="0">
              <a:solidFill>
                <a:srgbClr val="081D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D6C5150C-CD04-3270-532C-8BE498E9ECF3}"/>
              </a:ext>
            </a:extLst>
          </p:cNvPr>
          <p:cNvSpPr/>
          <p:nvPr/>
        </p:nvSpPr>
        <p:spPr>
          <a:xfrm>
            <a:off x="557493" y="865200"/>
            <a:ext cx="10972800" cy="30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任意多边形 3">
            <a:extLst>
              <a:ext uri="{FF2B5EF4-FFF2-40B4-BE49-F238E27FC236}">
                <a16:creationId xmlns:a16="http://schemas.microsoft.com/office/drawing/2014/main" id="{C412498C-254B-2105-51BD-F81A823CCEA2}"/>
              </a:ext>
            </a:extLst>
          </p:cNvPr>
          <p:cNvSpPr/>
          <p:nvPr/>
        </p:nvSpPr>
        <p:spPr>
          <a:xfrm>
            <a:off x="571500" y="171501"/>
            <a:ext cx="571500" cy="571500"/>
          </a:xfrm>
          <a:custGeom>
            <a:avLst/>
            <a:gdLst>
              <a:gd name="connisteX0" fmla="*/ 133349 w 571500"/>
              <a:gd name="connsiteY0" fmla="*/ 0 h 571500"/>
              <a:gd name="connisteX1" fmla="*/ 571500 w 571500"/>
              <a:gd name="connsiteY1" fmla="*/ 0 h 571500"/>
              <a:gd name="connisteX2" fmla="*/ 444500 w 571500"/>
              <a:gd name="connsiteY2" fmla="*/ 571500 h 571500"/>
              <a:gd name="connisteX3" fmla="*/ 0 w 571500"/>
              <a:gd name="connsiteY3" fmla="*/ 571500 h 571500"/>
              <a:gd name="connisteX4" fmla="*/ 133349 w 571500"/>
              <a:gd name="connsiteY4" fmla="*/ 0 h 5715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571500" h="571500">
                <a:moveTo>
                  <a:pt x="133350" y="0"/>
                </a:moveTo>
                <a:lnTo>
                  <a:pt x="571500" y="0"/>
                </a:lnTo>
                <a:lnTo>
                  <a:pt x="444500" y="571500"/>
                </a:lnTo>
                <a:lnTo>
                  <a:pt x="0" y="571500"/>
                </a:lnTo>
                <a:lnTo>
                  <a:pt x="133350" y="0"/>
                </a:lnTo>
                <a:close/>
              </a:path>
            </a:pathLst>
          </a:custGeom>
          <a:solidFill>
            <a:srgbClr val="0A5798"/>
          </a:solidFill>
          <a:ln>
            <a:solidFill>
              <a:srgbClr val="3A8FD4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4" name="任意多边形 4">
            <a:extLst>
              <a:ext uri="{FF2B5EF4-FFF2-40B4-BE49-F238E27FC236}">
                <a16:creationId xmlns:a16="http://schemas.microsoft.com/office/drawing/2014/main" id="{14B95739-8CC1-B8E1-255F-0BE8DE5EC77C}"/>
              </a:ext>
            </a:extLst>
          </p:cNvPr>
          <p:cNvSpPr/>
          <p:nvPr/>
        </p:nvSpPr>
        <p:spPr>
          <a:xfrm>
            <a:off x="607060" y="206426"/>
            <a:ext cx="565150" cy="565150"/>
          </a:xfrm>
          <a:custGeom>
            <a:avLst/>
            <a:gdLst>
              <a:gd name="connisteX0" fmla="*/ 520699 w 565150"/>
              <a:gd name="connsiteY0" fmla="*/ 0 h 565150"/>
              <a:gd name="connisteX1" fmla="*/ 565150 w 565150"/>
              <a:gd name="connsiteY1" fmla="*/ 0 h 565150"/>
              <a:gd name="connisteX2" fmla="*/ 450850 w 565150"/>
              <a:gd name="connsiteY2" fmla="*/ 565150 h 565150"/>
              <a:gd name="connisteX3" fmla="*/ 0 w 565150"/>
              <a:gd name="connsiteY3" fmla="*/ 565150 h 565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65150" h="565150">
                <a:moveTo>
                  <a:pt x="520700" y="0"/>
                </a:moveTo>
                <a:lnTo>
                  <a:pt x="565150" y="0"/>
                </a:lnTo>
                <a:lnTo>
                  <a:pt x="450850" y="565150"/>
                </a:lnTo>
                <a:lnTo>
                  <a:pt x="0" y="565150"/>
                </a:lnTo>
              </a:path>
            </a:pathLst>
          </a:custGeom>
          <a:noFill/>
          <a:ln w="19050" cap="flat">
            <a:solidFill>
              <a:srgbClr val="00549A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">
            <a:extLst>
              <a:ext uri="{FF2B5EF4-FFF2-40B4-BE49-F238E27FC236}">
                <a16:creationId xmlns:a16="http://schemas.microsoft.com/office/drawing/2014/main" id="{48884AF9-4947-5A06-A552-265F5747EB7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57836" y="1458948"/>
            <a:ext cx="10572114" cy="1024128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980B9D35-4DF2-367F-65F0-9B12332558F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57836" y="1458948"/>
            <a:ext cx="85344" cy="1024128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53830" y="1551941"/>
            <a:ext cx="10114111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A5798"/>
                </a:solidFill>
                <a:latin typeface="微软雅黑" charset="0"/>
                <a:ea typeface="微软雅黑" charset="0"/>
                <a:cs typeface="微软雅黑" charset="0"/>
              </a:rPr>
              <a:t>解释 </a:t>
            </a:r>
            <a:r>
              <a:rPr lang="en-US" altLang="zh-CN" sz="2400" b="1" dirty="0">
                <a:solidFill>
                  <a:srgbClr val="0A5798"/>
                </a:solidFill>
                <a:latin typeface="微软雅黑" charset="0"/>
                <a:ea typeface="微软雅黑" charset="0"/>
                <a:cs typeface="微软雅黑" charset="0"/>
              </a:rPr>
              <a:t>ViT </a:t>
            </a:r>
            <a:r>
              <a:rPr lang="zh-CN" altLang="en-US" sz="2400" b="1" dirty="0">
                <a:solidFill>
                  <a:srgbClr val="0A5798"/>
                </a:solidFill>
                <a:latin typeface="微软雅黑" charset="0"/>
                <a:ea typeface="微软雅黑" charset="0"/>
                <a:cs typeface="微软雅黑" charset="0"/>
              </a:rPr>
              <a:t>时，是按照图像语义定义 </a:t>
            </a:r>
            <a:r>
              <a:rPr lang="en-US" altLang="zh-CN" sz="2400" b="1" dirty="0">
                <a:solidFill>
                  <a:srgbClr val="0A5798"/>
                </a:solidFill>
                <a:latin typeface="微软雅黑" charset="0"/>
                <a:ea typeface="微软雅黑" charset="0"/>
                <a:cs typeface="微软雅黑" charset="0"/>
              </a:rPr>
              <a:t>feature </a:t>
            </a:r>
            <a:r>
              <a:rPr lang="zh-CN" altLang="en-US" sz="2400" b="1" dirty="0">
                <a:solidFill>
                  <a:srgbClr val="0A5798"/>
                </a:solidFill>
                <a:latin typeface="微软雅黑" charset="0"/>
                <a:ea typeface="微软雅黑" charset="0"/>
                <a:cs typeface="微软雅黑" charset="0"/>
              </a:rPr>
              <a:t>更合理，还是按照模型自身的 </a:t>
            </a:r>
            <a:r>
              <a:rPr lang="en-US" altLang="zh-CN" sz="2400" b="1" dirty="0">
                <a:solidFill>
                  <a:srgbClr val="0A5798"/>
                </a:solidFill>
                <a:latin typeface="微软雅黑" charset="0"/>
                <a:ea typeface="微软雅黑" charset="0"/>
                <a:cs typeface="微软雅黑" charset="0"/>
              </a:rPr>
              <a:t>tokenization </a:t>
            </a:r>
            <a:r>
              <a:rPr lang="zh-CN" altLang="en-US" sz="2400" b="1" dirty="0">
                <a:solidFill>
                  <a:srgbClr val="0A5798"/>
                </a:solidFill>
                <a:latin typeface="微软雅黑" charset="0"/>
                <a:ea typeface="微软雅黑" charset="0"/>
                <a:cs typeface="微软雅黑" charset="0"/>
              </a:rPr>
              <a:t>定义 </a:t>
            </a:r>
            <a:r>
              <a:rPr lang="en-US" altLang="zh-CN" sz="2400" b="1" dirty="0">
                <a:solidFill>
                  <a:srgbClr val="0A5798"/>
                </a:solidFill>
                <a:latin typeface="微软雅黑" charset="0"/>
                <a:ea typeface="微软雅黑" charset="0"/>
                <a:cs typeface="微软雅黑" charset="0"/>
              </a:rPr>
              <a:t>feature </a:t>
            </a:r>
            <a:r>
              <a:rPr lang="zh-CN" altLang="en-US" sz="2400" b="1" dirty="0">
                <a:solidFill>
                  <a:srgbClr val="0A5798"/>
                </a:solidFill>
                <a:latin typeface="微软雅黑" charset="0"/>
                <a:ea typeface="微软雅黑" charset="0"/>
                <a:cs typeface="微软雅黑" charset="0"/>
              </a:rPr>
              <a:t>更合理？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09942" y="2936557"/>
            <a:ext cx="1057211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b="1" dirty="0">
                <a:solidFill>
                  <a:srgbClr val="002FA7"/>
                </a:solidFill>
                <a:latin typeface="微软雅黑" charset="0"/>
                <a:ea typeface="微软雅黑" charset="0"/>
                <a:cs typeface="微软雅黑" charset="0"/>
              </a:rPr>
              <a:t>当前所有方法很重要的一个设计是：把图像切成 </a:t>
            </a:r>
            <a:r>
              <a:rPr lang="en-US" altLang="zh-CN" sz="2600" b="1" dirty="0">
                <a:solidFill>
                  <a:srgbClr val="002FA7"/>
                </a:solidFill>
                <a:latin typeface="微软雅黑" charset="0"/>
                <a:ea typeface="微软雅黑" charset="0"/>
                <a:cs typeface="微软雅黑" charset="0"/>
              </a:rPr>
              <a:t>SLIC </a:t>
            </a:r>
            <a:r>
              <a:rPr lang="en-US" altLang="zh-CN" sz="2600" b="1" dirty="0" err="1">
                <a:solidFill>
                  <a:srgbClr val="002FA7"/>
                </a:solidFill>
                <a:latin typeface="微软雅黑" charset="0"/>
                <a:ea typeface="微软雅黑" charset="0"/>
                <a:cs typeface="微软雅黑" charset="0"/>
              </a:rPr>
              <a:t>superpixels</a:t>
            </a:r>
            <a:r>
              <a:rPr lang="en-US" altLang="zh-CN" sz="2600" b="1" dirty="0">
                <a:solidFill>
                  <a:srgbClr val="002FA7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E5FB71-D816-07F9-735E-F23BDAC98FAA}"/>
              </a:ext>
            </a:extLst>
          </p:cNvPr>
          <p:cNvSpPr>
            <a:spLocks noGrp="1"/>
          </p:cNvSpPr>
          <p:nvPr/>
        </p:nvSpPr>
        <p:spPr>
          <a:xfrm>
            <a:off x="1257300" y="228651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2900" b="1" dirty="0">
                <a:solidFill>
                  <a:srgbClr val="081D3A"/>
                </a:solidFill>
                <a:latin typeface="微软雅黑"/>
                <a:ea typeface="微软雅黑"/>
                <a:cs typeface="微软雅黑"/>
              </a:rPr>
              <a:t>ViT </a:t>
            </a:r>
            <a:r>
              <a:rPr lang="zh-CN" altLang="en-US" sz="2900" b="1" dirty="0">
                <a:solidFill>
                  <a:srgbClr val="081D3A"/>
                </a:solidFill>
                <a:latin typeface="微软雅黑"/>
                <a:ea typeface="微软雅黑"/>
                <a:cs typeface="微软雅黑"/>
              </a:rPr>
              <a:t>扩展实验</a:t>
            </a:r>
            <a:endParaRPr sz="2900" b="1" dirty="0">
              <a:solidFill>
                <a:srgbClr val="081D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E63E8D91-C779-CE20-B32E-A4A18D3F595F}"/>
              </a:ext>
            </a:extLst>
          </p:cNvPr>
          <p:cNvSpPr/>
          <p:nvPr/>
        </p:nvSpPr>
        <p:spPr>
          <a:xfrm>
            <a:off x="557493" y="865200"/>
            <a:ext cx="10972800" cy="30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任意多边形 3">
            <a:extLst>
              <a:ext uri="{FF2B5EF4-FFF2-40B4-BE49-F238E27FC236}">
                <a16:creationId xmlns:a16="http://schemas.microsoft.com/office/drawing/2014/main" id="{3F830B3A-714C-0776-0203-4873C1C6349A}"/>
              </a:ext>
            </a:extLst>
          </p:cNvPr>
          <p:cNvSpPr/>
          <p:nvPr/>
        </p:nvSpPr>
        <p:spPr>
          <a:xfrm>
            <a:off x="571500" y="171501"/>
            <a:ext cx="571500" cy="571500"/>
          </a:xfrm>
          <a:custGeom>
            <a:avLst/>
            <a:gdLst>
              <a:gd name="connisteX0" fmla="*/ 133349 w 571500"/>
              <a:gd name="connsiteY0" fmla="*/ 0 h 571500"/>
              <a:gd name="connisteX1" fmla="*/ 571500 w 571500"/>
              <a:gd name="connsiteY1" fmla="*/ 0 h 571500"/>
              <a:gd name="connisteX2" fmla="*/ 444500 w 571500"/>
              <a:gd name="connsiteY2" fmla="*/ 571500 h 571500"/>
              <a:gd name="connisteX3" fmla="*/ 0 w 571500"/>
              <a:gd name="connsiteY3" fmla="*/ 571500 h 571500"/>
              <a:gd name="connisteX4" fmla="*/ 133349 w 571500"/>
              <a:gd name="connsiteY4" fmla="*/ 0 h 5715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571500" h="571500">
                <a:moveTo>
                  <a:pt x="133350" y="0"/>
                </a:moveTo>
                <a:lnTo>
                  <a:pt x="571500" y="0"/>
                </a:lnTo>
                <a:lnTo>
                  <a:pt x="444500" y="571500"/>
                </a:lnTo>
                <a:lnTo>
                  <a:pt x="0" y="571500"/>
                </a:lnTo>
                <a:lnTo>
                  <a:pt x="133350" y="0"/>
                </a:lnTo>
                <a:close/>
              </a:path>
            </a:pathLst>
          </a:custGeom>
          <a:solidFill>
            <a:srgbClr val="0A5798"/>
          </a:solidFill>
          <a:ln>
            <a:solidFill>
              <a:srgbClr val="3A8FD4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任意多边形 4">
            <a:extLst>
              <a:ext uri="{FF2B5EF4-FFF2-40B4-BE49-F238E27FC236}">
                <a16:creationId xmlns:a16="http://schemas.microsoft.com/office/drawing/2014/main" id="{2C6C585C-6B02-B499-1AA2-4E672B91F3AE}"/>
              </a:ext>
            </a:extLst>
          </p:cNvPr>
          <p:cNvSpPr/>
          <p:nvPr/>
        </p:nvSpPr>
        <p:spPr>
          <a:xfrm>
            <a:off x="607060" y="206426"/>
            <a:ext cx="565150" cy="565150"/>
          </a:xfrm>
          <a:custGeom>
            <a:avLst/>
            <a:gdLst>
              <a:gd name="connisteX0" fmla="*/ 520699 w 565150"/>
              <a:gd name="connsiteY0" fmla="*/ 0 h 565150"/>
              <a:gd name="connisteX1" fmla="*/ 565150 w 565150"/>
              <a:gd name="connsiteY1" fmla="*/ 0 h 565150"/>
              <a:gd name="connisteX2" fmla="*/ 450850 w 565150"/>
              <a:gd name="connsiteY2" fmla="*/ 565150 h 565150"/>
              <a:gd name="connisteX3" fmla="*/ 0 w 565150"/>
              <a:gd name="connsiteY3" fmla="*/ 565150 h 565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65150" h="565150">
                <a:moveTo>
                  <a:pt x="520700" y="0"/>
                </a:moveTo>
                <a:lnTo>
                  <a:pt x="565150" y="0"/>
                </a:lnTo>
                <a:lnTo>
                  <a:pt x="450850" y="565150"/>
                </a:lnTo>
                <a:lnTo>
                  <a:pt x="0" y="565150"/>
                </a:lnTo>
              </a:path>
            </a:pathLst>
          </a:custGeom>
          <a:noFill/>
          <a:ln w="19050" cap="flat">
            <a:solidFill>
              <a:srgbClr val="00549A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7A2EA6F1-29DD-5455-D4EF-FE82D05D048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57836" y="3973883"/>
            <a:ext cx="10572114" cy="1762482"/>
          </a:xfrm>
          <a:prstGeom prst="rect">
            <a:avLst/>
          </a:prstGeom>
          <a:solidFill>
            <a:srgbClr val="FFFFFF">
              <a:alpha val="80000"/>
            </a:srgbClr>
          </a:solidFill>
          <a:ln w="8890">
            <a:solidFill>
              <a:srgbClr val="E2EA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7F7CEBC1-545B-788C-E1D1-82E1E613BA7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57835" y="3973883"/>
            <a:ext cx="85345" cy="1762482"/>
          </a:xfrm>
          <a:prstGeom prst="rect">
            <a:avLst/>
          </a:prstGeom>
          <a:solidFill>
            <a:srgbClr val="0A5798"/>
          </a:solidFill>
          <a:ln w="12700">
            <a:solidFill>
              <a:srgbClr val="0A57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F68F9F5-6131-39A1-41A1-1CEDCA5796BA}"/>
              </a:ext>
            </a:extLst>
          </p:cNvPr>
          <p:cNvSpPr txBox="1"/>
          <p:nvPr/>
        </p:nvSpPr>
        <p:spPr>
          <a:xfrm>
            <a:off x="1053829" y="4208793"/>
            <a:ext cx="10114111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1" dirty="0">
                <a:solidFill>
                  <a:srgbClr val="0A5798"/>
                </a:solidFill>
                <a:latin typeface="微软雅黑" charset="0"/>
                <a:ea typeface="微软雅黑" charset="0"/>
                <a:cs typeface="微软雅黑" charset="0"/>
              </a:rPr>
              <a:t>但对于 </a:t>
            </a:r>
            <a:r>
              <a:rPr lang="en-US" altLang="zh-CN" sz="2600" b="1" dirty="0">
                <a:solidFill>
                  <a:srgbClr val="0A5798"/>
                </a:solidFill>
                <a:latin typeface="微软雅黑" charset="0"/>
                <a:ea typeface="微软雅黑" charset="0"/>
                <a:cs typeface="微软雅黑" charset="0"/>
              </a:rPr>
              <a:t>ViT：</a:t>
            </a:r>
          </a:p>
          <a:p>
            <a:r>
              <a:rPr lang="zh-CN" altLang="en-US" sz="2600" b="1" dirty="0">
                <a:solidFill>
                  <a:srgbClr val="0A5798"/>
                </a:solidFill>
                <a:latin typeface="微软雅黑" charset="0"/>
                <a:ea typeface="微软雅黑" charset="0"/>
                <a:cs typeface="微软雅黑" charset="0"/>
              </a:rPr>
              <a:t>它自己已经把图片划分成 16×16 </a:t>
            </a:r>
            <a:r>
              <a:rPr lang="en-US" altLang="zh-CN" sz="2600" b="1" dirty="0">
                <a:solidFill>
                  <a:srgbClr val="0A5798"/>
                </a:solidFill>
                <a:latin typeface="微软雅黑" charset="0"/>
                <a:ea typeface="微软雅黑" charset="0"/>
                <a:cs typeface="微软雅黑" charset="0"/>
              </a:rPr>
              <a:t>patch。</a:t>
            </a:r>
          </a:p>
          <a:p>
            <a:r>
              <a:rPr lang="en-US" altLang="zh-CN" sz="2600" b="1" dirty="0">
                <a:solidFill>
                  <a:srgbClr val="0A5798"/>
                </a:solidFill>
                <a:latin typeface="微软雅黑" charset="0"/>
                <a:ea typeface="微软雅黑" charset="0"/>
                <a:cs typeface="微软雅黑" charset="0"/>
              </a:rPr>
              <a:t>ViT-B/16 </a:t>
            </a:r>
            <a:r>
              <a:rPr lang="zh-CN" altLang="en-US" sz="2600" b="1" dirty="0">
                <a:solidFill>
                  <a:srgbClr val="0A5798"/>
                </a:solidFill>
                <a:latin typeface="微软雅黑" charset="0"/>
                <a:ea typeface="微软雅黑" charset="0"/>
                <a:cs typeface="微软雅黑" charset="0"/>
              </a:rPr>
              <a:t>在 224×224 输入下天然就是：</a:t>
            </a:r>
            <a:r>
              <a:rPr lang="en-US" altLang="zh-CN" sz="2600" b="1" dirty="0">
                <a:solidFill>
                  <a:srgbClr val="0A5798"/>
                </a:solidFill>
                <a:latin typeface="微软雅黑" charset="0"/>
                <a:ea typeface="微软雅黑" charset="0"/>
                <a:cs typeface="微软雅黑" charset="0"/>
              </a:rPr>
              <a:t>14×14=196 </a:t>
            </a:r>
            <a:r>
              <a:rPr lang="zh-CN" altLang="en-US" sz="2600" b="1" dirty="0">
                <a:solidFill>
                  <a:srgbClr val="0A5798"/>
                </a:solidFill>
                <a:latin typeface="微软雅黑" charset="0"/>
                <a:ea typeface="微软雅黑" charset="0"/>
                <a:cs typeface="微软雅黑" charset="0"/>
              </a:rPr>
              <a:t>个 </a:t>
            </a:r>
            <a:r>
              <a:rPr lang="en-US" altLang="zh-CN" sz="2600" b="1" dirty="0">
                <a:solidFill>
                  <a:srgbClr val="0A5798"/>
                </a:solidFill>
                <a:latin typeface="微软雅黑" charset="0"/>
                <a:ea typeface="微软雅黑" charset="0"/>
                <a:cs typeface="微软雅黑" charset="0"/>
              </a:rPr>
              <a:t>patch。</a:t>
            </a:r>
            <a:endParaRPr lang="zh-CN" altLang="en-US" b="1" dirty="0">
              <a:solidFill>
                <a:srgbClr val="0A5798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任意多边形 9">
            <a:extLst>
              <a:ext uri="{FF2B5EF4-FFF2-40B4-BE49-F238E27FC236}">
                <a16:creationId xmlns:a16="http://schemas.microsoft.com/office/drawing/2014/main" id="{261F2A4D-929F-8B4C-D679-3F73732F95F4}"/>
              </a:ext>
            </a:extLst>
          </p:cNvPr>
          <p:cNvSpPr/>
          <p:nvPr/>
        </p:nvSpPr>
        <p:spPr>
          <a:xfrm>
            <a:off x="6289003" y="1074025"/>
            <a:ext cx="5445760" cy="482600"/>
          </a:xfrm>
          <a:custGeom>
            <a:avLst/>
            <a:gdLst>
              <a:gd name="connisteX0" fmla="*/ 0 w 11658600"/>
              <a:gd name="connsiteY0" fmla="*/ 101346 h 482600"/>
              <a:gd name="connisteX1" fmla="*/ 58292 w 11658600"/>
              <a:gd name="connsiteY1" fmla="*/ 0 h 482600"/>
              <a:gd name="connisteX2" fmla="*/ 11600307 w 11658600"/>
              <a:gd name="connsiteY2" fmla="*/ 0 h 482600"/>
              <a:gd name="connisteX3" fmla="*/ 11658600 w 11658600"/>
              <a:gd name="connsiteY3" fmla="*/ 101346 h 482600"/>
              <a:gd name="connisteX4" fmla="*/ 11658600 w 11658600"/>
              <a:gd name="connsiteY4" fmla="*/ 381253 h 482600"/>
              <a:gd name="connisteX5" fmla="*/ 11600307 w 11658600"/>
              <a:gd name="connsiteY5" fmla="*/ 482600 h 482600"/>
              <a:gd name="connisteX6" fmla="*/ 58292 w 11658600"/>
              <a:gd name="connsiteY6" fmla="*/ 482600 h 482600"/>
              <a:gd name="connisteX7" fmla="*/ 0 w 11658600"/>
              <a:gd name="connsiteY7" fmla="*/ 381253 h 482600"/>
              <a:gd name="connisteX8" fmla="*/ 0 w 11658600"/>
              <a:gd name="connsiteY8" fmla="*/ 101346 h 48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658600" h="482600">
                <a:moveTo>
                  <a:pt x="0" y="101346"/>
                </a:moveTo>
                <a:cubicBezTo>
                  <a:pt x="0" y="45374"/>
                  <a:pt x="26099" y="0"/>
                  <a:pt x="58293" y="0"/>
                </a:cubicBezTo>
                <a:lnTo>
                  <a:pt x="11600307" y="0"/>
                </a:lnTo>
                <a:cubicBezTo>
                  <a:pt x="11632501" y="0"/>
                  <a:pt x="11658600" y="45374"/>
                  <a:pt x="11658600" y="101346"/>
                </a:cubicBezTo>
                <a:lnTo>
                  <a:pt x="11658600" y="381254"/>
                </a:lnTo>
                <a:cubicBezTo>
                  <a:pt x="11658600" y="437226"/>
                  <a:pt x="11632501" y="482600"/>
                  <a:pt x="11600307" y="482600"/>
                </a:cubicBezTo>
                <a:lnTo>
                  <a:pt x="58293" y="482600"/>
                </a:lnTo>
                <a:cubicBezTo>
                  <a:pt x="26099" y="482600"/>
                  <a:pt x="0" y="437226"/>
                  <a:pt x="0" y="381254"/>
                </a:cubicBezTo>
                <a:lnTo>
                  <a:pt x="0" y="101346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64" name="任意多边形 10">
            <a:extLst>
              <a:ext uri="{FF2B5EF4-FFF2-40B4-BE49-F238E27FC236}">
                <a16:creationId xmlns:a16="http://schemas.microsoft.com/office/drawing/2014/main" id="{2F3B57DA-D71B-BC54-F167-BB0EA8921039}"/>
              </a:ext>
            </a:extLst>
          </p:cNvPr>
          <p:cNvSpPr/>
          <p:nvPr/>
        </p:nvSpPr>
        <p:spPr>
          <a:xfrm>
            <a:off x="6308614" y="1056724"/>
            <a:ext cx="229012" cy="481965"/>
          </a:xfrm>
          <a:custGeom>
            <a:avLst/>
            <a:gdLst>
              <a:gd name="connisteX0" fmla="*/ 0 w 101599"/>
              <a:gd name="connsiteY0" fmla="*/ 50672 h 482599"/>
              <a:gd name="connisteX1" fmla="*/ 50799 w 101599"/>
              <a:gd name="connsiteY1" fmla="*/ 0 h 482599"/>
              <a:gd name="connisteX2" fmla="*/ 101599 w 101599"/>
              <a:gd name="connsiteY2" fmla="*/ 50672 h 482599"/>
              <a:gd name="connisteX3" fmla="*/ 101599 w 101599"/>
              <a:gd name="connsiteY3" fmla="*/ 431926 h 482599"/>
              <a:gd name="connisteX4" fmla="*/ 50799 w 101599"/>
              <a:gd name="connsiteY4" fmla="*/ 482599 h 482599"/>
              <a:gd name="connisteX5" fmla="*/ 0 w 101599"/>
              <a:gd name="connsiteY5" fmla="*/ 431926 h 482599"/>
              <a:gd name="connisteX6" fmla="*/ 0 w 101599"/>
              <a:gd name="connsiteY6" fmla="*/ 50672 h 4825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482600">
                <a:moveTo>
                  <a:pt x="0" y="50673"/>
                </a:moveTo>
                <a:cubicBezTo>
                  <a:pt x="0" y="22687"/>
                  <a:pt x="22744" y="0"/>
                  <a:pt x="50800" y="0"/>
                </a:cubicBezTo>
                <a:cubicBezTo>
                  <a:pt x="78856" y="0"/>
                  <a:pt x="101600" y="22687"/>
                  <a:pt x="101600" y="50673"/>
                </a:cubicBezTo>
                <a:lnTo>
                  <a:pt x="101600" y="431927"/>
                </a:lnTo>
                <a:cubicBezTo>
                  <a:pt x="101600" y="459913"/>
                  <a:pt x="78856" y="482600"/>
                  <a:pt x="50800" y="482600"/>
                </a:cubicBezTo>
                <a:cubicBezTo>
                  <a:pt x="22744" y="482600"/>
                  <a:pt x="0" y="459913"/>
                  <a:pt x="0" y="431927"/>
                </a:cubicBezTo>
                <a:lnTo>
                  <a:pt x="0" y="50673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4" name="任意多边形 9">
            <a:extLst>
              <a:ext uri="{FF2B5EF4-FFF2-40B4-BE49-F238E27FC236}">
                <a16:creationId xmlns:a16="http://schemas.microsoft.com/office/drawing/2014/main" id="{7D241623-04BF-E988-1765-E2606BBFA385}"/>
              </a:ext>
            </a:extLst>
          </p:cNvPr>
          <p:cNvSpPr/>
          <p:nvPr/>
        </p:nvSpPr>
        <p:spPr>
          <a:xfrm>
            <a:off x="528924" y="1077200"/>
            <a:ext cx="5445760" cy="482600"/>
          </a:xfrm>
          <a:custGeom>
            <a:avLst/>
            <a:gdLst>
              <a:gd name="connisteX0" fmla="*/ 0 w 11658600"/>
              <a:gd name="connsiteY0" fmla="*/ 101346 h 482600"/>
              <a:gd name="connisteX1" fmla="*/ 58292 w 11658600"/>
              <a:gd name="connsiteY1" fmla="*/ 0 h 482600"/>
              <a:gd name="connisteX2" fmla="*/ 11600307 w 11658600"/>
              <a:gd name="connsiteY2" fmla="*/ 0 h 482600"/>
              <a:gd name="connisteX3" fmla="*/ 11658600 w 11658600"/>
              <a:gd name="connsiteY3" fmla="*/ 101346 h 482600"/>
              <a:gd name="connisteX4" fmla="*/ 11658600 w 11658600"/>
              <a:gd name="connsiteY4" fmla="*/ 381253 h 482600"/>
              <a:gd name="connisteX5" fmla="*/ 11600307 w 11658600"/>
              <a:gd name="connsiteY5" fmla="*/ 482600 h 482600"/>
              <a:gd name="connisteX6" fmla="*/ 58292 w 11658600"/>
              <a:gd name="connsiteY6" fmla="*/ 482600 h 482600"/>
              <a:gd name="connisteX7" fmla="*/ 0 w 11658600"/>
              <a:gd name="connsiteY7" fmla="*/ 381253 h 482600"/>
              <a:gd name="connisteX8" fmla="*/ 0 w 11658600"/>
              <a:gd name="connsiteY8" fmla="*/ 101346 h 48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658600" h="482600">
                <a:moveTo>
                  <a:pt x="0" y="101346"/>
                </a:moveTo>
                <a:cubicBezTo>
                  <a:pt x="0" y="45374"/>
                  <a:pt x="26099" y="0"/>
                  <a:pt x="58293" y="0"/>
                </a:cubicBezTo>
                <a:lnTo>
                  <a:pt x="11600307" y="0"/>
                </a:lnTo>
                <a:cubicBezTo>
                  <a:pt x="11632501" y="0"/>
                  <a:pt x="11658600" y="45374"/>
                  <a:pt x="11658600" y="101346"/>
                </a:cubicBezTo>
                <a:lnTo>
                  <a:pt x="11658600" y="381254"/>
                </a:lnTo>
                <a:cubicBezTo>
                  <a:pt x="11658600" y="437226"/>
                  <a:pt x="11632501" y="482600"/>
                  <a:pt x="11600307" y="482600"/>
                </a:cubicBezTo>
                <a:lnTo>
                  <a:pt x="58293" y="482600"/>
                </a:lnTo>
                <a:cubicBezTo>
                  <a:pt x="26099" y="482600"/>
                  <a:pt x="0" y="437226"/>
                  <a:pt x="0" y="381254"/>
                </a:cubicBezTo>
                <a:lnTo>
                  <a:pt x="0" y="101346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6" name="任意多边形 10">
            <a:extLst>
              <a:ext uri="{FF2B5EF4-FFF2-40B4-BE49-F238E27FC236}">
                <a16:creationId xmlns:a16="http://schemas.microsoft.com/office/drawing/2014/main" id="{2D2F18D0-1D9F-62BF-C8A4-DC6D38CE8281}"/>
              </a:ext>
            </a:extLst>
          </p:cNvPr>
          <p:cNvSpPr/>
          <p:nvPr/>
        </p:nvSpPr>
        <p:spPr>
          <a:xfrm>
            <a:off x="548535" y="1059899"/>
            <a:ext cx="229012" cy="481965"/>
          </a:xfrm>
          <a:custGeom>
            <a:avLst/>
            <a:gdLst>
              <a:gd name="connisteX0" fmla="*/ 0 w 101599"/>
              <a:gd name="connsiteY0" fmla="*/ 50672 h 482599"/>
              <a:gd name="connisteX1" fmla="*/ 50799 w 101599"/>
              <a:gd name="connsiteY1" fmla="*/ 0 h 482599"/>
              <a:gd name="connisteX2" fmla="*/ 101599 w 101599"/>
              <a:gd name="connsiteY2" fmla="*/ 50672 h 482599"/>
              <a:gd name="connisteX3" fmla="*/ 101599 w 101599"/>
              <a:gd name="connsiteY3" fmla="*/ 431926 h 482599"/>
              <a:gd name="connisteX4" fmla="*/ 50799 w 101599"/>
              <a:gd name="connsiteY4" fmla="*/ 482599 h 482599"/>
              <a:gd name="connisteX5" fmla="*/ 0 w 101599"/>
              <a:gd name="connsiteY5" fmla="*/ 431926 h 482599"/>
              <a:gd name="connisteX6" fmla="*/ 0 w 101599"/>
              <a:gd name="connsiteY6" fmla="*/ 50672 h 4825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482600">
                <a:moveTo>
                  <a:pt x="0" y="50673"/>
                </a:moveTo>
                <a:cubicBezTo>
                  <a:pt x="0" y="22687"/>
                  <a:pt x="22744" y="0"/>
                  <a:pt x="50800" y="0"/>
                </a:cubicBezTo>
                <a:cubicBezTo>
                  <a:pt x="78856" y="0"/>
                  <a:pt x="101600" y="22687"/>
                  <a:pt x="101600" y="50673"/>
                </a:cubicBezTo>
                <a:lnTo>
                  <a:pt x="101600" y="431927"/>
                </a:lnTo>
                <a:cubicBezTo>
                  <a:pt x="101600" y="459913"/>
                  <a:pt x="78856" y="482600"/>
                  <a:pt x="50800" y="482600"/>
                </a:cubicBezTo>
                <a:cubicBezTo>
                  <a:pt x="22744" y="482600"/>
                  <a:pt x="0" y="459913"/>
                  <a:pt x="0" y="431927"/>
                </a:cubicBezTo>
                <a:lnTo>
                  <a:pt x="0" y="50673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小组分工 heading"/>
          <p:cNvSpPr>
            <a:spLocks noGrp="1"/>
          </p:cNvSpPr>
          <p:nvPr/>
        </p:nvSpPr>
        <p:spPr>
          <a:xfrm>
            <a:off x="878809" y="1139019"/>
            <a:ext cx="52768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l">
              <a:defRPr sz="195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950" b="1" dirty="0" err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小组分工</a:t>
            </a:r>
            <a:endParaRPr sz="1950" b="1" dirty="0">
              <a:solidFill>
                <a:srgbClr val="00549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协作记录 heading"/>
          <p:cNvSpPr>
            <a:spLocks noGrp="1"/>
          </p:cNvSpPr>
          <p:nvPr/>
        </p:nvSpPr>
        <p:spPr>
          <a:xfrm>
            <a:off x="6687671" y="1157452"/>
            <a:ext cx="53530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l">
              <a:defRPr sz="195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950" b="1" dirty="0" err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协作记录</a:t>
            </a:r>
            <a:endParaRPr sz="1950" b="1" dirty="0">
              <a:solidFill>
                <a:srgbClr val="00549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row background 0"/>
          <p:cNvSpPr>
            <a:spLocks noGrp="1"/>
          </p:cNvSpPr>
          <p:nvPr/>
        </p:nvSpPr>
        <p:spPr>
          <a:xfrm>
            <a:off x="528924" y="1752600"/>
            <a:ext cx="5657850" cy="838200"/>
          </a:xfrm>
          <a:prstGeom prst="rect">
            <a:avLst/>
          </a:prstGeom>
          <a:solidFill>
            <a:srgbClr val="F5FAFE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member 0"/>
          <p:cNvSpPr>
            <a:spLocks noGrp="1"/>
          </p:cNvSpPr>
          <p:nvPr/>
        </p:nvSpPr>
        <p:spPr>
          <a:xfrm>
            <a:off x="728949" y="1981200"/>
            <a:ext cx="10096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>
              <a:defRPr sz="195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200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杜孟泽</a:t>
            </a:r>
            <a:endParaRPr sz="1950" b="1" dirty="0">
              <a:solidFill>
                <a:srgbClr val="00549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responsibility 0"/>
          <p:cNvSpPr>
            <a:spLocks noGrp="1"/>
          </p:cNvSpPr>
          <p:nvPr/>
        </p:nvSpPr>
        <p:spPr>
          <a:xfrm>
            <a:off x="1910049" y="1847850"/>
            <a:ext cx="41338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l">
              <a:defRPr sz="180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180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数据模块 </a:t>
            </a:r>
            <a:r>
              <a:rPr lang="en-US" sz="180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R1</a:t>
            </a:r>
          </a:p>
        </p:txBody>
      </p:sp>
      <p:sp>
        <p:nvSpPr>
          <p:cNvPr id="10" name="detail 0"/>
          <p:cNvSpPr>
            <a:spLocks noGrp="1"/>
          </p:cNvSpPr>
          <p:nvPr/>
        </p:nvSpPr>
        <p:spPr>
          <a:xfrm>
            <a:off x="1910049" y="2181225"/>
            <a:ext cx="4133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l">
              <a:defRPr sz="1575" b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1575" dirty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数据获取、数据划分、</a:t>
            </a:r>
            <a:r>
              <a:rPr lang="en-US" altLang="zh-CN" sz="1575" dirty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PPT</a:t>
            </a:r>
            <a:r>
              <a:rPr lang="zh-CN" altLang="en-US" sz="1575" dirty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制作</a:t>
            </a:r>
            <a:endParaRPr sz="1575" b="0" dirty="0">
              <a:solidFill>
                <a:srgbClr val="35516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member 1"/>
          <p:cNvSpPr>
            <a:spLocks noGrp="1"/>
          </p:cNvSpPr>
          <p:nvPr/>
        </p:nvSpPr>
        <p:spPr>
          <a:xfrm>
            <a:off x="728949" y="2895600"/>
            <a:ext cx="10096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l">
              <a:defRPr sz="195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195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张泰瑜</a:t>
            </a:r>
            <a:endParaRPr sz="1950" b="1" dirty="0">
              <a:solidFill>
                <a:srgbClr val="00549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responsibility 1"/>
          <p:cNvSpPr>
            <a:spLocks noGrp="1"/>
          </p:cNvSpPr>
          <p:nvPr/>
        </p:nvSpPr>
        <p:spPr>
          <a:xfrm>
            <a:off x="1910049" y="2762250"/>
            <a:ext cx="41338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l">
              <a:defRPr sz="180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180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模型模块 </a:t>
            </a:r>
            <a:r>
              <a:rPr lang="en-US" altLang="zh-CN" sz="180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R2</a:t>
            </a:r>
            <a:endParaRPr sz="1800" b="1" dirty="0">
              <a:solidFill>
                <a:srgbClr val="00549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detail 1"/>
          <p:cNvSpPr>
            <a:spLocks noGrp="1"/>
          </p:cNvSpPr>
          <p:nvPr/>
        </p:nvSpPr>
        <p:spPr>
          <a:xfrm>
            <a:off x="1910049" y="3095625"/>
            <a:ext cx="4133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l">
              <a:defRPr sz="1575" b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1575" b="0" dirty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模型加载与实验 </a:t>
            </a:r>
            <a:r>
              <a:rPr lang="en-US" altLang="zh-CN" sz="1575" b="0" dirty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Pipeline</a:t>
            </a:r>
            <a:endParaRPr sz="1575" b="0" dirty="0">
              <a:solidFill>
                <a:srgbClr val="35516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row background 2"/>
          <p:cNvSpPr>
            <a:spLocks noGrp="1"/>
          </p:cNvSpPr>
          <p:nvPr/>
        </p:nvSpPr>
        <p:spPr>
          <a:xfrm>
            <a:off x="528924" y="3581400"/>
            <a:ext cx="5657850" cy="838200"/>
          </a:xfrm>
          <a:prstGeom prst="rect">
            <a:avLst/>
          </a:prstGeom>
          <a:solidFill>
            <a:srgbClr val="F5FAFE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member 2"/>
          <p:cNvSpPr>
            <a:spLocks noGrp="1"/>
          </p:cNvSpPr>
          <p:nvPr/>
        </p:nvSpPr>
        <p:spPr>
          <a:xfrm>
            <a:off x="728949" y="3810000"/>
            <a:ext cx="10096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l">
              <a:defRPr sz="195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195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邹研泽</a:t>
            </a:r>
            <a:endParaRPr sz="1950" b="1" dirty="0">
              <a:solidFill>
                <a:srgbClr val="00549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responsibility 2"/>
          <p:cNvSpPr>
            <a:spLocks noGrp="1"/>
          </p:cNvSpPr>
          <p:nvPr/>
        </p:nvSpPr>
        <p:spPr>
          <a:xfrm>
            <a:off x="1910049" y="3676650"/>
            <a:ext cx="41338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l">
              <a:defRPr sz="180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180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方法模块 </a:t>
            </a:r>
            <a:r>
              <a:rPr lang="en-US" altLang="zh-CN" sz="180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R3</a:t>
            </a:r>
            <a:endParaRPr sz="1800" b="1" dirty="0">
              <a:solidFill>
                <a:srgbClr val="00549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detail 2"/>
          <p:cNvSpPr>
            <a:spLocks noGrp="1"/>
          </p:cNvSpPr>
          <p:nvPr/>
        </p:nvSpPr>
        <p:spPr>
          <a:xfrm>
            <a:off x="1910049" y="4010025"/>
            <a:ext cx="4133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l">
              <a:defRPr sz="1575" b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en-US" sz="1575" dirty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RISE </a:t>
            </a:r>
            <a:r>
              <a:rPr lang="zh-CN" altLang="en-US" sz="1575" dirty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等方法的代码实现</a:t>
            </a:r>
            <a:endParaRPr sz="1575" b="0" dirty="0">
              <a:solidFill>
                <a:srgbClr val="35516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member 3"/>
          <p:cNvSpPr>
            <a:spLocks noGrp="1"/>
          </p:cNvSpPr>
          <p:nvPr/>
        </p:nvSpPr>
        <p:spPr>
          <a:xfrm>
            <a:off x="728949" y="4724400"/>
            <a:ext cx="10096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l">
              <a:defRPr sz="195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195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陈纪仰</a:t>
            </a:r>
            <a:endParaRPr sz="1950" b="1" dirty="0">
              <a:solidFill>
                <a:srgbClr val="00549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responsibility 3"/>
          <p:cNvSpPr>
            <a:spLocks noGrp="1"/>
          </p:cNvSpPr>
          <p:nvPr/>
        </p:nvSpPr>
        <p:spPr>
          <a:xfrm>
            <a:off x="1910049" y="4591050"/>
            <a:ext cx="41338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l">
              <a:defRPr sz="180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180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实验模块 </a:t>
            </a:r>
            <a:r>
              <a:rPr lang="en-US" altLang="zh-CN" sz="180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R4</a:t>
            </a:r>
            <a:endParaRPr sz="1800" b="1" dirty="0">
              <a:solidFill>
                <a:srgbClr val="00549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detail 3"/>
          <p:cNvSpPr>
            <a:spLocks noGrp="1"/>
          </p:cNvSpPr>
          <p:nvPr/>
        </p:nvSpPr>
        <p:spPr>
          <a:xfrm>
            <a:off x="1910049" y="4924425"/>
            <a:ext cx="4133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l">
              <a:defRPr sz="1575" b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1575" b="0" dirty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在集群上完成 </a:t>
            </a:r>
            <a:r>
              <a:rPr lang="en-US" altLang="zh-CN" sz="1575" b="0" dirty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M1-M3 </a:t>
            </a:r>
            <a:r>
              <a:rPr lang="zh-CN" altLang="en-US" sz="1575" b="0" dirty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所有实验</a:t>
            </a:r>
            <a:endParaRPr sz="1575" b="0" dirty="0">
              <a:solidFill>
                <a:srgbClr val="35516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row background 4"/>
          <p:cNvSpPr>
            <a:spLocks noGrp="1"/>
          </p:cNvSpPr>
          <p:nvPr/>
        </p:nvSpPr>
        <p:spPr>
          <a:xfrm>
            <a:off x="528924" y="5410200"/>
            <a:ext cx="5657850" cy="838200"/>
          </a:xfrm>
          <a:prstGeom prst="rect">
            <a:avLst/>
          </a:prstGeom>
          <a:solidFill>
            <a:srgbClr val="F5FAFE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member 4"/>
          <p:cNvSpPr>
            <a:spLocks noGrp="1"/>
          </p:cNvSpPr>
          <p:nvPr/>
        </p:nvSpPr>
        <p:spPr>
          <a:xfrm>
            <a:off x="728949" y="5638800"/>
            <a:ext cx="10096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l">
              <a:defRPr sz="195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195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朱炳政</a:t>
            </a:r>
            <a:endParaRPr sz="1950" b="1" dirty="0">
              <a:solidFill>
                <a:srgbClr val="00549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responsibility 4"/>
          <p:cNvSpPr>
            <a:spLocks noGrp="1"/>
          </p:cNvSpPr>
          <p:nvPr/>
        </p:nvSpPr>
        <p:spPr>
          <a:xfrm>
            <a:off x="1910049" y="5505450"/>
            <a:ext cx="41338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l">
              <a:defRPr sz="180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180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分析与文档 </a:t>
            </a:r>
            <a:r>
              <a:rPr lang="en-US" altLang="zh-CN" sz="180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R5</a:t>
            </a:r>
            <a:endParaRPr sz="1800" b="1" dirty="0">
              <a:solidFill>
                <a:srgbClr val="00549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detail 4"/>
          <p:cNvSpPr>
            <a:spLocks noGrp="1"/>
          </p:cNvSpPr>
          <p:nvPr/>
        </p:nvSpPr>
        <p:spPr>
          <a:xfrm>
            <a:off x="1910049" y="5838825"/>
            <a:ext cx="4133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l">
              <a:defRPr sz="1575" b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1575" b="0" dirty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完成 </a:t>
            </a:r>
            <a:r>
              <a:rPr lang="en-US" altLang="zh-CN" sz="1575" b="0" dirty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</a:t>
            </a:r>
            <a:r>
              <a:rPr lang="en-US" altLang="zh-CN" sz="1575" dirty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 </a:t>
            </a:r>
            <a:r>
              <a:rPr lang="zh-CN" altLang="en-US" sz="1575" dirty="0">
                <a:solidFill>
                  <a:srgbClr val="35516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实验文档与实验结果分析</a:t>
            </a:r>
            <a:endParaRPr lang="en-US" altLang="zh-CN" sz="1575" b="0" dirty="0">
              <a:solidFill>
                <a:srgbClr val="35516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meeting count"/>
          <p:cNvSpPr>
            <a:spLocks noGrp="1"/>
          </p:cNvSpPr>
          <p:nvPr/>
        </p:nvSpPr>
        <p:spPr>
          <a:xfrm>
            <a:off x="6920925" y="1597399"/>
            <a:ext cx="3921639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l">
              <a:defRPr sz="195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en-US" sz="195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93</a:t>
            </a:r>
            <a:r>
              <a:rPr lang="zh-CN" altLang="en-US" sz="195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次</a:t>
            </a:r>
            <a:r>
              <a:rPr lang="en-US" altLang="zh-CN" sz="1950" b="1" dirty="0" err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Github</a:t>
            </a:r>
            <a:r>
              <a:rPr lang="zh-CN" altLang="en-US" sz="195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提交，</a:t>
            </a:r>
            <a:r>
              <a:rPr lang="en-US" altLang="zh-CN" sz="195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20</a:t>
            </a:r>
            <a:r>
              <a:rPr lang="zh-CN" altLang="en-US" sz="1950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次小组交流</a:t>
            </a:r>
          </a:p>
        </p:txBody>
      </p:sp>
      <p:sp>
        <p:nvSpPr>
          <p:cNvPr id="27" name="github title"/>
          <p:cNvSpPr>
            <a:spLocks noGrp="1"/>
          </p:cNvSpPr>
          <p:nvPr/>
        </p:nvSpPr>
        <p:spPr>
          <a:xfrm>
            <a:off x="7693539" y="3750328"/>
            <a:ext cx="2628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ctr">
              <a:buClrTx/>
              <a:buSzTx/>
              <a:buFontTx/>
              <a:defRPr sz="1575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1" dirty="0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GitHub </a:t>
            </a:r>
            <a:r>
              <a:rPr sz="1575" b="1" dirty="0" err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提交记录</a:t>
            </a:r>
            <a:endParaRPr sz="1575" b="1" dirty="0">
              <a:solidFill>
                <a:srgbClr val="00549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github title"/>
          <p:cNvSpPr>
            <a:spLocks noGrp="1"/>
          </p:cNvSpPr>
          <p:nvPr/>
        </p:nvSpPr>
        <p:spPr>
          <a:xfrm>
            <a:off x="7783437" y="6039603"/>
            <a:ext cx="2628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defPPr>
          </a:lstStyle>
          <a:p>
            <a:pPr algn="ctr">
              <a:buClrTx/>
              <a:buSzTx/>
              <a:buFontTx/>
              <a:defRPr sz="1575" b="1">
                <a:solidFill>
                  <a:srgbClr val="00549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dirty="0" err="1">
                <a:sym typeface="+mn-ea"/>
              </a:rPr>
              <a:t>小组会议纪要</a:t>
            </a:r>
            <a:endParaRPr sz="1575" b="1" dirty="0">
              <a:solidFill>
                <a:srgbClr val="00549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C007BB7-D1C1-B9C3-C76F-22FCE447625A}"/>
              </a:ext>
            </a:extLst>
          </p:cNvPr>
          <p:cNvSpPr>
            <a:spLocks noGrp="1"/>
          </p:cNvSpPr>
          <p:nvPr/>
        </p:nvSpPr>
        <p:spPr>
          <a:xfrm>
            <a:off x="1257300" y="228651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900" b="1" dirty="0">
                <a:solidFill>
                  <a:srgbClr val="081D3A"/>
                </a:solidFill>
                <a:latin typeface="微软雅黑"/>
                <a:ea typeface="微软雅黑"/>
                <a:cs typeface="微软雅黑"/>
              </a:rPr>
              <a:t>小组分工</a:t>
            </a:r>
            <a:endParaRPr sz="2900" b="1" dirty="0">
              <a:solidFill>
                <a:srgbClr val="081D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17212ADB-FEA5-3C72-8F3E-4C39C1BA536F}"/>
              </a:ext>
            </a:extLst>
          </p:cNvPr>
          <p:cNvSpPr/>
          <p:nvPr/>
        </p:nvSpPr>
        <p:spPr>
          <a:xfrm>
            <a:off x="557493" y="865200"/>
            <a:ext cx="10972800" cy="30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任意多边形 3">
            <a:extLst>
              <a:ext uri="{FF2B5EF4-FFF2-40B4-BE49-F238E27FC236}">
                <a16:creationId xmlns:a16="http://schemas.microsoft.com/office/drawing/2014/main" id="{A6DA208B-FBFF-E88F-FE15-62811B9FE184}"/>
              </a:ext>
            </a:extLst>
          </p:cNvPr>
          <p:cNvSpPr/>
          <p:nvPr/>
        </p:nvSpPr>
        <p:spPr>
          <a:xfrm>
            <a:off x="571500" y="171501"/>
            <a:ext cx="571500" cy="571500"/>
          </a:xfrm>
          <a:custGeom>
            <a:avLst/>
            <a:gdLst>
              <a:gd name="connisteX0" fmla="*/ 133349 w 571500"/>
              <a:gd name="connsiteY0" fmla="*/ 0 h 571500"/>
              <a:gd name="connisteX1" fmla="*/ 571500 w 571500"/>
              <a:gd name="connsiteY1" fmla="*/ 0 h 571500"/>
              <a:gd name="connisteX2" fmla="*/ 444500 w 571500"/>
              <a:gd name="connsiteY2" fmla="*/ 571500 h 571500"/>
              <a:gd name="connisteX3" fmla="*/ 0 w 571500"/>
              <a:gd name="connsiteY3" fmla="*/ 571500 h 571500"/>
              <a:gd name="connisteX4" fmla="*/ 133349 w 571500"/>
              <a:gd name="connsiteY4" fmla="*/ 0 h 5715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571500" h="571500">
                <a:moveTo>
                  <a:pt x="133350" y="0"/>
                </a:moveTo>
                <a:lnTo>
                  <a:pt x="571500" y="0"/>
                </a:lnTo>
                <a:lnTo>
                  <a:pt x="444500" y="571500"/>
                </a:lnTo>
                <a:lnTo>
                  <a:pt x="0" y="571500"/>
                </a:lnTo>
                <a:lnTo>
                  <a:pt x="133350" y="0"/>
                </a:lnTo>
                <a:close/>
              </a:path>
            </a:pathLst>
          </a:custGeom>
          <a:solidFill>
            <a:srgbClr val="0A5798"/>
          </a:solidFill>
          <a:ln>
            <a:solidFill>
              <a:srgbClr val="3A8FD4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0" name="任意多边形 4">
            <a:extLst>
              <a:ext uri="{FF2B5EF4-FFF2-40B4-BE49-F238E27FC236}">
                <a16:creationId xmlns:a16="http://schemas.microsoft.com/office/drawing/2014/main" id="{B68623F7-CC2B-B984-1FD6-84DC0031D234}"/>
              </a:ext>
            </a:extLst>
          </p:cNvPr>
          <p:cNvSpPr/>
          <p:nvPr/>
        </p:nvSpPr>
        <p:spPr>
          <a:xfrm>
            <a:off x="607060" y="206426"/>
            <a:ext cx="565150" cy="565150"/>
          </a:xfrm>
          <a:custGeom>
            <a:avLst/>
            <a:gdLst>
              <a:gd name="connisteX0" fmla="*/ 520699 w 565150"/>
              <a:gd name="connsiteY0" fmla="*/ 0 h 565150"/>
              <a:gd name="connisteX1" fmla="*/ 565150 w 565150"/>
              <a:gd name="connsiteY1" fmla="*/ 0 h 565150"/>
              <a:gd name="connisteX2" fmla="*/ 450850 w 565150"/>
              <a:gd name="connsiteY2" fmla="*/ 565150 h 565150"/>
              <a:gd name="connisteX3" fmla="*/ 0 w 565150"/>
              <a:gd name="connsiteY3" fmla="*/ 565150 h 565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65150" h="565150">
                <a:moveTo>
                  <a:pt x="520700" y="0"/>
                </a:moveTo>
                <a:lnTo>
                  <a:pt x="565150" y="0"/>
                </a:lnTo>
                <a:lnTo>
                  <a:pt x="450850" y="565150"/>
                </a:lnTo>
                <a:lnTo>
                  <a:pt x="0" y="565150"/>
                </a:lnTo>
              </a:path>
            </a:pathLst>
          </a:custGeom>
          <a:noFill/>
          <a:ln w="19050" cap="flat">
            <a:solidFill>
              <a:srgbClr val="00549A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A56479BE-BAF8-442B-F3BE-8017A226F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7887" y="2013698"/>
            <a:ext cx="2528328" cy="1651747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3080AE72-28C1-FFFB-677C-8F6A697BE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684" y="2009776"/>
            <a:ext cx="2528328" cy="1651747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50EB8F6A-4E87-8918-C6FF-8809A9F09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6" y="4417831"/>
            <a:ext cx="2528327" cy="1563869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A8CEF4C4-CA6E-4D48-E7DD-6A6A28583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5425" y="4417830"/>
            <a:ext cx="2528327" cy="156386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CADC9-E778-FDBA-78DF-CDED4D302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E9C672B-18BD-3CD1-58C3-957A027DDD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0206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F384C1-EFE3-415D-98E2-25BFD5AE0489}"/>
              </a:ext>
            </a:extLst>
          </p:cNvPr>
          <p:cNvSpPr>
            <a:spLocks noGrp="1"/>
          </p:cNvSpPr>
          <p:nvPr/>
        </p:nvSpPr>
        <p:spPr>
          <a:xfrm>
            <a:off x="685800" y="1236774"/>
            <a:ext cx="561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dirty="0" err="1">
                <a:solidFill>
                  <a:srgbClr val="002F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机器学习综合实践</a:t>
            </a:r>
            <a:endParaRPr sz="1500" b="1" dirty="0">
              <a:solidFill>
                <a:srgbClr val="002FA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897906-1136-032F-95B0-7F8F35B469DE}"/>
              </a:ext>
            </a:extLst>
          </p:cNvPr>
          <p:cNvSpPr>
            <a:spLocks noGrp="1"/>
          </p:cNvSpPr>
          <p:nvPr/>
        </p:nvSpPr>
        <p:spPr>
          <a:xfrm>
            <a:off x="611505" y="2082780"/>
            <a:ext cx="6286500" cy="13462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3900" b="1">
                <a:solidFill>
                  <a:srgbClr val="081D3A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9600" b="1" dirty="0">
                <a:solidFill>
                  <a:srgbClr val="002F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谢谢！</a:t>
            </a:r>
            <a:endParaRPr sz="9600" b="1" dirty="0">
              <a:solidFill>
                <a:srgbClr val="002FA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9DFA657C-18F3-BBDD-0B1E-5B4D5C2A3322}"/>
              </a:ext>
            </a:extLst>
          </p:cNvPr>
          <p:cNvSpPr>
            <a:spLocks noGrp="1"/>
          </p:cNvSpPr>
          <p:nvPr/>
        </p:nvSpPr>
        <p:spPr>
          <a:xfrm>
            <a:off x="685800" y="3920864"/>
            <a:ext cx="5810250" cy="0"/>
          </a:xfrm>
          <a:prstGeom prst="line">
            <a:avLst/>
          </a:prstGeom>
          <a:noFill/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0506BDC9-C095-A111-1A2A-7B6109E935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99960" y="1228725"/>
            <a:ext cx="4324350" cy="4324350"/>
          </a:xfrm>
          <a:prstGeom prst="roundRect">
            <a:avLst>
              <a:gd name="adj" fmla="val 3409"/>
            </a:avLst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423C746C-29D6-9E6D-CC0F-6D58D03CAB1A}"/>
              </a:ext>
            </a:extLst>
          </p:cNvPr>
          <p:cNvSpPr>
            <a:spLocks noGrp="1"/>
          </p:cNvSpPr>
          <p:nvPr/>
        </p:nvSpPr>
        <p:spPr>
          <a:xfrm>
            <a:off x="7650248" y="5354393"/>
            <a:ext cx="3352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endParaRPr sz="15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2350938-8E4C-7DF3-8F66-FDCBE646DAA7}"/>
              </a:ext>
            </a:extLst>
          </p:cNvPr>
          <p:cNvSpPr>
            <a:spLocks noGrp="1"/>
          </p:cNvSpPr>
          <p:nvPr/>
        </p:nvSpPr>
        <p:spPr>
          <a:xfrm>
            <a:off x="0" y="6686550"/>
            <a:ext cx="12192000" cy="171450"/>
          </a:xfrm>
          <a:prstGeom prst="rect">
            <a:avLst/>
          </a:prstGeom>
          <a:solidFill>
            <a:srgbClr val="00206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039C33-27E5-A2CA-2F4A-6D62586A2A95}"/>
              </a:ext>
            </a:extLst>
          </p:cNvPr>
          <p:cNvSpPr txBox="1"/>
          <p:nvPr/>
        </p:nvSpPr>
        <p:spPr>
          <a:xfrm>
            <a:off x="238760" y="4450699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004098"/>
                </a:solidFill>
                <a:latin typeface="方正风雅宋简体" panose="02000000000000000000" charset="-122"/>
                <a:ea typeface="方正风雅宋简体" panose="02000000000000000000" charset="-122"/>
                <a:cs typeface="PingFang SC Semibold" panose="020B0400000000000000" charset="-122"/>
              </a:rPr>
              <a:t>G01 XAI01-02</a:t>
            </a:r>
          </a:p>
        </p:txBody>
      </p:sp>
    </p:spTree>
    <p:extLst>
      <p:ext uri="{BB962C8B-B14F-4D97-AF65-F5344CB8AC3E}">
        <p14:creationId xmlns:p14="http://schemas.microsoft.com/office/powerpoint/2010/main" val="28307160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634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634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6340"/>
  <p:tag name="KSO_WM_TEMPLATE_CATEGORY" val="custom"/>
  <p:tag name="KSO_WM_TEMPLATE_MASTER_TYPE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20236340"/>
  <p:tag name="KSO_WM_TEMPLATE_CATEGORY" val="custom"/>
  <p:tag name="KSO_WM_SLIDE_INDEX" val="4"/>
  <p:tag name="KSO_WM_SLIDE_ID" val="custom20236340_4"/>
  <p:tag name="KSO_WM_TEMPLATE_MASTER_TYPE" val="0"/>
  <p:tag name="KSO_WM_SLIDE_LAYOUT" val="a_l"/>
  <p:tag name="KSO_WM_SLIDE_LAYOUT_CNT" val="1_1"/>
  <p:tag name="KSO_WM_SLIDE_DIAGTYPE" val="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8,&quot;left&quot;:38.4,&quot;top&quot;:207.1,&quot;width&quot;:885.1200000000001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8,&quot;left&quot;:38.4,&quot;top&quot;:207.1,&quot;width&quot;:885.1200000000001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8,&quot;left&quot;:38.4,&quot;top&quot;:207.1,&quot;width&quot;:885.1200000000001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8,&quot;left&quot;:38.4,&quot;top&quot;:207.1,&quot;width&quot;:885.1200000000001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8,&quot;left&quot;:38.4,&quot;top&quot;:207.1,&quot;width&quot;:885.1200000000001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8,&quot;left&quot;:38.4,&quot;top&quot;:207.1,&quot;width&quot;:885.1200000000001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8,&quot;left&quot;:38.4,&quot;top&quot;:207.1,&quot;width&quot;:885.1200000000001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8,&quot;left&quot;:38.4,&quot;top&quot;:207.1,&quot;width&quot;:885.1200000000001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8,&quot;left&quot;:38.4,&quot;top&quot;:207.1,&quot;width&quot;:885.1200000000001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8,&quot;left&quot;:38.4,&quot;top&quot;:207.1,&quot;width&quot;:885.1200000000001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8,&quot;left&quot;:38.4,&quot;top&quot;:207.1,&quot;width&quot;:885.1200000000001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8,&quot;left&quot;:38.4,&quot;top&quot;:207.1,&quot;width&quot;:885.1200000000001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8,&quot;left&quot;:38.4,&quot;top&quot;:207.1,&quot;width&quot;:885.1200000000001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8,&quot;left&quot;:38.4,&quot;top&quot;:207.1,&quot;width&quot;:885.1200000000001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88,&quot;left&quot;:40,&quot;top&quot;:128.45,&quot;width&quot;:499.2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09">
      <a:dk1>
        <a:srgbClr val="000000"/>
      </a:dk1>
      <a:lt1>
        <a:srgbClr val="FFFFFF"/>
      </a:lt1>
      <a:dk2>
        <a:srgbClr val="44546A"/>
      </a:dk2>
      <a:lt2>
        <a:srgbClr val="FEFEFE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1196</Words>
  <Application>Microsoft Office PowerPoint</Application>
  <PresentationFormat>宽屏</PresentationFormat>
  <Paragraphs>232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Wingdings</vt:lpstr>
      <vt:lpstr>Arial</vt:lpstr>
      <vt:lpstr>微软雅黑</vt:lpstr>
      <vt:lpstr>Copernicus Trial Bold</vt:lpstr>
      <vt:lpstr>Microsoft YaHei UI</vt:lpstr>
      <vt:lpstr>Calibri</vt:lpstr>
      <vt:lpstr>方正风雅宋简体</vt:lpstr>
      <vt:lpstr>思源黑体</vt:lpstr>
      <vt:lpstr>ChatGPT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emma1220kunby@126.com</cp:lastModifiedBy>
  <cp:revision>23</cp:revision>
  <dcterms:created xsi:type="dcterms:W3CDTF">2026-10-11T11:30:26Z</dcterms:created>
  <dcterms:modified xsi:type="dcterms:W3CDTF">2026-10-11T13:40:20Z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59B503003D65C6E42368CB6A150BA403_42</vt:lpwstr>
  </property>
</Properties>
</file>