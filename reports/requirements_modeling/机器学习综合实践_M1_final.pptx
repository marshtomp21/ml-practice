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8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  <a:srgbClr val="B8D4EA"/>
    <a:srgbClr val="17324D"/>
    <a:srgbClr val="081D3A"/>
    <a:srgbClr val="F6FAFD"/>
    <a:srgbClr val="6AAAF0"/>
    <a:srgbClr val="1670D2"/>
    <a:srgbClr val="DF6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801" autoAdjust="0"/>
  </p:normalViewPr>
  <p:slideViewPr>
    <p:cSldViewPr snapToGrid="0">
      <p:cViewPr>
        <p:scale>
          <a:sx n="75" d="100"/>
          <a:sy n="75" d="100"/>
        </p:scale>
        <p:origin x="76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封面视觉由 OpenAI 图像生成工具为本课程汇报专门生成；页面不包含外部数据或实验结论。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本页仅定义质量和成本的共同比较口径，不展示方法排名。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RQ1、RQ2、RQ3 均为待验证问题，不包含实验优劣结果。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数据规模和标注结构按用户提供的新版方案呈现。生成图像仅作抽象任务示意，不作为真实数据样本。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四种核心方法并列比较，不表示连续执行顺序。IG、EG、Grad-CAM 作为分组外部对照。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本页使用新版数据：31.83%、1.55%、约 20 倍以及新版粒度不足比例。未使用旧版禁用数值。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主预算与扫描范围均为暂定设计。B=1024 是主比较参照，不代表已验证的最优预算。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实验变量使用实心蓝色，控制条件使用白色锁定框。页面解释公平比较如何建立。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正文仅保留核心统计原则。更详细的 epsilon、K、跨种子 Spearman 与 Jaccard 放入备用页。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四项必做实验建立主结论。OrdShap 与 CHNCXR 迁移属于选做实验，均在必做链路稳定后开展。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M2 至 M5 均为未来计划。M2 是下一阶段，其他阶段使用浅蓝灰色表示尚未完成。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63CF3BC-EC87-4FF0-9858-3EA280D44FC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57150" cy="266700"/>
          </a:xfrm>
          <a:prstGeom prst="rect">
            <a:avLst/>
          </a:prstGeom>
          <a:solidFill>
            <a:srgbClr val="14B8C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6B23B2-D5B9-40EE-AF98-12CDB5380432}"/>
              </a:ext>
            </a:extLst>
          </p:cNvPr>
          <p:cNvSpPr>
            <a:spLocks noGrp="1"/>
          </p:cNvSpPr>
          <p:nvPr/>
        </p:nvSpPr>
        <p:spPr>
          <a:xfrm>
            <a:off x="876300" y="4953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b="1">
                <a:solidFill>
                  <a:srgbClr val="146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467C9"/>
                </a:solidFill>
                <a:latin typeface="Microsoft YaHei"/>
                <a:ea typeface="Microsoft YaHei"/>
                <a:cs typeface="Microsoft YaHei"/>
              </a:rPr>
              <a:t>机器学习综合实践  ·  M1 阶段汇报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9D60B9-0803-48EE-BFC4-7F16EDACEAB0}"/>
              </a:ext>
            </a:extLst>
          </p:cNvPr>
          <p:cNvSpPr>
            <a:spLocks noGrp="1"/>
          </p:cNvSpPr>
          <p:nvPr/>
        </p:nvSpPr>
        <p:spPr>
          <a:xfrm>
            <a:off x="8267700" y="49530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项目需求分析与任务建模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17F272-03A1-46FC-AEE3-698927A85CDD}"/>
              </a:ext>
            </a:extLst>
          </p:cNvPr>
          <p:cNvSpPr>
            <a:spLocks noGrp="1"/>
          </p:cNvSpPr>
          <p:nvPr/>
        </p:nvSpPr>
        <p:spPr>
          <a:xfrm>
            <a:off x="685800" y="1199034"/>
            <a:ext cx="9810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4200"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图像分类</a:t>
            </a:r>
            <a:r>
              <a:rPr sz="4200" b="1">
                <a:solidFill>
                  <a:srgbClr val="1467C9"/>
                </a:solidFill>
                <a:latin typeface="Microsoft YaHei"/>
                <a:ea typeface="Microsoft YaHei"/>
                <a:cs typeface="Microsoft YaHei"/>
              </a:rPr>
              <a:t>特征归因</a:t>
            </a:r>
            <a:r>
              <a:rPr sz="4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方法的</a:t>
            </a:r>
          </a:p>
          <a:p>
            <a:pPr algn="l">
              <a:lnSpc>
                <a:spcPct val="92000"/>
              </a:lnSpc>
              <a:buNone/>
              <a:defRPr sz="4200"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B8C8"/>
                </a:solidFill>
                <a:latin typeface="Microsoft YaHei"/>
                <a:ea typeface="Microsoft YaHei"/>
                <a:cs typeface="Microsoft YaHei"/>
              </a:rPr>
              <a:t>质量</a:t>
            </a:r>
            <a:r>
              <a:rPr sz="4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4200" b="1">
                <a:solidFill>
                  <a:srgbClr val="14B8C8"/>
                </a:solidFill>
                <a:latin typeface="Microsoft YaHei"/>
                <a:ea typeface="Microsoft YaHei"/>
                <a:cs typeface="Microsoft YaHei"/>
              </a:rPr>
              <a:t>效率</a:t>
            </a:r>
            <a:r>
              <a:rPr sz="4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0F241A-496B-4AA5-9B47-5FB683627F97}"/>
              </a:ext>
            </a:extLst>
          </p:cNvPr>
          <p:cNvSpPr>
            <a:spLocks noGrp="1"/>
          </p:cNvSpPr>
          <p:nvPr/>
        </p:nvSpPr>
        <p:spPr>
          <a:xfrm>
            <a:off x="1476375" y="5524500"/>
            <a:ext cx="9239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模型为什么做出判断？不同解释方法的可靠性与计算成本如何权衡？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78D2AE-2606-4EE9-8242-D199CB77AB6A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CEAF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ECBD30-B2AA-4BAE-BD64-5EC558E61FDB}"/>
              </a:ext>
            </a:extLst>
          </p:cNvPr>
          <p:cNvSpPr>
            <a:spLocks noGrp="1"/>
          </p:cNvSpPr>
          <p:nvPr/>
        </p:nvSpPr>
        <p:spPr>
          <a:xfrm>
            <a:off x="685800" y="6229351"/>
            <a:ext cx="8747312" cy="2000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小组成员：</a:t>
            </a:r>
            <a:r>
              <a:rPr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陈纪仰 朱炳政 杜孟泽 张泰瑜 邹研泽            </a:t>
            </a:r>
            <a:r>
              <a: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学院：</a:t>
            </a:r>
            <a:r>
              <a:rPr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人工智能学院  </a:t>
            </a:r>
            <a:endParaRPr b="0">
              <a:solidFill>
                <a:srgbClr val="6074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89969A-5CE2-453D-AD69-91E15041904A}"/>
              </a:ext>
            </a:extLst>
          </p:cNvPr>
          <p:cNvSpPr>
            <a:spLocks noGrp="1"/>
          </p:cNvSpPr>
          <p:nvPr/>
        </p:nvSpPr>
        <p:spPr>
          <a:xfrm>
            <a:off x="9220200" y="6200775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日期</a:t>
            </a:r>
            <a:r>
              <a:rPr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b="0"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202</a:t>
            </a:r>
            <a:r>
              <a:rPr>
                <a:solidFill>
                  <a:srgbClr val="60748A"/>
                </a:solidFill>
                <a:latin typeface="Microsoft YaHei"/>
                <a:ea typeface="Microsoft YaHei"/>
                <a:cs typeface="Microsoft YaHei"/>
              </a:rPr>
              <a:t>6/9/12  </a:t>
            </a:r>
            <a:endParaRPr b="0">
              <a:solidFill>
                <a:srgbClr val="60748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" name="图片 11"/>
          <p:cNvPicPr>
            <a:picLocks noChangeAspect="1"/>
          </p:cNvPicPr>
          <p:nvPr/>
        </p:nvPicPr>
        <p:blipFill>
          <a:blip r:embed="rId3"/>
          <a:srcRect l="14816" t="34510" r="11203" b="25768"/>
          <a:stretch>
            <a:fillRect/>
          </a:stretch>
        </p:blipFill>
        <p:spPr>
          <a:xfrm>
            <a:off x="1223215" y="2436714"/>
            <a:ext cx="9745569" cy="294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2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AD67EBC9-2029-43A0-A64A-91112B3965E4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96B638-D835-46F6-A050-BD83D70AE1A2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9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sz="2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B2CDD4-CF96-4202-9DB0-9848B236B78E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14D47C-51DD-4CD4-A16F-BBB73A1C0D82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解释质量提升是否值得额外的计算代价？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4656FC-26E5-4743-BF10-6E1F1CCF1E43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4667250" cy="3733800"/>
          </a:xfrm>
          <a:prstGeom prst="roundRect">
            <a:avLst>
              <a:gd name="adj" fmla="val 4082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E4C0981-5A5D-4646-9A0F-6A1AFF20129A}"/>
              </a:ext>
            </a:extLst>
          </p:cNvPr>
          <p:cNvSpPr>
            <a:spLocks noGrp="1"/>
          </p:cNvSpPr>
          <p:nvPr/>
        </p:nvSpPr>
        <p:spPr>
          <a:xfrm>
            <a:off x="6838950" y="1409700"/>
            <a:ext cx="4667250" cy="3733800"/>
          </a:xfrm>
          <a:prstGeom prst="roundRect">
            <a:avLst>
              <a:gd name="adj" fmla="val 4082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C5FDD8-5DFD-4401-9641-DA674E49FE7A}"/>
              </a:ext>
            </a:extLst>
          </p:cNvPr>
          <p:cNvSpPr>
            <a:spLocks noGrp="1"/>
          </p:cNvSpPr>
          <p:nvPr/>
        </p:nvSpPr>
        <p:spPr>
          <a:xfrm>
            <a:off x="914400" y="15621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解释质量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5ACBD8-A77F-485B-86BB-EB1D08F625BA}"/>
              </a:ext>
            </a:extLst>
          </p:cNvPr>
          <p:cNvSpPr>
            <a:spLocks noGrp="1"/>
          </p:cNvSpPr>
          <p:nvPr/>
        </p:nvSpPr>
        <p:spPr>
          <a:xfrm>
            <a:off x="981075" y="2209800"/>
            <a:ext cx="876300" cy="685800"/>
          </a:xfrm>
          <a:prstGeom prst="roundRect">
            <a:avLst>
              <a:gd name="adj" fmla="val 11111"/>
            </a:avLst>
          </a:prstGeom>
          <a:solidFill>
            <a:srgbClr val="DDEBFA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97DCA0A-7A78-4ADF-A0FE-1AB4486A7B19}"/>
              </a:ext>
            </a:extLst>
          </p:cNvPr>
          <p:cNvSpPr>
            <a:spLocks noGrp="1"/>
          </p:cNvSpPr>
          <p:nvPr/>
        </p:nvSpPr>
        <p:spPr>
          <a:xfrm>
            <a:off x="1200150" y="2352675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BDC85C-FB17-4C6B-BC0B-6656D0B47542}"/>
              </a:ext>
            </a:extLst>
          </p:cNvPr>
          <p:cNvSpPr>
            <a:spLocks noGrp="1"/>
          </p:cNvSpPr>
          <p:nvPr/>
        </p:nvSpPr>
        <p:spPr>
          <a:xfrm>
            <a:off x="1085850" y="2647950"/>
            <a:ext cx="647700" cy="133350"/>
          </a:xfrm>
          <a:prstGeom prst="rect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68071D-6BB1-4AB7-87FA-E5144880BAFB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DE62E52-FEF1-49FF-9B40-24FD488D21D9}"/>
              </a:ext>
            </a:extLst>
          </p:cNvPr>
          <p:cNvSpPr>
            <a:spLocks noGrp="1"/>
          </p:cNvSpPr>
          <p:nvPr/>
        </p:nvSpPr>
        <p:spPr>
          <a:xfrm>
            <a:off x="2009775" y="2428875"/>
            <a:ext cx="3238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57C9F0F-865E-4983-96AA-517924677990}"/>
              </a:ext>
            </a:extLst>
          </p:cNvPr>
          <p:cNvSpPr>
            <a:spLocks noGrp="1"/>
          </p:cNvSpPr>
          <p:nvPr/>
        </p:nvSpPr>
        <p:spPr>
          <a:xfrm>
            <a:off x="2476500" y="2143125"/>
            <a:ext cx="1104900" cy="819150"/>
          </a:xfrm>
          <a:prstGeom prst="roundRect">
            <a:avLst>
              <a:gd name="adj" fmla="val 11628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50241C-F2AA-496A-BCF9-8313FB41332D}"/>
              </a:ext>
            </a:extLst>
          </p:cNvPr>
          <p:cNvSpPr>
            <a:spLocks noGrp="1"/>
          </p:cNvSpPr>
          <p:nvPr/>
        </p:nvSpPr>
        <p:spPr>
          <a:xfrm>
            <a:off x="2476500" y="2143125"/>
            <a:ext cx="1104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深度分类</a:t>
            </a:r>
          </a:p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724AD082-35E6-45CE-9DBE-3890A430B8BD}"/>
              </a:ext>
            </a:extLst>
          </p:cNvPr>
          <p:cNvSpPr>
            <a:spLocks noGrp="1"/>
          </p:cNvSpPr>
          <p:nvPr/>
        </p:nvSpPr>
        <p:spPr>
          <a:xfrm>
            <a:off x="3733800" y="2428875"/>
            <a:ext cx="3238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0347EFC-3581-42B9-B00E-41C10B8E46BF}"/>
              </a:ext>
            </a:extLst>
          </p:cNvPr>
          <p:cNvSpPr>
            <a:spLocks noGrp="1"/>
          </p:cNvSpPr>
          <p:nvPr/>
        </p:nvSpPr>
        <p:spPr>
          <a:xfrm>
            <a:off x="4200525" y="2152650"/>
            <a:ext cx="876300" cy="742950"/>
          </a:xfrm>
          <a:prstGeom prst="roundRect">
            <a:avLst>
              <a:gd name="adj" fmla="val 10256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7425DCC-0D23-4988-BB66-30932F06A237}"/>
              </a:ext>
            </a:extLst>
          </p:cNvPr>
          <p:cNvSpPr>
            <a:spLocks noGrp="1"/>
          </p:cNvSpPr>
          <p:nvPr/>
        </p:nvSpPr>
        <p:spPr>
          <a:xfrm>
            <a:off x="4511040" y="2353628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67F0F94-EB1C-4D8A-85B4-2450AD73FE56}"/>
              </a:ext>
            </a:extLst>
          </p:cNvPr>
          <p:cNvSpPr>
            <a:spLocks noGrp="1"/>
          </p:cNvSpPr>
          <p:nvPr/>
        </p:nvSpPr>
        <p:spPr>
          <a:xfrm>
            <a:off x="4596765" y="2420303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17C4C6-96AB-4E29-B637-2FCD37336DCB}"/>
              </a:ext>
            </a:extLst>
          </p:cNvPr>
          <p:cNvSpPr>
            <a:spLocks noGrp="1"/>
          </p:cNvSpPr>
          <p:nvPr/>
        </p:nvSpPr>
        <p:spPr>
          <a:xfrm>
            <a:off x="4171950" y="29337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预测结果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960B0D-9E00-4BCE-AFAD-3025AAB0D950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预测可以正确，但模型内部决策依据不可直接观察</a:t>
            </a:r>
            <a:endParaRPr sz="15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04F1F13-5DC4-4C02-BB09-EA07B5FE6D6B}"/>
              </a:ext>
            </a:extLst>
          </p:cNvPr>
          <p:cNvSpPr>
            <a:spLocks noGrp="1"/>
          </p:cNvSpPr>
          <p:nvPr/>
        </p:nvSpPr>
        <p:spPr>
          <a:xfrm>
            <a:off x="962025" y="4171950"/>
            <a:ext cx="1200150" cy="438150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忠实性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796E5CA-FAC7-47E6-8CCC-325D99258E2F}"/>
              </a:ext>
            </a:extLst>
          </p:cNvPr>
          <p:cNvSpPr>
            <a:spLocks noGrp="1"/>
          </p:cNvSpPr>
          <p:nvPr/>
        </p:nvSpPr>
        <p:spPr>
          <a:xfrm>
            <a:off x="2324100" y="4171950"/>
            <a:ext cx="1200150" cy="438150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63B56BE-7FB1-40D0-92C9-E178E92F1C88}"/>
              </a:ext>
            </a:extLst>
          </p:cNvPr>
          <p:cNvSpPr>
            <a:spLocks noGrp="1"/>
          </p:cNvSpPr>
          <p:nvPr/>
        </p:nvSpPr>
        <p:spPr>
          <a:xfrm>
            <a:off x="3686175" y="4171950"/>
            <a:ext cx="1200150" cy="438150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跨样本差异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EB2C1F-1FC2-409B-8794-4C78E0E638D0}"/>
              </a:ext>
            </a:extLst>
          </p:cNvPr>
          <p:cNvSpPr>
            <a:spLocks noGrp="1"/>
          </p:cNvSpPr>
          <p:nvPr/>
        </p:nvSpPr>
        <p:spPr>
          <a:xfrm>
            <a:off x="7086600" y="15621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计算成本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724B2FA-D951-475D-98D5-867B246ECC99}"/>
              </a:ext>
            </a:extLst>
          </p:cNvPr>
          <p:cNvSpPr>
            <a:spLocks noGrp="1"/>
          </p:cNvSpPr>
          <p:nvPr/>
        </p:nvSpPr>
        <p:spPr>
          <a:xfrm>
            <a:off x="7181850" y="2171700"/>
            <a:ext cx="876300" cy="628650"/>
          </a:xfrm>
          <a:prstGeom prst="roundRect">
            <a:avLst>
              <a:gd name="adj" fmla="val 13636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4697BA7-4923-4477-84A5-72E31E0CD894}"/>
              </a:ext>
            </a:extLst>
          </p:cNvPr>
          <p:cNvSpPr>
            <a:spLocks noGrp="1"/>
          </p:cNvSpPr>
          <p:nvPr/>
        </p:nvSpPr>
        <p:spPr>
          <a:xfrm>
            <a:off x="7181850" y="2171700"/>
            <a:ext cx="876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90AD0B8D-5D6E-401A-9C3A-90D6CEA59F1B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28575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32C4EB-FAF5-45CB-A225-CE69F37A8974}"/>
              </a:ext>
            </a:extLst>
          </p:cNvPr>
          <p:cNvSpPr>
            <a:spLocks noGrp="1"/>
          </p:cNvSpPr>
          <p:nvPr/>
        </p:nvSpPr>
        <p:spPr>
          <a:xfrm>
            <a:off x="8629650" y="2114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550272-ACAD-4738-8BBE-B31B0505DC23}"/>
              </a:ext>
            </a:extLst>
          </p:cNvPr>
          <p:cNvSpPr>
            <a:spLocks noGrp="1"/>
          </p:cNvSpPr>
          <p:nvPr/>
        </p:nvSpPr>
        <p:spPr>
          <a:xfrm>
            <a:off x="8867775" y="2114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FEAB66-52FB-459D-B5B1-6A4C2D46F0A3}"/>
              </a:ext>
            </a:extLst>
          </p:cNvPr>
          <p:cNvSpPr>
            <a:spLocks noGrp="1"/>
          </p:cNvSpPr>
          <p:nvPr/>
        </p:nvSpPr>
        <p:spPr>
          <a:xfrm>
            <a:off x="9105900" y="211455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A37349-6215-4AA5-BF27-728622A026E0}"/>
              </a:ext>
            </a:extLst>
          </p:cNvPr>
          <p:cNvSpPr>
            <a:spLocks noGrp="1"/>
          </p:cNvSpPr>
          <p:nvPr/>
        </p:nvSpPr>
        <p:spPr>
          <a:xfrm>
            <a:off x="9344025" y="2114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30D7B3-82E9-4F20-8FD0-D04622E5257D}"/>
              </a:ext>
            </a:extLst>
          </p:cNvPr>
          <p:cNvSpPr>
            <a:spLocks noGrp="1"/>
          </p:cNvSpPr>
          <p:nvPr/>
        </p:nvSpPr>
        <p:spPr>
          <a:xfrm>
            <a:off x="8629650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FF9249-D2D6-401A-9BE9-E84DC782D511}"/>
              </a:ext>
            </a:extLst>
          </p:cNvPr>
          <p:cNvSpPr>
            <a:spLocks noGrp="1"/>
          </p:cNvSpPr>
          <p:nvPr/>
        </p:nvSpPr>
        <p:spPr>
          <a:xfrm>
            <a:off x="8867775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62D2AF-0F37-4219-87E4-5584B33D7E5E}"/>
              </a:ext>
            </a:extLst>
          </p:cNvPr>
          <p:cNvSpPr>
            <a:spLocks noGrp="1"/>
          </p:cNvSpPr>
          <p:nvPr/>
        </p:nvSpPr>
        <p:spPr>
          <a:xfrm>
            <a:off x="9105900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17A9C75-85E5-4880-8B80-46BA030B18D1}"/>
              </a:ext>
            </a:extLst>
          </p:cNvPr>
          <p:cNvSpPr>
            <a:spLocks noGrp="1"/>
          </p:cNvSpPr>
          <p:nvPr/>
        </p:nvSpPr>
        <p:spPr>
          <a:xfrm>
            <a:off x="9344025" y="2352675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204E848-744C-4F93-BBB5-29161C46B4AB}"/>
              </a:ext>
            </a:extLst>
          </p:cNvPr>
          <p:cNvSpPr>
            <a:spLocks noGrp="1"/>
          </p:cNvSpPr>
          <p:nvPr/>
        </p:nvSpPr>
        <p:spPr>
          <a:xfrm>
            <a:off x="8629650" y="259080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42286B-3A3D-415F-90BF-D402F915FD99}"/>
              </a:ext>
            </a:extLst>
          </p:cNvPr>
          <p:cNvSpPr>
            <a:spLocks noGrp="1"/>
          </p:cNvSpPr>
          <p:nvPr/>
        </p:nvSpPr>
        <p:spPr>
          <a:xfrm>
            <a:off x="8867775" y="259080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6C8C34E-7471-4C98-B44D-B1DAF11854A2}"/>
              </a:ext>
            </a:extLst>
          </p:cNvPr>
          <p:cNvSpPr>
            <a:spLocks noGrp="1"/>
          </p:cNvSpPr>
          <p:nvPr/>
        </p:nvSpPr>
        <p:spPr>
          <a:xfrm>
            <a:off x="9105900" y="259080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18F5E7-99C0-4E9E-B9DC-8A09A9C1B88D}"/>
              </a:ext>
            </a:extLst>
          </p:cNvPr>
          <p:cNvSpPr>
            <a:spLocks noGrp="1"/>
          </p:cNvSpPr>
          <p:nvPr/>
        </p:nvSpPr>
        <p:spPr>
          <a:xfrm>
            <a:off x="9344025" y="259080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C68E72A7-3155-497F-9C7B-90922A1AF0AF}"/>
              </a:ext>
            </a:extLst>
          </p:cNvPr>
          <p:cNvSpPr>
            <a:spLocks noGrp="1"/>
          </p:cNvSpPr>
          <p:nvPr/>
        </p:nvSpPr>
        <p:spPr>
          <a:xfrm>
            <a:off x="9734550" y="2381250"/>
            <a:ext cx="28575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61A5C84-BD1E-4BD4-A954-A3EE315B431F}"/>
              </a:ext>
            </a:extLst>
          </p:cNvPr>
          <p:cNvSpPr>
            <a:spLocks noGrp="1"/>
          </p:cNvSpPr>
          <p:nvPr/>
        </p:nvSpPr>
        <p:spPr>
          <a:xfrm>
            <a:off x="10210800" y="215265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2839A0DC-B2BF-4A05-A010-DC85A4E8BB08}"/>
              </a:ext>
            </a:extLst>
          </p:cNvPr>
          <p:cNvSpPr>
            <a:spLocks noGrp="1"/>
          </p:cNvSpPr>
          <p:nvPr/>
        </p:nvSpPr>
        <p:spPr>
          <a:xfrm>
            <a:off x="10553700" y="2295525"/>
            <a:ext cx="0" cy="209550"/>
          </a:xfrm>
          <a:prstGeom prst="line">
            <a:avLst/>
          </a:prstGeom>
          <a:noFill/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B624AF65-E1FF-4FCA-AEDC-113DD85A4CC7}"/>
              </a:ext>
            </a:extLst>
          </p:cNvPr>
          <p:cNvSpPr>
            <a:spLocks noGrp="1"/>
          </p:cNvSpPr>
          <p:nvPr/>
        </p:nvSpPr>
        <p:spPr>
          <a:xfrm>
            <a:off x="10553700" y="2505075"/>
            <a:ext cx="171450" cy="0"/>
          </a:xfrm>
          <a:prstGeom prst="line">
            <a:avLst/>
          </a:prstGeom>
          <a:noFill/>
          <a:ln w="1905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41FD042-AB7E-46A1-9013-283FAD01ACC9}"/>
              </a:ext>
            </a:extLst>
          </p:cNvPr>
          <p:cNvSpPr>
            <a:spLocks noGrp="1"/>
          </p:cNvSpPr>
          <p:nvPr/>
        </p:nvSpPr>
        <p:spPr>
          <a:xfrm>
            <a:off x="7124700" y="31432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模型调用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8924F92-E000-4E3F-91C7-799A6FC39EF5}"/>
              </a:ext>
            </a:extLst>
          </p:cNvPr>
          <p:cNvSpPr>
            <a:spLocks noGrp="1"/>
          </p:cNvSpPr>
          <p:nvPr/>
        </p:nvSpPr>
        <p:spPr>
          <a:xfrm>
            <a:off x="8505825" y="31432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扰动样本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ED3B82B-7612-43B1-88F0-2BF487CC9322}"/>
              </a:ext>
            </a:extLst>
          </p:cNvPr>
          <p:cNvSpPr>
            <a:spLocks noGrp="1"/>
          </p:cNvSpPr>
          <p:nvPr/>
        </p:nvSpPr>
        <p:spPr>
          <a:xfrm>
            <a:off x="9886950" y="31432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计算时间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9BCE886-E190-40CC-999D-A3B0CED4698F}"/>
              </a:ext>
            </a:extLst>
          </p:cNvPr>
          <p:cNvSpPr>
            <a:spLocks noGrp="1"/>
          </p:cNvSpPr>
          <p:nvPr/>
        </p:nvSpPr>
        <p:spPr>
          <a:xfrm>
            <a:off x="7086600" y="375285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324D"/>
                </a:solidFill>
                <a:latin typeface="Microsoft YaHei"/>
                <a:ea typeface="Microsoft YaHei"/>
              </a:rPr>
              <a:t>不同归因方法需要不同数量的模型调用、扰动样本与计算时间</a:t>
            </a:r>
            <a:endParaRPr sz="1500" b="1" dirty="0">
              <a:solidFill>
                <a:srgbClr val="17324D"/>
              </a:solidFill>
              <a:latin typeface="Microsoft YaHei"/>
              <a:ea typeface="Microsoft YaHei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BFA3154-3EB0-4251-9853-8314B78E34F3}"/>
              </a:ext>
            </a:extLst>
          </p:cNvPr>
          <p:cNvSpPr>
            <a:spLocks noGrp="1"/>
          </p:cNvSpPr>
          <p:nvPr/>
        </p:nvSpPr>
        <p:spPr>
          <a:xfrm>
            <a:off x="5619750" y="1666875"/>
            <a:ext cx="952500" cy="3143250"/>
          </a:xfrm>
          <a:prstGeom prst="roundRect">
            <a:avLst>
              <a:gd name="adj" fmla="val 16000"/>
            </a:avLst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EC09BC5-4B23-4EC0-BCB0-EAA665766102}"/>
              </a:ext>
            </a:extLst>
          </p:cNvPr>
          <p:cNvSpPr>
            <a:spLocks noGrp="1"/>
          </p:cNvSpPr>
          <p:nvPr/>
        </p:nvSpPr>
        <p:spPr>
          <a:xfrm>
            <a:off x="5715000" y="1847850"/>
            <a:ext cx="762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  <a:p>
            <a:pPr algn="ctr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实验口径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2B5E3B1-4900-4A67-A674-21F5F9E7B8A8}"/>
              </a:ext>
            </a:extLst>
          </p:cNvPr>
          <p:cNvSpPr>
            <a:spLocks noGrp="1"/>
          </p:cNvSpPr>
          <p:nvPr/>
        </p:nvSpPr>
        <p:spPr>
          <a:xfrm>
            <a:off x="5715000" y="2857500"/>
            <a:ext cx="7620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CC98B75-948E-4651-90D6-17580E6F1FF0}"/>
              </a:ext>
            </a:extLst>
          </p:cNvPr>
          <p:cNvSpPr>
            <a:spLocks noGrp="1"/>
          </p:cNvSpPr>
          <p:nvPr/>
        </p:nvSpPr>
        <p:spPr>
          <a:xfrm>
            <a:off x="5715000" y="3409950"/>
            <a:ext cx="7620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04EA5FA-2993-4D59-B052-09C4828FEF05}"/>
              </a:ext>
            </a:extLst>
          </p:cNvPr>
          <p:cNvSpPr>
            <a:spLocks noGrp="1"/>
          </p:cNvSpPr>
          <p:nvPr/>
        </p:nvSpPr>
        <p:spPr>
          <a:xfrm>
            <a:off x="5715000" y="3962400"/>
            <a:ext cx="762000" cy="36195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计算预算</a:t>
            </a: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F60DF14C-B932-4534-BE9A-A366327442FF}"/>
              </a:ext>
            </a:extLst>
          </p:cNvPr>
          <p:cNvSpPr>
            <a:spLocks noGrp="1"/>
          </p:cNvSpPr>
          <p:nvPr/>
        </p:nvSpPr>
        <p:spPr>
          <a:xfrm>
            <a:off x="5353317" y="3076575"/>
            <a:ext cx="285750" cy="209550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30C797A2-D5FF-4E0C-9A72-BA931E8A01D5}"/>
              </a:ext>
            </a:extLst>
          </p:cNvPr>
          <p:cNvSpPr>
            <a:spLocks noGrp="1"/>
          </p:cNvSpPr>
          <p:nvPr/>
        </p:nvSpPr>
        <p:spPr>
          <a:xfrm>
            <a:off x="6572250" y="3076575"/>
            <a:ext cx="285750" cy="209550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A2780D9-C833-46C7-A805-B4337221FF1E}"/>
              </a:ext>
            </a:extLst>
          </p:cNvPr>
          <p:cNvSpPr>
            <a:spLocks noGrp="1"/>
          </p:cNvSpPr>
          <p:nvPr/>
        </p:nvSpPr>
        <p:spPr>
          <a:xfrm>
            <a:off x="7239000" y="4914900"/>
            <a:ext cx="405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默认参数和少量漂亮热图不足以支持方法优劣判断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01B2E89-3A61-40C7-88FD-65347F62ECA4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66750"/>
          </a:xfrm>
          <a:prstGeom prst="roundRect">
            <a:avLst>
              <a:gd name="adj" fmla="val 2000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在统一数据、模型输出和预算口径下，判断不同归因方法的适用范围及其代价。</a:t>
            </a:r>
          </a:p>
        </p:txBody>
      </p:sp>
    </p:spTree>
    <p:extLst>
      <p:ext uri="{BB962C8B-B14F-4D97-AF65-F5344CB8AC3E}">
        <p14:creationId xmlns:p14="http://schemas.microsoft.com/office/powerpoint/2010/main" val="1249655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1935F83F-49B8-4CA3-8487-7E050C80D4AE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366A79-E509-4244-96A2-FFBE09FD393A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三个研究问题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A76194-B7F1-4795-8BE0-483101115300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FBCFF48-5E9F-4CFE-95C6-50FA9376608D}"/>
              </a:ext>
            </a:extLst>
          </p:cNvPr>
          <p:cNvSpPr>
            <a:spLocks noGrp="1"/>
          </p:cNvSpPr>
          <p:nvPr/>
        </p:nvSpPr>
        <p:spPr>
          <a:xfrm>
            <a:off x="704850" y="1362075"/>
            <a:ext cx="2457450" cy="3581400"/>
          </a:xfrm>
          <a:prstGeom prst="roundRect">
            <a:avLst>
              <a:gd name="adj" fmla="val 6977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F2AB68-1BFA-44D1-BB27-79C7F7942544}"/>
              </a:ext>
            </a:extLst>
          </p:cNvPr>
          <p:cNvSpPr>
            <a:spLocks noGrp="1"/>
          </p:cNvSpPr>
          <p:nvPr/>
        </p:nvSpPr>
        <p:spPr>
          <a:xfrm>
            <a:off x="857250" y="150495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RQ1｜质量 × 效率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5EE39AA7-C716-4ABB-A678-56E1011B42BC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21145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AD93FC-3ABC-4083-B12B-F065184337C7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不同方法如何权衡</a:t>
            </a:r>
          </a:p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忠实性与效率？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1CB7C0-0F03-433B-A98D-F74423B2D521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rPr>
              <a:t>增加模型调用是否带来稳定且有实际意义的质量提升？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C381F07-9641-4BAA-A967-AFE342EB6F4D}"/>
              </a:ext>
            </a:extLst>
          </p:cNvPr>
          <p:cNvSpPr>
            <a:spLocks noGrp="1"/>
          </p:cNvSpPr>
          <p:nvPr/>
        </p:nvSpPr>
        <p:spPr>
          <a:xfrm>
            <a:off x="3562350" y="1352550"/>
            <a:ext cx="2457450" cy="3581400"/>
          </a:xfrm>
          <a:prstGeom prst="roundRect">
            <a:avLst>
              <a:gd name="adj" fmla="val 6977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04B76C-4810-404D-A207-F57FF89900D9}"/>
              </a:ext>
            </a:extLst>
          </p:cNvPr>
          <p:cNvSpPr>
            <a:spLocks noGrp="1"/>
          </p:cNvSpPr>
          <p:nvPr/>
        </p:nvSpPr>
        <p:spPr>
          <a:xfrm>
            <a:off x="3733800" y="150495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RQ2｜参数敏感性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273AC81E-61BB-4F26-A77C-93D92F76E6D3}"/>
              </a:ext>
            </a:extLst>
          </p:cNvPr>
          <p:cNvSpPr>
            <a:spLocks noGrp="1"/>
          </p:cNvSpPr>
          <p:nvPr/>
        </p:nvSpPr>
        <p:spPr>
          <a:xfrm>
            <a:off x="3733800" y="1952625"/>
            <a:ext cx="21145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703C7B-1045-47E9-AAA2-4D2C28C53DB9}"/>
              </a:ext>
            </a:extLst>
          </p:cNvPr>
          <p:cNvSpPr>
            <a:spLocks noGrp="1"/>
          </p:cNvSpPr>
          <p:nvPr/>
        </p:nvSpPr>
        <p:spPr>
          <a:xfrm>
            <a:off x="3733800" y="207645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参数改变如何影响</a:t>
            </a:r>
          </a:p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质量、稳定性与成本？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1A4EE7-DB56-4859-8F41-4FF3FE30587E}"/>
              </a:ext>
            </a:extLst>
          </p:cNvPr>
          <p:cNvSpPr>
            <a:spLocks noGrp="1"/>
          </p:cNvSpPr>
          <p:nvPr/>
        </p:nvSpPr>
        <p:spPr>
          <a:xfrm>
            <a:off x="3616573" y="4000500"/>
            <a:ext cx="2362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D7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D7F7F5"/>
                </a:solidFill>
                <a:latin typeface="Microsoft YaHei"/>
                <a:ea typeface="Microsoft YaHei"/>
                <a:cs typeface="Microsoft YaHei"/>
              </a:rPr>
              <a:t>粒度｜遮蔽率｜前向预算</a:t>
            </a:r>
            <a:endParaRPr sz="1200" b="0" dirty="0">
              <a:solidFill>
                <a:srgbClr val="D7F7F5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00" b="0">
                <a:solidFill>
                  <a:srgbClr val="D7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D7F7F5"/>
                </a:solidFill>
                <a:latin typeface="Microsoft YaHei"/>
                <a:ea typeface="Microsoft YaHei"/>
                <a:cs typeface="Microsoft YaHei"/>
              </a:rPr>
              <a:t>不同数据域是否需要不同参数</a:t>
            </a:r>
            <a:r>
              <a:rPr sz="1200" b="0" dirty="0">
                <a:solidFill>
                  <a:srgbClr val="D7F7F5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C4A2EC8-056C-415A-989A-A4230565B0A0}"/>
              </a:ext>
            </a:extLst>
          </p:cNvPr>
          <p:cNvSpPr>
            <a:spLocks noGrp="1"/>
          </p:cNvSpPr>
          <p:nvPr/>
        </p:nvSpPr>
        <p:spPr>
          <a:xfrm>
            <a:off x="6438900" y="1352550"/>
            <a:ext cx="2457450" cy="3581400"/>
          </a:xfrm>
          <a:prstGeom prst="roundRect">
            <a:avLst>
              <a:gd name="adj" fmla="val 6977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F97E54-04FE-4279-BBC7-7C66E5B6B988}"/>
              </a:ext>
            </a:extLst>
          </p:cNvPr>
          <p:cNvSpPr>
            <a:spLocks noGrp="1"/>
          </p:cNvSpPr>
          <p:nvPr/>
        </p:nvSpPr>
        <p:spPr>
          <a:xfrm>
            <a:off x="6610350" y="1504950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RQ3｜理论 × 实践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DBD5549-F4FB-4D67-996C-8FD5C032B0B2}"/>
              </a:ext>
            </a:extLst>
          </p:cNvPr>
          <p:cNvSpPr>
            <a:spLocks noGrp="1"/>
          </p:cNvSpPr>
          <p:nvPr/>
        </p:nvSpPr>
        <p:spPr>
          <a:xfrm>
            <a:off x="6610350" y="1952625"/>
            <a:ext cx="21145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AFE6BD-AC87-468C-9F24-4FB5C2F7749C}"/>
              </a:ext>
            </a:extLst>
          </p:cNvPr>
          <p:cNvSpPr>
            <a:spLocks noGrp="1"/>
          </p:cNvSpPr>
          <p:nvPr/>
        </p:nvSpPr>
        <p:spPr>
          <a:xfrm>
            <a:off x="6610350" y="207645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SHAP </a:t>
            </a:r>
            <a:r>
              <a:rPr sz="15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类方法的公理性保证能否转化为实际归因质量</a:t>
            </a:r>
            <a:r>
              <a:rPr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AACF94-41A2-4EA2-B1A2-29530292F8E1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D7F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F7F5"/>
                </a:solidFill>
                <a:latin typeface="Microsoft YaHei"/>
                <a:ea typeface="Microsoft YaHei"/>
                <a:cs typeface="Microsoft YaHei"/>
              </a:rPr>
              <a:t>自然图像与医学影像中是否保持？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BB400BF-8FD2-4834-9CCC-12C47B27A7B1}"/>
              </a:ext>
            </a:extLst>
          </p:cNvPr>
          <p:cNvSpPr>
            <a:spLocks noGrp="1"/>
          </p:cNvSpPr>
          <p:nvPr/>
        </p:nvSpPr>
        <p:spPr>
          <a:xfrm>
            <a:off x="3204795" y="3000375"/>
            <a:ext cx="34290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B4E9FC7E-FAC1-4772-BB0E-09FE581A5186}"/>
              </a:ext>
            </a:extLst>
          </p:cNvPr>
          <p:cNvSpPr>
            <a:spLocks noGrp="1"/>
          </p:cNvSpPr>
          <p:nvPr/>
        </p:nvSpPr>
        <p:spPr>
          <a:xfrm>
            <a:off x="6073530" y="3000375"/>
            <a:ext cx="34290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67571FE3-8320-44C0-9910-81431CC97015}"/>
              </a:ext>
            </a:extLst>
          </p:cNvPr>
          <p:cNvSpPr>
            <a:spLocks noGrp="1"/>
          </p:cNvSpPr>
          <p:nvPr/>
        </p:nvSpPr>
        <p:spPr>
          <a:xfrm>
            <a:off x="8965710" y="3000375"/>
            <a:ext cx="49530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64AF49-568C-4863-8FFE-3584C22975AE}"/>
              </a:ext>
            </a:extLst>
          </p:cNvPr>
          <p:cNvSpPr>
            <a:spLocks noGrp="1"/>
          </p:cNvSpPr>
          <p:nvPr/>
        </p:nvSpPr>
        <p:spPr>
          <a:xfrm>
            <a:off x="1131275" y="3356220"/>
            <a:ext cx="19050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4F2401-AD7E-4ACC-B5A6-A275B2CB1C6E}"/>
              </a:ext>
            </a:extLst>
          </p:cNvPr>
          <p:cNvSpPr>
            <a:spLocks noGrp="1"/>
          </p:cNvSpPr>
          <p:nvPr/>
        </p:nvSpPr>
        <p:spPr>
          <a:xfrm>
            <a:off x="1493225" y="3280020"/>
            <a:ext cx="19050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D719A4-8905-4E06-B66E-781993EA28FA}"/>
              </a:ext>
            </a:extLst>
          </p:cNvPr>
          <p:cNvSpPr>
            <a:spLocks noGrp="1"/>
          </p:cNvSpPr>
          <p:nvPr/>
        </p:nvSpPr>
        <p:spPr>
          <a:xfrm>
            <a:off x="1855175" y="3203820"/>
            <a:ext cx="190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0F9ABD-2001-4514-96BA-860121B57130}"/>
              </a:ext>
            </a:extLst>
          </p:cNvPr>
          <p:cNvSpPr>
            <a:spLocks noGrp="1"/>
          </p:cNvSpPr>
          <p:nvPr/>
        </p:nvSpPr>
        <p:spPr>
          <a:xfrm>
            <a:off x="2217125" y="3127620"/>
            <a:ext cx="190500" cy="476250"/>
          </a:xfrm>
          <a:prstGeom prst="rect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C42FCEDE-7D4F-4AA0-A57B-95B8ABEAE3A6}"/>
              </a:ext>
            </a:extLst>
          </p:cNvPr>
          <p:cNvSpPr>
            <a:spLocks noGrp="1"/>
          </p:cNvSpPr>
          <p:nvPr/>
        </p:nvSpPr>
        <p:spPr>
          <a:xfrm>
            <a:off x="1007209" y="3752850"/>
            <a:ext cx="16954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72D6FF-5451-44EF-BA11-524753B68859}"/>
              </a:ext>
            </a:extLst>
          </p:cNvPr>
          <p:cNvSpPr>
            <a:spLocks noGrp="1"/>
          </p:cNvSpPr>
          <p:nvPr/>
        </p:nvSpPr>
        <p:spPr>
          <a:xfrm>
            <a:off x="691173" y="2725617"/>
            <a:ext cx="750275" cy="222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归因质量</a:t>
            </a:r>
            <a:endParaRPr sz="10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9679CB-2846-45C0-80DD-5073AE761F3C}"/>
              </a:ext>
            </a:extLst>
          </p:cNvPr>
          <p:cNvSpPr>
            <a:spLocks noGrp="1"/>
          </p:cNvSpPr>
          <p:nvPr/>
        </p:nvSpPr>
        <p:spPr>
          <a:xfrm>
            <a:off x="37814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9AC51B-5AE1-401A-BA1B-80EA80F753EF}"/>
              </a:ext>
            </a:extLst>
          </p:cNvPr>
          <p:cNvSpPr>
            <a:spLocks noGrp="1"/>
          </p:cNvSpPr>
          <p:nvPr/>
        </p:nvSpPr>
        <p:spPr>
          <a:xfrm>
            <a:off x="40481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B322764-EA8A-41AC-9EA4-41666E99C1E9}"/>
              </a:ext>
            </a:extLst>
          </p:cNvPr>
          <p:cNvSpPr>
            <a:spLocks noGrp="1"/>
          </p:cNvSpPr>
          <p:nvPr/>
        </p:nvSpPr>
        <p:spPr>
          <a:xfrm>
            <a:off x="43148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DFFB159-F9D3-4990-8A32-3EE4F4933233}"/>
              </a:ext>
            </a:extLst>
          </p:cNvPr>
          <p:cNvSpPr>
            <a:spLocks noGrp="1"/>
          </p:cNvSpPr>
          <p:nvPr/>
        </p:nvSpPr>
        <p:spPr>
          <a:xfrm>
            <a:off x="4581525" y="30099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67806E-F19F-4DD6-BDBA-769FF7CFADBC}"/>
              </a:ext>
            </a:extLst>
          </p:cNvPr>
          <p:cNvSpPr>
            <a:spLocks noGrp="1"/>
          </p:cNvSpPr>
          <p:nvPr/>
        </p:nvSpPr>
        <p:spPr>
          <a:xfrm>
            <a:off x="3781425" y="32766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5DA8C89-2D96-4592-8078-6D0ED80C13CC}"/>
              </a:ext>
            </a:extLst>
          </p:cNvPr>
          <p:cNvSpPr>
            <a:spLocks noGrp="1"/>
          </p:cNvSpPr>
          <p:nvPr/>
        </p:nvSpPr>
        <p:spPr>
          <a:xfrm>
            <a:off x="4048125" y="32766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599511-998A-4FA0-9FA7-401B268E1074}"/>
              </a:ext>
            </a:extLst>
          </p:cNvPr>
          <p:cNvSpPr>
            <a:spLocks noGrp="1"/>
          </p:cNvSpPr>
          <p:nvPr/>
        </p:nvSpPr>
        <p:spPr>
          <a:xfrm>
            <a:off x="4314825" y="3276600"/>
            <a:ext cx="238125" cy="238125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6E1149-F0F4-4EEF-8714-7E7A9FD97A8E}"/>
              </a:ext>
            </a:extLst>
          </p:cNvPr>
          <p:cNvSpPr>
            <a:spLocks noGrp="1"/>
          </p:cNvSpPr>
          <p:nvPr/>
        </p:nvSpPr>
        <p:spPr>
          <a:xfrm>
            <a:off x="4581525" y="32766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078998F-D689-4A0C-BCD0-6F6359CF6D51}"/>
              </a:ext>
            </a:extLst>
          </p:cNvPr>
          <p:cNvSpPr>
            <a:spLocks noGrp="1"/>
          </p:cNvSpPr>
          <p:nvPr/>
        </p:nvSpPr>
        <p:spPr>
          <a:xfrm>
            <a:off x="37814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7F46A92-8B29-4F70-9E60-494A1A188107}"/>
              </a:ext>
            </a:extLst>
          </p:cNvPr>
          <p:cNvSpPr>
            <a:spLocks noGrp="1"/>
          </p:cNvSpPr>
          <p:nvPr/>
        </p:nvSpPr>
        <p:spPr>
          <a:xfrm>
            <a:off x="40481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61E62C5-97D7-401B-9A1E-CEFECCAD40C2}"/>
              </a:ext>
            </a:extLst>
          </p:cNvPr>
          <p:cNvSpPr>
            <a:spLocks noGrp="1"/>
          </p:cNvSpPr>
          <p:nvPr/>
        </p:nvSpPr>
        <p:spPr>
          <a:xfrm>
            <a:off x="43148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CFC79A-CC91-4AAB-BB00-1436233DA838}"/>
              </a:ext>
            </a:extLst>
          </p:cNvPr>
          <p:cNvSpPr>
            <a:spLocks noGrp="1"/>
          </p:cNvSpPr>
          <p:nvPr/>
        </p:nvSpPr>
        <p:spPr>
          <a:xfrm>
            <a:off x="4581525" y="35433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C4E69736-B32A-443F-9540-915F78125D46}"/>
              </a:ext>
            </a:extLst>
          </p:cNvPr>
          <p:cNvSpPr>
            <a:spLocks noGrp="1"/>
          </p:cNvSpPr>
          <p:nvPr/>
        </p:nvSpPr>
        <p:spPr>
          <a:xfrm>
            <a:off x="4953000" y="3086100"/>
            <a:ext cx="7620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8B90A22-C710-4F7E-834D-7CE4E2CE7220}"/>
              </a:ext>
            </a:extLst>
          </p:cNvPr>
          <p:cNvSpPr>
            <a:spLocks noGrp="1"/>
          </p:cNvSpPr>
          <p:nvPr/>
        </p:nvSpPr>
        <p:spPr>
          <a:xfrm>
            <a:off x="5143500" y="3019425"/>
            <a:ext cx="133350" cy="133350"/>
          </a:xfrm>
          <a:prstGeom prst="ellipse">
            <a:avLst/>
          </a:prstGeom>
          <a:solidFill>
            <a:srgbClr val="10B7C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F1FBA224-AE32-401B-AC20-3265566DB25C}"/>
              </a:ext>
            </a:extLst>
          </p:cNvPr>
          <p:cNvSpPr>
            <a:spLocks noGrp="1"/>
          </p:cNvSpPr>
          <p:nvPr/>
        </p:nvSpPr>
        <p:spPr>
          <a:xfrm>
            <a:off x="4953000" y="3409950"/>
            <a:ext cx="7620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1D85065-603C-491E-BD8A-122A3689DEFD}"/>
              </a:ext>
            </a:extLst>
          </p:cNvPr>
          <p:cNvSpPr>
            <a:spLocks noGrp="1"/>
          </p:cNvSpPr>
          <p:nvPr/>
        </p:nvSpPr>
        <p:spPr>
          <a:xfrm>
            <a:off x="5314950" y="3343275"/>
            <a:ext cx="133350" cy="133350"/>
          </a:xfrm>
          <a:prstGeom prst="ellipse">
            <a:avLst/>
          </a:prstGeom>
          <a:solidFill>
            <a:srgbClr val="10B7C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4D6BB766-ECDB-4B69-82C6-72B711DD0F7F}"/>
              </a:ext>
            </a:extLst>
          </p:cNvPr>
          <p:cNvSpPr>
            <a:spLocks noGrp="1"/>
          </p:cNvSpPr>
          <p:nvPr/>
        </p:nvSpPr>
        <p:spPr>
          <a:xfrm>
            <a:off x="4953000" y="3733800"/>
            <a:ext cx="7620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703C8C7D-0C5B-4998-86B1-2B1333F305DE}"/>
              </a:ext>
            </a:extLst>
          </p:cNvPr>
          <p:cNvSpPr>
            <a:spLocks noGrp="1"/>
          </p:cNvSpPr>
          <p:nvPr/>
        </p:nvSpPr>
        <p:spPr>
          <a:xfrm>
            <a:off x="5486400" y="3667125"/>
            <a:ext cx="133350" cy="133350"/>
          </a:xfrm>
          <a:prstGeom prst="ellipse">
            <a:avLst/>
          </a:prstGeom>
          <a:solidFill>
            <a:srgbClr val="10B7C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707EA07C-FCDD-4846-B963-AED50DC0A15B}"/>
              </a:ext>
            </a:extLst>
          </p:cNvPr>
          <p:cNvSpPr>
            <a:spLocks noGrp="1"/>
          </p:cNvSpPr>
          <p:nvPr/>
        </p:nvSpPr>
        <p:spPr>
          <a:xfrm>
            <a:off x="6724650" y="3390900"/>
            <a:ext cx="971550" cy="0"/>
          </a:xfrm>
          <a:prstGeom prst="line">
            <a:avLst/>
          </a:prstGeom>
          <a:noFill/>
          <a:ln w="1333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753BFDE0-86C4-4EE5-A907-21EC234B6B34}"/>
              </a:ext>
            </a:extLst>
          </p:cNvPr>
          <p:cNvSpPr>
            <a:spLocks noGrp="1"/>
          </p:cNvSpPr>
          <p:nvPr/>
        </p:nvSpPr>
        <p:spPr>
          <a:xfrm>
            <a:off x="6743700" y="33147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9445FDD-79BA-4C31-877E-D4BD0159BC1D}"/>
              </a:ext>
            </a:extLst>
          </p:cNvPr>
          <p:cNvSpPr>
            <a:spLocks noGrp="1"/>
          </p:cNvSpPr>
          <p:nvPr/>
        </p:nvSpPr>
        <p:spPr>
          <a:xfrm>
            <a:off x="7019925" y="33147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B935C417-767A-4C41-8B21-2BD7372812A7}"/>
              </a:ext>
            </a:extLst>
          </p:cNvPr>
          <p:cNvSpPr>
            <a:spLocks noGrp="1"/>
          </p:cNvSpPr>
          <p:nvPr/>
        </p:nvSpPr>
        <p:spPr>
          <a:xfrm>
            <a:off x="7296150" y="33147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CDFCF8DD-A5AD-46D6-963E-0ADBE826691D}"/>
              </a:ext>
            </a:extLst>
          </p:cNvPr>
          <p:cNvSpPr>
            <a:spLocks noGrp="1"/>
          </p:cNvSpPr>
          <p:nvPr/>
        </p:nvSpPr>
        <p:spPr>
          <a:xfrm>
            <a:off x="7572375" y="3314700"/>
            <a:ext cx="152400" cy="152400"/>
          </a:xfrm>
          <a:prstGeom prst="ellipse">
            <a:avLst/>
          </a:prstGeom>
          <a:solidFill>
            <a:srgbClr val="F47A2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0AC85E03-192F-4050-82C8-2A40EB6D2907}"/>
              </a:ext>
            </a:extLst>
          </p:cNvPr>
          <p:cNvSpPr>
            <a:spLocks noGrp="1"/>
          </p:cNvSpPr>
          <p:nvPr/>
        </p:nvSpPr>
        <p:spPr>
          <a:xfrm>
            <a:off x="7791450" y="3314700"/>
            <a:ext cx="247650" cy="171450"/>
          </a:xfrm>
          <a:prstGeom prst="rightArrow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CFB2054-3E9A-46BA-9005-1F690E30725C}"/>
              </a:ext>
            </a:extLst>
          </p:cNvPr>
          <p:cNvSpPr>
            <a:spLocks noGrp="1"/>
          </p:cNvSpPr>
          <p:nvPr/>
        </p:nvSpPr>
        <p:spPr>
          <a:xfrm>
            <a:off x="8134350" y="3028950"/>
            <a:ext cx="533400" cy="723900"/>
          </a:xfrm>
          <a:prstGeom prst="roundRect">
            <a:avLst>
              <a:gd name="adj" fmla="val 14286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5347CC8-929C-4F5F-93B5-21A2996307E9}"/>
              </a:ext>
            </a:extLst>
          </p:cNvPr>
          <p:cNvSpPr>
            <a:spLocks noGrp="1"/>
          </p:cNvSpPr>
          <p:nvPr/>
        </p:nvSpPr>
        <p:spPr>
          <a:xfrm>
            <a:off x="8240268" y="3221355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C93C189-E400-4A00-954A-C80A2D87E931}"/>
              </a:ext>
            </a:extLst>
          </p:cNvPr>
          <p:cNvSpPr>
            <a:spLocks noGrp="1"/>
          </p:cNvSpPr>
          <p:nvPr/>
        </p:nvSpPr>
        <p:spPr>
          <a:xfrm>
            <a:off x="8325993" y="3288030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BEAB51E-0D11-4406-AE40-F471A4F92582}"/>
              </a:ext>
            </a:extLst>
          </p:cNvPr>
          <p:cNvSpPr>
            <a:spLocks noGrp="1"/>
          </p:cNvSpPr>
          <p:nvPr/>
        </p:nvSpPr>
        <p:spPr>
          <a:xfrm>
            <a:off x="9525000" y="2305050"/>
            <a:ext cx="1981200" cy="1657350"/>
          </a:xfrm>
          <a:prstGeom prst="roundRect">
            <a:avLst>
              <a:gd name="adj" fmla="val 10345"/>
            </a:avLst>
          </a:prstGeom>
          <a:solidFill>
            <a:srgbClr val="F6FAFD"/>
          </a:solidFill>
          <a:ln w="14288">
            <a:solidFill>
              <a:srgbClr val="1670D2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有场景和预算限制的</a:t>
            </a:r>
          </a:p>
          <a:p>
            <a:pPr algn="ctr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方法建议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D2FBB12-2698-4880-94F2-70E1C00F187A}"/>
              </a:ext>
            </a:extLst>
          </p:cNvPr>
          <p:cNvSpPr>
            <a:spLocks noGrp="1"/>
          </p:cNvSpPr>
          <p:nvPr/>
        </p:nvSpPr>
        <p:spPr>
          <a:xfrm>
            <a:off x="998409" y="52578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M1 </a:t>
            </a:r>
            <a:r>
              <a:rPr sz="16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16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232EA5B5-4A67-43EC-8167-2A4CAB738202}"/>
              </a:ext>
            </a:extLst>
          </p:cNvPr>
          <p:cNvSpPr>
            <a:spLocks noGrp="1"/>
          </p:cNvSpPr>
          <p:nvPr/>
        </p:nvSpPr>
        <p:spPr>
          <a:xfrm>
            <a:off x="2343150" y="5410200"/>
            <a:ext cx="9163050" cy="0"/>
          </a:xfrm>
          <a:prstGeom prst="line">
            <a:avLst/>
          </a:prstGeom>
          <a:noFill/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BB21026C-0756-4DB7-86BD-B396DB4A348E}"/>
              </a:ext>
            </a:extLst>
          </p:cNvPr>
          <p:cNvSpPr>
            <a:spLocks noGrp="1"/>
          </p:cNvSpPr>
          <p:nvPr/>
        </p:nvSpPr>
        <p:spPr>
          <a:xfrm>
            <a:off x="1619250" y="5943600"/>
            <a:ext cx="8305800" cy="0"/>
          </a:xfrm>
          <a:prstGeom prst="line">
            <a:avLst/>
          </a:prstGeom>
          <a:noFill/>
          <a:ln w="1333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ABA3B4C7-39E8-4EC5-8454-A95329DBBB88}"/>
              </a:ext>
            </a:extLst>
          </p:cNvPr>
          <p:cNvSpPr>
            <a:spLocks noGrp="1"/>
          </p:cNvSpPr>
          <p:nvPr/>
        </p:nvSpPr>
        <p:spPr>
          <a:xfrm>
            <a:off x="144780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5306057-F836-49F3-9E77-D2E472C26043}"/>
              </a:ext>
            </a:extLst>
          </p:cNvPr>
          <p:cNvSpPr>
            <a:spLocks noGrp="1"/>
          </p:cNvSpPr>
          <p:nvPr/>
        </p:nvSpPr>
        <p:spPr>
          <a:xfrm>
            <a:off x="144780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BB08D81-D382-4EC2-81B7-521611127FB1}"/>
              </a:ext>
            </a:extLst>
          </p:cNvPr>
          <p:cNvSpPr>
            <a:spLocks noGrp="1"/>
          </p:cNvSpPr>
          <p:nvPr/>
        </p:nvSpPr>
        <p:spPr>
          <a:xfrm>
            <a:off x="99060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比较对象 ✓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46298B9-BFCE-43D2-BE83-559386DA7238}"/>
              </a:ext>
            </a:extLst>
          </p:cNvPr>
          <p:cNvSpPr>
            <a:spLocks noGrp="1"/>
          </p:cNvSpPr>
          <p:nvPr/>
        </p:nvSpPr>
        <p:spPr>
          <a:xfrm>
            <a:off x="352425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4E34261-2487-405C-B293-787542DB6328}"/>
              </a:ext>
            </a:extLst>
          </p:cNvPr>
          <p:cNvSpPr>
            <a:spLocks noGrp="1"/>
          </p:cNvSpPr>
          <p:nvPr/>
        </p:nvSpPr>
        <p:spPr>
          <a:xfrm>
            <a:off x="352425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BDF5534-5A68-493F-9DBF-32EB6D0AD725}"/>
              </a:ext>
            </a:extLst>
          </p:cNvPr>
          <p:cNvSpPr>
            <a:spLocks noGrp="1"/>
          </p:cNvSpPr>
          <p:nvPr/>
        </p:nvSpPr>
        <p:spPr>
          <a:xfrm>
            <a:off x="306705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控制条件 ✓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AFBE2607-BAA7-4F6E-B018-9A1E718BD47C}"/>
              </a:ext>
            </a:extLst>
          </p:cNvPr>
          <p:cNvSpPr>
            <a:spLocks noGrp="1"/>
          </p:cNvSpPr>
          <p:nvPr/>
        </p:nvSpPr>
        <p:spPr>
          <a:xfrm>
            <a:off x="560070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BD8A47E-DC93-4931-8AFE-4ED5309C3CDA}"/>
              </a:ext>
            </a:extLst>
          </p:cNvPr>
          <p:cNvSpPr>
            <a:spLocks noGrp="1"/>
          </p:cNvSpPr>
          <p:nvPr/>
        </p:nvSpPr>
        <p:spPr>
          <a:xfrm>
            <a:off x="560070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F914A5D-A63A-4DF2-AE99-10C1F100AB01}"/>
              </a:ext>
            </a:extLst>
          </p:cNvPr>
          <p:cNvSpPr>
            <a:spLocks noGrp="1"/>
          </p:cNvSpPr>
          <p:nvPr/>
        </p:nvSpPr>
        <p:spPr>
          <a:xfrm>
            <a:off x="514350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预算单位 ✓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0DD36A07-7763-4D21-99E9-1A4CE6F103B2}"/>
              </a:ext>
            </a:extLst>
          </p:cNvPr>
          <p:cNvSpPr>
            <a:spLocks noGrp="1"/>
          </p:cNvSpPr>
          <p:nvPr/>
        </p:nvSpPr>
        <p:spPr>
          <a:xfrm>
            <a:off x="767715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82C6315-E17D-498D-AE2B-02872C6894CB}"/>
              </a:ext>
            </a:extLst>
          </p:cNvPr>
          <p:cNvSpPr>
            <a:spLocks noGrp="1"/>
          </p:cNvSpPr>
          <p:nvPr/>
        </p:nvSpPr>
        <p:spPr>
          <a:xfrm>
            <a:off x="767715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D6A0811-9C0B-436A-A703-1E079E449E23}"/>
              </a:ext>
            </a:extLst>
          </p:cNvPr>
          <p:cNvSpPr>
            <a:spLocks noGrp="1"/>
          </p:cNvSpPr>
          <p:nvPr/>
        </p:nvSpPr>
        <p:spPr>
          <a:xfrm>
            <a:off x="721995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评价维度 ✓</a:t>
            </a: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04C954E3-1F87-4036-90AD-4415359187A0}"/>
              </a:ext>
            </a:extLst>
          </p:cNvPr>
          <p:cNvSpPr>
            <a:spLocks noGrp="1"/>
          </p:cNvSpPr>
          <p:nvPr/>
        </p:nvSpPr>
        <p:spPr>
          <a:xfrm>
            <a:off x="9753600" y="5791200"/>
            <a:ext cx="304800" cy="3048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ADFBCFE-2D33-4D79-9CF2-8A459657B8FE}"/>
              </a:ext>
            </a:extLst>
          </p:cNvPr>
          <p:cNvSpPr>
            <a:spLocks noGrp="1"/>
          </p:cNvSpPr>
          <p:nvPr/>
        </p:nvSpPr>
        <p:spPr>
          <a:xfrm>
            <a:off x="9753600" y="57912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58C7BA-E76D-4712-93DE-31DC34B86E4C}"/>
              </a:ext>
            </a:extLst>
          </p:cNvPr>
          <p:cNvSpPr>
            <a:spLocks noGrp="1"/>
          </p:cNvSpPr>
          <p:nvPr/>
        </p:nvSpPr>
        <p:spPr>
          <a:xfrm>
            <a:off x="9296400" y="6191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后续里程碑 ✓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152019E-F15D-B11E-605D-A9B21096CA52}"/>
              </a:ext>
            </a:extLst>
          </p:cNvPr>
          <p:cNvSpPr>
            <a:spLocks noGrp="1"/>
          </p:cNvSpPr>
          <p:nvPr/>
        </p:nvSpPr>
        <p:spPr>
          <a:xfrm>
            <a:off x="2109663" y="3822702"/>
            <a:ext cx="895350" cy="1846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模型调用次数</a:t>
            </a:r>
            <a:endParaRPr sz="10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A6F03EDD-73AC-F93B-575A-3E7DD3901B74}"/>
              </a:ext>
            </a:extLst>
          </p:cNvPr>
          <p:cNvSpPr>
            <a:spLocks noGrp="1"/>
          </p:cNvSpPr>
          <p:nvPr/>
        </p:nvSpPr>
        <p:spPr>
          <a:xfrm flipV="1">
            <a:off x="1006230" y="2970825"/>
            <a:ext cx="0" cy="79057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CF0ED72-F95C-8C2B-EE99-E23224DBAE3D}"/>
              </a:ext>
            </a:extLst>
          </p:cNvPr>
          <p:cNvSpPr>
            <a:spLocks noGrp="1"/>
          </p:cNvSpPr>
          <p:nvPr/>
        </p:nvSpPr>
        <p:spPr>
          <a:xfrm>
            <a:off x="2021500" y="2586036"/>
            <a:ext cx="693125" cy="740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rgbClr val="DF6F21"/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600" b="1" dirty="0">
              <a:solidFill>
                <a:srgbClr val="DF6F2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5474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2F168BED-37FF-4BAA-8D30-C6392A6534C6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D8C2A2-C1DE-41C2-B8BE-86E45447A68C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两个数据域与两种模型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26868E-8EB4-4762-A8D3-8439AD653D89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937789-B7A5-487B-A36D-1D39ECB6571A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自然图像｜ImageNet</a:t>
            </a: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rcRect t="14706" b="14706"/>
          <a:stretch>
            <a:fillRect/>
          </a:stretch>
        </p:blipFill>
        <p:spPr>
          <a:xfrm>
            <a:off x="685800" y="1504950"/>
            <a:ext cx="2428875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2C7A491-BE3C-410E-99C7-826CF199A9E5}"/>
              </a:ext>
            </a:extLst>
          </p:cNvPr>
          <p:cNvSpPr>
            <a:spLocks noGrp="1"/>
          </p:cNvSpPr>
          <p:nvPr/>
        </p:nvSpPr>
        <p:spPr>
          <a:xfrm>
            <a:off x="1314450" y="1654399"/>
            <a:ext cx="1181100" cy="1066800"/>
          </a:xfrm>
          <a:prstGeom prst="rect">
            <a:avLst/>
          </a:prstGeom>
          <a:noFill/>
          <a:ln w="28575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C4EDE1-97FE-45B5-AE64-B4546089EB66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2428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500 张图像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2791C5-F467-42E6-8282-227C34893AD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定位标注：目标边界框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0AAD68-18A5-4DB1-9F1E-038BF6563BF1}"/>
              </a:ext>
            </a:extLst>
          </p:cNvPr>
          <p:cNvSpPr>
            <a:spLocks noGrp="1"/>
          </p:cNvSpPr>
          <p:nvPr/>
        </p:nvSpPr>
        <p:spPr>
          <a:xfrm>
            <a:off x="8572500" y="1104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医学影像｜CHNCXR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43950" y="1504950"/>
            <a:ext cx="1714500" cy="1714500"/>
          </a:xfrm>
          <a:prstGeom prst="roundRect">
            <a:avLst>
              <a:gd name="adj" fmla="val 6667"/>
            </a:avLst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64E57D1-0704-4568-9728-2C2FBD3DDD8E}"/>
              </a:ext>
            </a:extLst>
          </p:cNvPr>
          <p:cNvSpPr>
            <a:spLocks noGrp="1"/>
          </p:cNvSpPr>
          <p:nvPr/>
        </p:nvSpPr>
        <p:spPr>
          <a:xfrm>
            <a:off x="8815618" y="4155279"/>
            <a:ext cx="1009650" cy="342900"/>
          </a:xfrm>
          <a:prstGeom prst="roundRect">
            <a:avLst>
              <a:gd name="adj" fmla="val 33333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dirty="0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336 </a:t>
            </a:r>
            <a:r>
              <a:rPr sz="1300" b="1" dirty="0" err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阳性</a:t>
            </a:r>
            <a:endParaRPr sz="1300" b="1" dirty="0">
              <a:solidFill>
                <a:srgbClr val="F47A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65F41F-1759-43AF-A95C-CDE038F9DDED}"/>
              </a:ext>
            </a:extLst>
          </p:cNvPr>
          <p:cNvSpPr>
            <a:spLocks noGrp="1"/>
          </p:cNvSpPr>
          <p:nvPr/>
        </p:nvSpPr>
        <p:spPr>
          <a:xfrm>
            <a:off x="9890582" y="4341581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330 </a:t>
            </a:r>
            <a:r>
              <a:rPr sz="1200" b="1" dirty="0" err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有病灶标注</a:t>
            </a:r>
            <a:endParaRPr sz="1200" b="1" dirty="0">
              <a:solidFill>
                <a:srgbClr val="167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1A89A5-F226-4845-BE3D-F2E309005084}"/>
              </a:ext>
            </a:extLst>
          </p:cNvPr>
          <p:cNvSpPr>
            <a:spLocks noGrp="1"/>
          </p:cNvSpPr>
          <p:nvPr/>
        </p:nvSpPr>
        <p:spPr>
          <a:xfrm>
            <a:off x="9809846" y="4007487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6 </a:t>
            </a:r>
            <a:r>
              <a:rPr sz="120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无病灶标注</a:t>
            </a:r>
            <a:endParaRPr sz="120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E37557-B243-45DE-A047-01360B560F52}"/>
              </a:ext>
            </a:extLst>
          </p:cNvPr>
          <p:cNvSpPr>
            <a:spLocks noGrp="1"/>
          </p:cNvSpPr>
          <p:nvPr/>
        </p:nvSpPr>
        <p:spPr>
          <a:xfrm>
            <a:off x="8826670" y="4632570"/>
            <a:ext cx="3109722" cy="4325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1153 </a:t>
            </a:r>
            <a:r>
              <a:rPr sz="11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个逐病灶</a:t>
            </a:r>
            <a:r>
              <a:rPr sz="11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mask  →  330 </a:t>
            </a:r>
            <a:r>
              <a:rPr sz="11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个逐图病灶并集</a:t>
            </a:r>
            <a:endParaRPr sz="11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98D379-076E-4DCE-8BC7-6379FD911A43}"/>
              </a:ext>
            </a:extLst>
          </p:cNvPr>
          <p:cNvSpPr>
            <a:spLocks noGrp="1"/>
          </p:cNvSpPr>
          <p:nvPr/>
        </p:nvSpPr>
        <p:spPr>
          <a:xfrm>
            <a:off x="3943350" y="12001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分类模型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120D76B-AA23-40FD-8FC1-70788476FCF2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1428750" cy="590550"/>
          </a:xfrm>
          <a:prstGeom prst="roundRect">
            <a:avLst>
              <a:gd name="adj" fmla="val 22581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ResNet-50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40C5C97-C000-496C-B3C3-0DED9E6F9E98}"/>
              </a:ext>
            </a:extLst>
          </p:cNvPr>
          <p:cNvSpPr>
            <a:spLocks noGrp="1"/>
          </p:cNvSpPr>
          <p:nvPr/>
        </p:nvSpPr>
        <p:spPr>
          <a:xfrm>
            <a:off x="5962650" y="1619250"/>
            <a:ext cx="1428750" cy="590550"/>
          </a:xfrm>
          <a:prstGeom prst="roundRect">
            <a:avLst>
              <a:gd name="adj" fmla="val 22581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VGG13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B66E75-4D4A-442B-97E0-43F015E6DFBC}"/>
              </a:ext>
            </a:extLst>
          </p:cNvPr>
          <p:cNvSpPr>
            <a:spLocks noGrp="1"/>
          </p:cNvSpPr>
          <p:nvPr/>
        </p:nvSpPr>
        <p:spPr>
          <a:xfrm>
            <a:off x="3886200" y="2476500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数据域 × 模型：4 个分析组合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BBAD4BE-5015-4DE9-A75D-17858CC88FEC}"/>
              </a:ext>
            </a:extLst>
          </p:cNvPr>
          <p:cNvSpPr>
            <a:spLocks noGrp="1"/>
          </p:cNvSpPr>
          <p:nvPr/>
        </p:nvSpPr>
        <p:spPr>
          <a:xfrm>
            <a:off x="3886200" y="287655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ImageNet</a:t>
            </a: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ResNet-50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D24B79E-4EBA-4ABC-BD15-920A85423220}"/>
              </a:ext>
            </a:extLst>
          </p:cNvPr>
          <p:cNvSpPr>
            <a:spLocks noGrp="1"/>
          </p:cNvSpPr>
          <p:nvPr/>
        </p:nvSpPr>
        <p:spPr>
          <a:xfrm>
            <a:off x="5753100" y="287655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ImageNet</a:t>
            </a: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VGG13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78AC560-2AB0-4A32-95A7-19044506EF81}"/>
              </a:ext>
            </a:extLst>
          </p:cNvPr>
          <p:cNvSpPr>
            <a:spLocks noGrp="1"/>
          </p:cNvSpPr>
          <p:nvPr/>
        </p:nvSpPr>
        <p:spPr>
          <a:xfrm>
            <a:off x="3886200" y="346710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</a:t>
            </a: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ResNet-50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7D1F509-768A-4C73-AEE2-276274FCB85D}"/>
              </a:ext>
            </a:extLst>
          </p:cNvPr>
          <p:cNvSpPr>
            <a:spLocks noGrp="1"/>
          </p:cNvSpPr>
          <p:nvPr/>
        </p:nvSpPr>
        <p:spPr>
          <a:xfrm>
            <a:off x="5753100" y="3467100"/>
            <a:ext cx="1714500" cy="476250"/>
          </a:xfrm>
          <a:prstGeom prst="roundRect">
            <a:avLst>
              <a:gd name="adj" fmla="val 20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</a:t>
            </a: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VGG13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236CE0C5-F41C-4B0B-AB53-7BC0434044C3}"/>
              </a:ext>
            </a:extLst>
          </p:cNvPr>
          <p:cNvSpPr>
            <a:spLocks noGrp="1"/>
          </p:cNvSpPr>
          <p:nvPr/>
        </p:nvSpPr>
        <p:spPr>
          <a:xfrm>
            <a:off x="3200400" y="2266950"/>
            <a:ext cx="55245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D928998-24B4-4F80-BDB8-65CC17ACACFB}"/>
              </a:ext>
            </a:extLst>
          </p:cNvPr>
          <p:cNvSpPr>
            <a:spLocks noGrp="1"/>
          </p:cNvSpPr>
          <p:nvPr/>
        </p:nvSpPr>
        <p:spPr>
          <a:xfrm>
            <a:off x="4095750" y="4229100"/>
            <a:ext cx="4000500" cy="457200"/>
          </a:xfrm>
          <a:prstGeom prst="roundRect">
            <a:avLst>
              <a:gd name="adj" fmla="val 29167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共同分类正确样本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A4C253-1CC9-495F-BAEE-08C13D16D264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共同正确筛选确保不同模型和方法比较同一批图像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21FFD01-97A6-4B91-891A-9949D21204B4}"/>
              </a:ext>
            </a:extLst>
          </p:cNvPr>
          <p:cNvSpPr>
            <a:spLocks noGrp="1"/>
          </p:cNvSpPr>
          <p:nvPr/>
        </p:nvSpPr>
        <p:spPr>
          <a:xfrm>
            <a:off x="6858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① 解释正确类别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71386937-251A-4E9D-8F8E-13CA15740448}"/>
              </a:ext>
            </a:extLst>
          </p:cNvPr>
          <p:cNvSpPr>
            <a:spLocks noGrp="1"/>
          </p:cNvSpPr>
          <p:nvPr/>
        </p:nvSpPr>
        <p:spPr>
          <a:xfrm>
            <a:off x="33909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② pre-Softmax logit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AC0B4EA3-57DB-4D24-9074-108CE60E202C}"/>
              </a:ext>
            </a:extLst>
          </p:cNvPr>
          <p:cNvSpPr>
            <a:spLocks noGrp="1"/>
          </p:cNvSpPr>
          <p:nvPr/>
        </p:nvSpPr>
        <p:spPr>
          <a:xfrm>
            <a:off x="60960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③ 完整图像缩放</a:t>
            </a:r>
          </a:p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224 × 224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A566D31-3E71-4EC9-859D-DD610675E850}"/>
              </a:ext>
            </a:extLst>
          </p:cNvPr>
          <p:cNvSpPr>
            <a:spLocks noGrp="1"/>
          </p:cNvSpPr>
          <p:nvPr/>
        </p:nvSpPr>
        <p:spPr>
          <a:xfrm>
            <a:off x="8801100" y="5272286"/>
            <a:ext cx="25336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④ mask 最近邻插值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06B6232-6595-4B95-96E0-DA7BB3967455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阴性样本和无掩码阳性样本可用于忠实性、稳定性和效率评价，不计算定位性。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3BD9DF3-8ECA-3E9E-A5C8-A0AF59CB2626}"/>
              </a:ext>
            </a:extLst>
          </p:cNvPr>
          <p:cNvSpPr>
            <a:spLocks noGrp="1"/>
          </p:cNvSpPr>
          <p:nvPr/>
        </p:nvSpPr>
        <p:spPr>
          <a:xfrm flipH="1">
            <a:off x="7848600" y="2266950"/>
            <a:ext cx="552450" cy="2667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489452-BDC4-1C16-4CFD-BE3FB306143B}"/>
              </a:ext>
            </a:extLst>
          </p:cNvPr>
          <p:cNvSpPr>
            <a:spLocks noGrp="1"/>
          </p:cNvSpPr>
          <p:nvPr/>
        </p:nvSpPr>
        <p:spPr>
          <a:xfrm>
            <a:off x="9021239" y="3263367"/>
            <a:ext cx="111093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6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662 </a:t>
            </a:r>
            <a:r>
              <a:rPr sz="1600" b="1" dirty="0" err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张胸片</a:t>
            </a:r>
            <a:endParaRPr sz="1600" b="1" dirty="0">
              <a:solidFill>
                <a:srgbClr val="167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17371D4-A213-641C-6A88-5BA1C8D414FF}"/>
              </a:ext>
            </a:extLst>
          </p:cNvPr>
          <p:cNvSpPr>
            <a:spLocks noGrp="1"/>
          </p:cNvSpPr>
          <p:nvPr/>
        </p:nvSpPr>
        <p:spPr>
          <a:xfrm>
            <a:off x="8806248" y="3683432"/>
            <a:ext cx="1009650" cy="342900"/>
          </a:xfrm>
          <a:prstGeom prst="roundRect">
            <a:avLst>
              <a:gd name="adj" fmla="val 33333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dirty="0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326 </a:t>
            </a:r>
            <a:r>
              <a:rPr sz="1300" b="1" dirty="0" err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阴性</a:t>
            </a:r>
            <a:endParaRPr sz="1300" b="1" dirty="0">
              <a:solidFill>
                <a:srgbClr val="1670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1E71816-135D-2C88-4D9A-E6AE1B2DE512}"/>
              </a:ext>
            </a:extLst>
          </p:cNvPr>
          <p:cNvSpPr>
            <a:spLocks noGrp="1"/>
          </p:cNvSpPr>
          <p:nvPr/>
        </p:nvSpPr>
        <p:spPr>
          <a:xfrm>
            <a:off x="10620375" y="1803718"/>
            <a:ext cx="266700" cy="266700"/>
          </a:xfrm>
          <a:prstGeom prst="roundRect">
            <a:avLst>
              <a:gd name="adj" fmla="val 17857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EFE0A04B-4215-3627-14B7-B763D8082912}"/>
              </a:ext>
            </a:extLst>
          </p:cNvPr>
          <p:cNvSpPr>
            <a:spLocks noGrp="1"/>
          </p:cNvSpPr>
          <p:nvPr/>
        </p:nvSpPr>
        <p:spPr>
          <a:xfrm>
            <a:off x="10696575" y="1870393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0D444834-D416-ED3C-C4E5-D4599D9F9C30}"/>
              </a:ext>
            </a:extLst>
          </p:cNvPr>
          <p:cNvSpPr>
            <a:spLocks noGrp="1"/>
          </p:cNvSpPr>
          <p:nvPr/>
        </p:nvSpPr>
        <p:spPr>
          <a:xfrm>
            <a:off x="10944225" y="1803718"/>
            <a:ext cx="266700" cy="266700"/>
          </a:xfrm>
          <a:prstGeom prst="roundRect">
            <a:avLst>
              <a:gd name="adj" fmla="val 17857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A89FF503-47DE-5EC6-DB24-4CDDB4BA28D3}"/>
              </a:ext>
            </a:extLst>
          </p:cNvPr>
          <p:cNvSpPr>
            <a:spLocks noGrp="1"/>
          </p:cNvSpPr>
          <p:nvPr/>
        </p:nvSpPr>
        <p:spPr>
          <a:xfrm>
            <a:off x="11068050" y="1908493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A08573B-25F5-5444-155B-D601CD6769E3}"/>
              </a:ext>
            </a:extLst>
          </p:cNvPr>
          <p:cNvSpPr>
            <a:spLocks noGrp="1"/>
          </p:cNvSpPr>
          <p:nvPr/>
        </p:nvSpPr>
        <p:spPr>
          <a:xfrm>
            <a:off x="11268075" y="1803718"/>
            <a:ext cx="266700" cy="266700"/>
          </a:xfrm>
          <a:prstGeom prst="roundRect">
            <a:avLst>
              <a:gd name="adj" fmla="val 17857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2ECDBF1E-D28B-F72E-E842-36CF884B68FA}"/>
              </a:ext>
            </a:extLst>
          </p:cNvPr>
          <p:cNvSpPr>
            <a:spLocks noGrp="1"/>
          </p:cNvSpPr>
          <p:nvPr/>
        </p:nvSpPr>
        <p:spPr>
          <a:xfrm>
            <a:off x="11344275" y="1870393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66B64E4-E7B5-154E-1A73-CD69614A5CEB}"/>
              </a:ext>
            </a:extLst>
          </p:cNvPr>
          <p:cNvSpPr>
            <a:spLocks noGrp="1"/>
          </p:cNvSpPr>
          <p:nvPr/>
        </p:nvSpPr>
        <p:spPr>
          <a:xfrm>
            <a:off x="11591925" y="1803718"/>
            <a:ext cx="266700" cy="266700"/>
          </a:xfrm>
          <a:prstGeom prst="roundRect">
            <a:avLst>
              <a:gd name="adj" fmla="val 17857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2C06FF41-5F9D-F674-1A3C-205E9B9B4AF2}"/>
              </a:ext>
            </a:extLst>
          </p:cNvPr>
          <p:cNvSpPr>
            <a:spLocks noGrp="1"/>
          </p:cNvSpPr>
          <p:nvPr/>
        </p:nvSpPr>
        <p:spPr>
          <a:xfrm>
            <a:off x="11715750" y="1908493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49053424-63B9-A722-65AB-49CFAD404AFC}"/>
              </a:ext>
            </a:extLst>
          </p:cNvPr>
          <p:cNvSpPr>
            <a:spLocks noGrp="1"/>
          </p:cNvSpPr>
          <p:nvPr/>
        </p:nvSpPr>
        <p:spPr>
          <a:xfrm rot="5400000">
            <a:off x="11077575" y="2297589"/>
            <a:ext cx="342900" cy="228600"/>
          </a:xfrm>
          <a:prstGeom prst="rightArrow">
            <a:avLst/>
          </a:prstGeom>
          <a:solidFill>
            <a:srgbClr val="6AAAF0"/>
          </a:solidFill>
          <a:ln w="0">
            <a:solidFill>
              <a:srgbClr val="6AAA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2AB47F69-7694-B341-3976-9D8A221C57EE}"/>
              </a:ext>
            </a:extLst>
          </p:cNvPr>
          <p:cNvSpPr>
            <a:spLocks noGrp="1"/>
          </p:cNvSpPr>
          <p:nvPr/>
        </p:nvSpPr>
        <p:spPr>
          <a:xfrm>
            <a:off x="10829471" y="2671771"/>
            <a:ext cx="876300" cy="495300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153BAA7A-80D3-162F-0662-29CB63AF7F2D}"/>
              </a:ext>
            </a:extLst>
          </p:cNvPr>
          <p:cNvSpPr>
            <a:spLocks noGrp="1"/>
          </p:cNvSpPr>
          <p:nvPr/>
        </p:nvSpPr>
        <p:spPr>
          <a:xfrm>
            <a:off x="11061119" y="2795977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0F9E9124-2BE9-3180-0E65-01367E85BD34}"/>
              </a:ext>
            </a:extLst>
          </p:cNvPr>
          <p:cNvSpPr>
            <a:spLocks noGrp="1"/>
          </p:cNvSpPr>
          <p:nvPr/>
        </p:nvSpPr>
        <p:spPr>
          <a:xfrm>
            <a:off x="11146844" y="2862652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001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>
            <a:extLst>
              <a:ext uri="{FF2B5EF4-FFF2-40B4-BE49-F238E27FC236}">
                <a16:creationId xmlns:a16="http://schemas.microsoft.com/office/drawing/2014/main" id="{68BAD488-06C8-40F5-9AD6-5C576D08AEB5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12E73E-4F7A-41F4-90DA-ECEB107CAFF6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四种核心归因方法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2CCFE3-DF79-444A-82CB-5AAF497A12D4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BDBA661-2AB7-476F-9356-B4380C55276C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FB28CBB-A2F5-465A-B4EC-8FA5EA8772F7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7B130F-CA07-4670-AB10-06E3CEEE54F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5410AF-1F2A-41D7-A798-308198998D28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逐个遮蔽 SLIC 区域</a:t>
            </a:r>
          </a:p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直接消融基线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422B005-CCAB-4544-9EAE-14920262B02C}"/>
              </a:ext>
            </a:extLst>
          </p:cNvPr>
          <p:cNvSpPr>
            <a:spLocks noGrp="1"/>
          </p:cNvSpPr>
          <p:nvPr/>
        </p:nvSpPr>
        <p:spPr>
          <a:xfrm>
            <a:off x="33718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6CAA906-F8AE-4A2F-ACAF-07FD59145771}"/>
              </a:ext>
            </a:extLst>
          </p:cNvPr>
          <p:cNvSpPr>
            <a:spLocks noGrp="1"/>
          </p:cNvSpPr>
          <p:nvPr/>
        </p:nvSpPr>
        <p:spPr>
          <a:xfrm>
            <a:off x="33718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629F0F-14FD-4FA3-9142-47E71422E4E1}"/>
              </a:ext>
            </a:extLst>
          </p:cNvPr>
          <p:cNvSpPr>
            <a:spLocks noGrp="1"/>
          </p:cNvSpPr>
          <p:nvPr/>
        </p:nvSpPr>
        <p:spPr>
          <a:xfrm>
            <a:off x="35052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LIME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C3686-4B54-4190-8E9C-633C6C0E4584}"/>
              </a:ext>
            </a:extLst>
          </p:cNvPr>
          <p:cNvSpPr>
            <a:spLocks noGrp="1"/>
          </p:cNvSpPr>
          <p:nvPr/>
        </p:nvSpPr>
        <p:spPr>
          <a:xfrm>
            <a:off x="35242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超像素开关空间</a:t>
            </a:r>
          </a:p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局部线性代理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49EE7A7-9E0F-4606-A156-F0D4BC5393A3}"/>
              </a:ext>
            </a:extLst>
          </p:cNvPr>
          <p:cNvSpPr>
            <a:spLocks noGrp="1"/>
          </p:cNvSpPr>
          <p:nvPr/>
        </p:nvSpPr>
        <p:spPr>
          <a:xfrm>
            <a:off x="62293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EDC6619-E1AE-48D7-909A-2EECBF1310C9}"/>
              </a:ext>
            </a:extLst>
          </p:cNvPr>
          <p:cNvSpPr>
            <a:spLocks noGrp="1"/>
          </p:cNvSpPr>
          <p:nvPr/>
        </p:nvSpPr>
        <p:spPr>
          <a:xfrm>
            <a:off x="62293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85A4CA-D4A3-4E1E-B7F9-01C5CAF93270}"/>
              </a:ext>
            </a:extLst>
          </p:cNvPr>
          <p:cNvSpPr>
            <a:spLocks noGrp="1"/>
          </p:cNvSpPr>
          <p:nvPr/>
        </p:nvSpPr>
        <p:spPr>
          <a:xfrm>
            <a:off x="63627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56DABC-BAA0-4E4B-B235-DF7ED5A974E0}"/>
              </a:ext>
            </a:extLst>
          </p:cNvPr>
          <p:cNvSpPr>
            <a:spLocks noGrp="1"/>
          </p:cNvSpPr>
          <p:nvPr/>
        </p:nvSpPr>
        <p:spPr>
          <a:xfrm>
            <a:off x="63817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随机网格软掩码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105A688-F4A9-4B26-A546-17379FBB66D0}"/>
              </a:ext>
            </a:extLst>
          </p:cNvPr>
          <p:cNvSpPr>
            <a:spLocks noGrp="1"/>
          </p:cNvSpPr>
          <p:nvPr/>
        </p:nvSpPr>
        <p:spPr>
          <a:xfrm>
            <a:off x="9086850" y="1200150"/>
            <a:ext cx="2590800" cy="2724150"/>
          </a:xfrm>
          <a:prstGeom prst="roundRect">
            <a:avLst>
              <a:gd name="adj" fmla="val 5515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57BC3B1-C231-4097-87B8-89BD906B1E6A}"/>
              </a:ext>
            </a:extLst>
          </p:cNvPr>
          <p:cNvSpPr>
            <a:spLocks noGrp="1"/>
          </p:cNvSpPr>
          <p:nvPr/>
        </p:nvSpPr>
        <p:spPr>
          <a:xfrm>
            <a:off x="9086850" y="1200150"/>
            <a:ext cx="2590800" cy="552450"/>
          </a:xfrm>
          <a:prstGeom prst="roundRect">
            <a:avLst>
              <a:gd name="adj" fmla="val 25862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893226-CC00-4836-956B-0864A672D242}"/>
              </a:ext>
            </a:extLst>
          </p:cNvPr>
          <p:cNvSpPr>
            <a:spLocks noGrp="1"/>
          </p:cNvSpPr>
          <p:nvPr/>
        </p:nvSpPr>
        <p:spPr>
          <a:xfrm>
            <a:off x="9220200" y="1295400"/>
            <a:ext cx="232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KernelSHAP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60DFEC-B5B5-4A1C-83A6-F7F6DDBA82E8}"/>
              </a:ext>
            </a:extLst>
          </p:cNvPr>
          <p:cNvSpPr>
            <a:spLocks noGrp="1"/>
          </p:cNvSpPr>
          <p:nvPr/>
        </p:nvSpPr>
        <p:spPr>
          <a:xfrm>
            <a:off x="9239250" y="186690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SHAP 核加权回归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362013-30A4-4EC1-B9E2-F6FA6F64E51F}"/>
              </a:ext>
            </a:extLst>
          </p:cNvPr>
          <p:cNvSpPr>
            <a:spLocks noGrp="1"/>
          </p:cNvSpPr>
          <p:nvPr/>
        </p:nvSpPr>
        <p:spPr>
          <a:xfrm>
            <a:off x="109684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6910F7-46D1-4761-8C97-B645B4CBDCB1}"/>
              </a:ext>
            </a:extLst>
          </p:cNvPr>
          <p:cNvSpPr>
            <a:spLocks noGrp="1"/>
          </p:cNvSpPr>
          <p:nvPr/>
        </p:nvSpPr>
        <p:spPr>
          <a:xfrm>
            <a:off x="145879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8CBB37-CD2F-40F4-AE62-1F6346B0D7A9}"/>
              </a:ext>
            </a:extLst>
          </p:cNvPr>
          <p:cNvSpPr>
            <a:spLocks noGrp="1"/>
          </p:cNvSpPr>
          <p:nvPr/>
        </p:nvSpPr>
        <p:spPr>
          <a:xfrm>
            <a:off x="182074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BACD4A-E1A0-4FFE-9AA6-33B33996A431}"/>
              </a:ext>
            </a:extLst>
          </p:cNvPr>
          <p:cNvSpPr>
            <a:spLocks noGrp="1"/>
          </p:cNvSpPr>
          <p:nvPr/>
        </p:nvSpPr>
        <p:spPr>
          <a:xfrm>
            <a:off x="2182696" y="25129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A3D772-A7C9-485A-9791-EC3AB1AD0304}"/>
              </a:ext>
            </a:extLst>
          </p:cNvPr>
          <p:cNvSpPr>
            <a:spLocks noGrp="1"/>
          </p:cNvSpPr>
          <p:nvPr/>
        </p:nvSpPr>
        <p:spPr>
          <a:xfrm>
            <a:off x="1096846" y="287494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D52CEBE-2C3F-4073-8A69-F02C32DE2B3E}"/>
              </a:ext>
            </a:extLst>
          </p:cNvPr>
          <p:cNvSpPr>
            <a:spLocks noGrp="1"/>
          </p:cNvSpPr>
          <p:nvPr/>
        </p:nvSpPr>
        <p:spPr>
          <a:xfrm>
            <a:off x="1458796" y="287494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6D9E70-9329-4441-9500-7760C7A628BD}"/>
              </a:ext>
            </a:extLst>
          </p:cNvPr>
          <p:cNvSpPr>
            <a:spLocks noGrp="1"/>
          </p:cNvSpPr>
          <p:nvPr/>
        </p:nvSpPr>
        <p:spPr>
          <a:xfrm>
            <a:off x="1820746" y="2874942"/>
            <a:ext cx="323850" cy="3238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799E33-A8BE-431D-BAD5-2B063AB3DA08}"/>
              </a:ext>
            </a:extLst>
          </p:cNvPr>
          <p:cNvSpPr>
            <a:spLocks noGrp="1"/>
          </p:cNvSpPr>
          <p:nvPr/>
        </p:nvSpPr>
        <p:spPr>
          <a:xfrm>
            <a:off x="2182696" y="287494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8D4733-6E38-4D01-9B1E-FCD61A6CE82A}"/>
              </a:ext>
            </a:extLst>
          </p:cNvPr>
          <p:cNvSpPr>
            <a:spLocks noGrp="1"/>
          </p:cNvSpPr>
          <p:nvPr/>
        </p:nvSpPr>
        <p:spPr>
          <a:xfrm>
            <a:off x="109684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3B5DC75-6945-487F-8460-C7E1B75B9B0B}"/>
              </a:ext>
            </a:extLst>
          </p:cNvPr>
          <p:cNvSpPr>
            <a:spLocks noGrp="1"/>
          </p:cNvSpPr>
          <p:nvPr/>
        </p:nvSpPr>
        <p:spPr>
          <a:xfrm>
            <a:off x="145879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02D2CD-0F5E-4A17-B798-D021EF85323B}"/>
              </a:ext>
            </a:extLst>
          </p:cNvPr>
          <p:cNvSpPr>
            <a:spLocks noGrp="1"/>
          </p:cNvSpPr>
          <p:nvPr/>
        </p:nvSpPr>
        <p:spPr>
          <a:xfrm>
            <a:off x="182074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0EE8DD-4C10-4146-8217-419B2690CD3B}"/>
              </a:ext>
            </a:extLst>
          </p:cNvPr>
          <p:cNvSpPr>
            <a:spLocks noGrp="1"/>
          </p:cNvSpPr>
          <p:nvPr/>
        </p:nvSpPr>
        <p:spPr>
          <a:xfrm>
            <a:off x="2182696" y="3236892"/>
            <a:ext cx="323850" cy="3238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44793A-5E36-436D-95AB-8B4875FB24B1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归一化零基线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FAB1B5-C840-470D-B615-96B8042852B3}"/>
              </a:ext>
            </a:extLst>
          </p:cNvPr>
          <p:cNvSpPr>
            <a:spLocks noGrp="1"/>
          </p:cNvSpPr>
          <p:nvPr/>
        </p:nvSpPr>
        <p:spPr>
          <a:xfrm>
            <a:off x="3562350" y="2423647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1  0  1  1  0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598172C-F329-4714-8BF3-0DEBFDD2DEAF}"/>
              </a:ext>
            </a:extLst>
          </p:cNvPr>
          <p:cNvSpPr>
            <a:spLocks noGrp="1"/>
          </p:cNvSpPr>
          <p:nvPr/>
        </p:nvSpPr>
        <p:spPr>
          <a:xfrm>
            <a:off x="4286250" y="295275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5A313D7-B6E4-483D-ADB4-F374157E0E96}"/>
              </a:ext>
            </a:extLst>
          </p:cNvPr>
          <p:cNvSpPr>
            <a:spLocks noGrp="1"/>
          </p:cNvSpPr>
          <p:nvPr/>
        </p:nvSpPr>
        <p:spPr>
          <a:xfrm>
            <a:off x="4781550" y="27051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4F8743E-7E28-45A5-99AE-A3E0DE1FF2B0}"/>
              </a:ext>
            </a:extLst>
          </p:cNvPr>
          <p:cNvSpPr>
            <a:spLocks noGrp="1"/>
          </p:cNvSpPr>
          <p:nvPr/>
        </p:nvSpPr>
        <p:spPr>
          <a:xfrm>
            <a:off x="5048250" y="2705100"/>
            <a:ext cx="238125" cy="238125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BEFE7C4-1FA9-4670-B245-9FF58DD88655}"/>
              </a:ext>
            </a:extLst>
          </p:cNvPr>
          <p:cNvSpPr>
            <a:spLocks noGrp="1"/>
          </p:cNvSpPr>
          <p:nvPr/>
        </p:nvSpPr>
        <p:spPr>
          <a:xfrm>
            <a:off x="5314950" y="27051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9289713-A92E-4E31-BF62-65C24718C394}"/>
              </a:ext>
            </a:extLst>
          </p:cNvPr>
          <p:cNvSpPr>
            <a:spLocks noGrp="1"/>
          </p:cNvSpPr>
          <p:nvPr/>
        </p:nvSpPr>
        <p:spPr>
          <a:xfrm>
            <a:off x="4781550" y="29718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68611F-608C-47AC-AE4F-182FB59198D7}"/>
              </a:ext>
            </a:extLst>
          </p:cNvPr>
          <p:cNvSpPr>
            <a:spLocks noGrp="1"/>
          </p:cNvSpPr>
          <p:nvPr/>
        </p:nvSpPr>
        <p:spPr>
          <a:xfrm>
            <a:off x="5048250" y="29718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1ACD1B-1C0F-4C6C-8643-404E2EEC5F9F}"/>
              </a:ext>
            </a:extLst>
          </p:cNvPr>
          <p:cNvSpPr>
            <a:spLocks noGrp="1"/>
          </p:cNvSpPr>
          <p:nvPr/>
        </p:nvSpPr>
        <p:spPr>
          <a:xfrm>
            <a:off x="5314950" y="29718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E75CD35-0F6C-45EA-B1D8-C9FEDB7CC1A5}"/>
              </a:ext>
            </a:extLst>
          </p:cNvPr>
          <p:cNvSpPr>
            <a:spLocks noGrp="1"/>
          </p:cNvSpPr>
          <p:nvPr/>
        </p:nvSpPr>
        <p:spPr>
          <a:xfrm>
            <a:off x="4781550" y="3238500"/>
            <a:ext cx="238125" cy="238125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CFCF4D0-E8B2-473C-9DC1-77D56023C0D6}"/>
              </a:ext>
            </a:extLst>
          </p:cNvPr>
          <p:cNvSpPr>
            <a:spLocks noGrp="1"/>
          </p:cNvSpPr>
          <p:nvPr/>
        </p:nvSpPr>
        <p:spPr>
          <a:xfrm>
            <a:off x="5048250" y="32385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A82DA40-5886-4761-A048-BC3B86A7A557}"/>
              </a:ext>
            </a:extLst>
          </p:cNvPr>
          <p:cNvSpPr>
            <a:spLocks noGrp="1"/>
          </p:cNvSpPr>
          <p:nvPr/>
        </p:nvSpPr>
        <p:spPr>
          <a:xfrm>
            <a:off x="5314950" y="3238500"/>
            <a:ext cx="238125" cy="238125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AE65C57A-4AA4-4F49-A22B-473DB276B90C}"/>
              </a:ext>
            </a:extLst>
          </p:cNvPr>
          <p:cNvSpPr>
            <a:spLocks noGrp="1"/>
          </p:cNvSpPr>
          <p:nvPr/>
        </p:nvSpPr>
        <p:spPr>
          <a:xfrm>
            <a:off x="5286375" y="3333750"/>
            <a:ext cx="26670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5C49D49-B740-4132-BD84-F993E1E96C3C}"/>
              </a:ext>
            </a:extLst>
          </p:cNvPr>
          <p:cNvSpPr>
            <a:spLocks noGrp="1"/>
          </p:cNvSpPr>
          <p:nvPr/>
        </p:nvSpPr>
        <p:spPr>
          <a:xfrm>
            <a:off x="3600450" y="35242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随机扰动  →  局部线性模型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29D1888-B32C-4489-BF18-E2861B70F2A8}"/>
              </a:ext>
            </a:extLst>
          </p:cNvPr>
          <p:cNvSpPr>
            <a:spLocks noGrp="1"/>
          </p:cNvSpPr>
          <p:nvPr/>
        </p:nvSpPr>
        <p:spPr>
          <a:xfrm>
            <a:off x="6457950" y="25717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0920DDD-6371-44EA-BD72-4DF5212586C6}"/>
              </a:ext>
            </a:extLst>
          </p:cNvPr>
          <p:cNvSpPr>
            <a:spLocks noGrp="1"/>
          </p:cNvSpPr>
          <p:nvPr/>
        </p:nvSpPr>
        <p:spPr>
          <a:xfrm>
            <a:off x="6686550" y="257175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55C4CF1-DB82-422D-A01D-7D3D131D9106}"/>
              </a:ext>
            </a:extLst>
          </p:cNvPr>
          <p:cNvSpPr>
            <a:spLocks noGrp="1"/>
          </p:cNvSpPr>
          <p:nvPr/>
        </p:nvSpPr>
        <p:spPr>
          <a:xfrm>
            <a:off x="6915150" y="25717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8FD0DFC-74E4-4FD2-8002-3B8670E8875B}"/>
              </a:ext>
            </a:extLst>
          </p:cNvPr>
          <p:cNvSpPr>
            <a:spLocks noGrp="1"/>
          </p:cNvSpPr>
          <p:nvPr/>
        </p:nvSpPr>
        <p:spPr>
          <a:xfrm>
            <a:off x="7143750" y="25717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7F8F999-FF5F-44AB-B771-FCCDC6FD01B3}"/>
              </a:ext>
            </a:extLst>
          </p:cNvPr>
          <p:cNvSpPr>
            <a:spLocks noGrp="1"/>
          </p:cNvSpPr>
          <p:nvPr/>
        </p:nvSpPr>
        <p:spPr>
          <a:xfrm>
            <a:off x="64579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F520F4F-9D87-466A-BBDA-36D35344E481}"/>
              </a:ext>
            </a:extLst>
          </p:cNvPr>
          <p:cNvSpPr>
            <a:spLocks noGrp="1"/>
          </p:cNvSpPr>
          <p:nvPr/>
        </p:nvSpPr>
        <p:spPr>
          <a:xfrm>
            <a:off x="66865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E7BA3A0-C53C-4CB4-876C-DD81E306C31F}"/>
              </a:ext>
            </a:extLst>
          </p:cNvPr>
          <p:cNvSpPr>
            <a:spLocks noGrp="1"/>
          </p:cNvSpPr>
          <p:nvPr/>
        </p:nvSpPr>
        <p:spPr>
          <a:xfrm>
            <a:off x="69151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DE36D2-BBF4-4622-B12F-2B594A1D9DE7}"/>
              </a:ext>
            </a:extLst>
          </p:cNvPr>
          <p:cNvSpPr>
            <a:spLocks noGrp="1"/>
          </p:cNvSpPr>
          <p:nvPr/>
        </p:nvSpPr>
        <p:spPr>
          <a:xfrm>
            <a:off x="7143750" y="28003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274F6A3-8228-4C5E-B1C8-C796771E7A68}"/>
              </a:ext>
            </a:extLst>
          </p:cNvPr>
          <p:cNvSpPr>
            <a:spLocks noGrp="1"/>
          </p:cNvSpPr>
          <p:nvPr/>
        </p:nvSpPr>
        <p:spPr>
          <a:xfrm>
            <a:off x="6457950" y="30289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231CB70-C80E-40EB-B0DA-3343756C8D58}"/>
              </a:ext>
            </a:extLst>
          </p:cNvPr>
          <p:cNvSpPr>
            <a:spLocks noGrp="1"/>
          </p:cNvSpPr>
          <p:nvPr/>
        </p:nvSpPr>
        <p:spPr>
          <a:xfrm>
            <a:off x="6686550" y="30289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75B6A68-39EE-4C63-91FC-19729D2720D4}"/>
              </a:ext>
            </a:extLst>
          </p:cNvPr>
          <p:cNvSpPr>
            <a:spLocks noGrp="1"/>
          </p:cNvSpPr>
          <p:nvPr/>
        </p:nvSpPr>
        <p:spPr>
          <a:xfrm>
            <a:off x="6915150" y="30289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8462F80-49E9-4533-813E-3E9DB7104D3A}"/>
              </a:ext>
            </a:extLst>
          </p:cNvPr>
          <p:cNvSpPr>
            <a:spLocks noGrp="1"/>
          </p:cNvSpPr>
          <p:nvPr/>
        </p:nvSpPr>
        <p:spPr>
          <a:xfrm>
            <a:off x="7143750" y="3028950"/>
            <a:ext cx="209550" cy="209550"/>
          </a:xfrm>
          <a:prstGeom prst="rect">
            <a:avLst/>
          </a:prstGeom>
          <a:solidFill>
            <a:srgbClr val="F47A24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9411222-E582-4ECE-A9E3-2850E5296083}"/>
              </a:ext>
            </a:extLst>
          </p:cNvPr>
          <p:cNvSpPr>
            <a:spLocks noGrp="1"/>
          </p:cNvSpPr>
          <p:nvPr/>
        </p:nvSpPr>
        <p:spPr>
          <a:xfrm>
            <a:off x="64579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B54AEF5-91CC-48BF-99AF-C348D267C7C4}"/>
              </a:ext>
            </a:extLst>
          </p:cNvPr>
          <p:cNvSpPr>
            <a:spLocks noGrp="1"/>
          </p:cNvSpPr>
          <p:nvPr/>
        </p:nvSpPr>
        <p:spPr>
          <a:xfrm>
            <a:off x="66865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FCC8A4D-4A8F-4D89-AEF7-74A7E6A8EF63}"/>
              </a:ext>
            </a:extLst>
          </p:cNvPr>
          <p:cNvSpPr>
            <a:spLocks noGrp="1"/>
          </p:cNvSpPr>
          <p:nvPr/>
        </p:nvSpPr>
        <p:spPr>
          <a:xfrm>
            <a:off x="69151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07B171E-0304-4EA6-8143-85E0B982C5E0}"/>
              </a:ext>
            </a:extLst>
          </p:cNvPr>
          <p:cNvSpPr>
            <a:spLocks noGrp="1"/>
          </p:cNvSpPr>
          <p:nvPr/>
        </p:nvSpPr>
        <p:spPr>
          <a:xfrm>
            <a:off x="7143750" y="3257550"/>
            <a:ext cx="209550" cy="209550"/>
          </a:xfrm>
          <a:prstGeom prst="rect">
            <a:avLst/>
          </a:prstGeom>
          <a:solidFill>
            <a:srgbClr val="EAF3FB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0AD580E4-8894-4AC9-94E3-688D4ADCF02F}"/>
              </a:ext>
            </a:extLst>
          </p:cNvPr>
          <p:cNvSpPr>
            <a:spLocks noGrp="1"/>
          </p:cNvSpPr>
          <p:nvPr/>
        </p:nvSpPr>
        <p:spPr>
          <a:xfrm>
            <a:off x="7461966" y="2921625"/>
            <a:ext cx="26670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B27BC69-A1B8-4DB5-B873-3CCBCBA05D53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762000" cy="876300"/>
          </a:xfrm>
          <a:prstGeom prst="roundRect">
            <a:avLst>
              <a:gd name="adj" fmla="val 10000"/>
            </a:avLst>
          </a:prstGeom>
          <a:solidFill>
            <a:srgbClr val="D7E9FA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5A3AEDA2-674A-46DD-9AA8-A89AE7659A8F}"/>
              </a:ext>
            </a:extLst>
          </p:cNvPr>
          <p:cNvSpPr>
            <a:spLocks noGrp="1"/>
          </p:cNvSpPr>
          <p:nvPr/>
        </p:nvSpPr>
        <p:spPr>
          <a:xfrm>
            <a:off x="8004810" y="2920365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7A3E6F29-3B24-4F2B-AE6B-E62BE40F8C90}"/>
              </a:ext>
            </a:extLst>
          </p:cNvPr>
          <p:cNvSpPr>
            <a:spLocks noGrp="1"/>
          </p:cNvSpPr>
          <p:nvPr/>
        </p:nvSpPr>
        <p:spPr>
          <a:xfrm>
            <a:off x="8090535" y="2987040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66FEB79-33C1-4ED5-B48E-D48AF9676794}"/>
              </a:ext>
            </a:extLst>
          </p:cNvPr>
          <p:cNvSpPr>
            <a:spLocks noGrp="1"/>
          </p:cNvSpPr>
          <p:nvPr/>
        </p:nvSpPr>
        <p:spPr>
          <a:xfrm>
            <a:off x="6419850" y="356235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低分辨率网格 / 上采样 / 随机平移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F95B4191-F2F1-4E2A-B090-10F1EB608160}"/>
              </a:ext>
            </a:extLst>
          </p:cNvPr>
          <p:cNvSpPr>
            <a:spLocks noGrp="1"/>
          </p:cNvSpPr>
          <p:nvPr/>
        </p:nvSpPr>
        <p:spPr>
          <a:xfrm>
            <a:off x="9380379" y="2570143"/>
            <a:ext cx="228600" cy="228600"/>
          </a:xfrm>
          <a:prstGeom prst="ellipse">
            <a:avLst/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C5B85CAE-A1B2-45AB-B481-0D8C989AE5AB}"/>
              </a:ext>
            </a:extLst>
          </p:cNvPr>
          <p:cNvSpPr>
            <a:spLocks noGrp="1"/>
          </p:cNvSpPr>
          <p:nvPr/>
        </p:nvSpPr>
        <p:spPr>
          <a:xfrm>
            <a:off x="9761379" y="2570143"/>
            <a:ext cx="228600" cy="228600"/>
          </a:xfrm>
          <a:prstGeom prst="ellipse">
            <a:avLst/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3EC34FBB-3253-4729-8C3E-1756355764CC}"/>
              </a:ext>
            </a:extLst>
          </p:cNvPr>
          <p:cNvSpPr>
            <a:spLocks noGrp="1"/>
          </p:cNvSpPr>
          <p:nvPr/>
        </p:nvSpPr>
        <p:spPr>
          <a:xfrm>
            <a:off x="9380379" y="2930216"/>
            <a:ext cx="228600" cy="228600"/>
          </a:xfrm>
          <a:prstGeom prst="ellipse">
            <a:avLst/>
          </a:prstGeom>
          <a:solidFill>
            <a:srgbClr val="F47A24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B043EEB7-5DF8-4E44-B7B7-A39AACDF870A}"/>
              </a:ext>
            </a:extLst>
          </p:cNvPr>
          <p:cNvSpPr>
            <a:spLocks noGrp="1"/>
          </p:cNvSpPr>
          <p:nvPr/>
        </p:nvSpPr>
        <p:spPr>
          <a:xfrm>
            <a:off x="9755664" y="2940090"/>
            <a:ext cx="228600" cy="228600"/>
          </a:xfrm>
          <a:prstGeom prst="ellipse">
            <a:avLst/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3CBD7873-B383-4484-9B8C-21707FB2B820}"/>
              </a:ext>
            </a:extLst>
          </p:cNvPr>
          <p:cNvSpPr>
            <a:spLocks noGrp="1"/>
          </p:cNvSpPr>
          <p:nvPr/>
        </p:nvSpPr>
        <p:spPr>
          <a:xfrm>
            <a:off x="10350055" y="2759032"/>
            <a:ext cx="266700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ADD1051-17CD-4A92-B642-9996BD8F6CD0}"/>
              </a:ext>
            </a:extLst>
          </p:cNvPr>
          <p:cNvSpPr>
            <a:spLocks noGrp="1"/>
          </p:cNvSpPr>
          <p:nvPr/>
        </p:nvSpPr>
        <p:spPr>
          <a:xfrm>
            <a:off x="10706100" y="2562093"/>
            <a:ext cx="819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核权重</a:t>
            </a:r>
            <a:endParaRPr sz="11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加权回归</a:t>
            </a:r>
            <a:endParaRPr sz="11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1B11737-F6F1-4EF6-BE2E-9F69FB6E06FA}"/>
              </a:ext>
            </a:extLst>
          </p:cNvPr>
          <p:cNvSpPr>
            <a:spLocks noGrp="1"/>
          </p:cNvSpPr>
          <p:nvPr/>
        </p:nvSpPr>
        <p:spPr>
          <a:xfrm>
            <a:off x="9239250" y="34480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按 SHAP 核采样联盟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D4F6B30-872D-4D74-A009-10E3B31E597B}"/>
              </a:ext>
            </a:extLst>
          </p:cNvPr>
          <p:cNvSpPr>
            <a:spLocks noGrp="1"/>
          </p:cNvSpPr>
          <p:nvPr/>
        </p:nvSpPr>
        <p:spPr>
          <a:xfrm>
            <a:off x="9239250" y="3676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9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⊘ 不以固定遮蔽率替代采样分布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74261A0-203F-4995-929C-C9E52921F3B6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805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共享设置</a:t>
            </a:r>
          </a:p>
        </p:txBody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28442433-F968-4318-9693-88BAA709A725}"/>
              </a:ext>
            </a:extLst>
          </p:cNvPr>
          <p:cNvSpPr>
            <a:spLocks noGrp="1"/>
          </p:cNvSpPr>
          <p:nvPr/>
        </p:nvSpPr>
        <p:spPr>
          <a:xfrm>
            <a:off x="1543050" y="4257675"/>
            <a:ext cx="70294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CB0934C-966C-4240-B948-3FD8717B29CC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5095875" cy="514350"/>
          </a:xfrm>
          <a:prstGeom prst="roundRect">
            <a:avLst>
              <a:gd name="adj" fmla="val 22222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Ablation / LIME / KernelSHAP</a:t>
            </a:r>
          </a:p>
        </p:txBody>
      </p:sp>
      <p:sp>
        <p:nvSpPr>
          <p:cNvPr id="78" name="箭头: 右 77">
            <a:extLst>
              <a:ext uri="{FF2B5EF4-FFF2-40B4-BE49-F238E27FC236}">
                <a16:creationId xmlns:a16="http://schemas.microsoft.com/office/drawing/2014/main" id="{4F9866CD-D045-45F7-A562-B1F33A6118FF}"/>
              </a:ext>
            </a:extLst>
          </p:cNvPr>
          <p:cNvSpPr>
            <a:spLocks noGrp="1"/>
          </p:cNvSpPr>
          <p:nvPr/>
        </p:nvSpPr>
        <p:spPr>
          <a:xfrm>
            <a:off x="5676900" y="4600575"/>
            <a:ext cx="3238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92CFDE9-34A0-46C6-A3AC-92A6B49D04F5}"/>
              </a:ext>
            </a:extLst>
          </p:cNvPr>
          <p:cNvSpPr>
            <a:spLocks noGrp="1"/>
          </p:cNvSpPr>
          <p:nvPr/>
        </p:nvSpPr>
        <p:spPr>
          <a:xfrm>
            <a:off x="6076950" y="4457700"/>
            <a:ext cx="2495550" cy="51435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SLIC + 归一化零基线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EE2E50E-1827-487E-9C7D-E822F4FC1128}"/>
              </a:ext>
            </a:extLst>
          </p:cNvPr>
          <p:cNvSpPr>
            <a:spLocks noGrp="1"/>
          </p:cNvSpPr>
          <p:nvPr/>
        </p:nvSpPr>
        <p:spPr>
          <a:xfrm>
            <a:off x="8801100" y="413385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IG   EG   Grad-CAM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B9629281-1008-4CBF-A842-B21D1362966F}"/>
              </a:ext>
            </a:extLst>
          </p:cNvPr>
          <p:cNvSpPr>
            <a:spLocks noGrp="1"/>
          </p:cNvSpPr>
          <p:nvPr/>
        </p:nvSpPr>
        <p:spPr>
          <a:xfrm>
            <a:off x="8801100" y="4476750"/>
            <a:ext cx="2876550" cy="51435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外部梯度类对照</a:t>
            </a:r>
          </a:p>
          <a:p>
            <a:pPr algn="ctr">
              <a:def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分组报告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EC87FF4-8CD4-4CC5-A693-7FAE457CB4C2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805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RISE：保留原生随机网格，评价时再汇总到统一 SLIC 区域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EC4F5C36-A74D-49F4-8ED3-592737E1FF78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780141C1-F546-4D00-A76D-703B30A09343}"/>
              </a:ext>
            </a:extLst>
          </p:cNvPr>
          <p:cNvSpPr>
            <a:spLocks noGrp="1"/>
          </p:cNvSpPr>
          <p:nvPr/>
        </p:nvSpPr>
        <p:spPr>
          <a:xfrm>
            <a:off x="20288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21DAA22-9A12-4DBE-82D9-9BC461E066EC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区域 / 网格</a:t>
            </a:r>
          </a:p>
        </p:txBody>
      </p:sp>
      <p:sp>
        <p:nvSpPr>
          <p:cNvPr id="86" name="箭头: 右 85">
            <a:extLst>
              <a:ext uri="{FF2B5EF4-FFF2-40B4-BE49-F238E27FC236}">
                <a16:creationId xmlns:a16="http://schemas.microsoft.com/office/drawing/2014/main" id="{365D8E95-382E-46F9-A99C-ACAA184826B6}"/>
              </a:ext>
            </a:extLst>
          </p:cNvPr>
          <p:cNvSpPr>
            <a:spLocks noGrp="1"/>
          </p:cNvSpPr>
          <p:nvPr/>
        </p:nvSpPr>
        <p:spPr>
          <a:xfrm>
            <a:off x="38957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B1EE62B-6AA1-48AB-8387-CDC4837B819B}"/>
              </a:ext>
            </a:extLst>
          </p:cNvPr>
          <p:cNvSpPr>
            <a:spLocks noGrp="1"/>
          </p:cNvSpPr>
          <p:nvPr/>
        </p:nvSpPr>
        <p:spPr>
          <a:xfrm>
            <a:off x="42481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扰动 / coalition</a:t>
            </a:r>
          </a:p>
        </p:txBody>
      </p:sp>
      <p:sp>
        <p:nvSpPr>
          <p:cNvPr id="88" name="箭头: 右 87">
            <a:extLst>
              <a:ext uri="{FF2B5EF4-FFF2-40B4-BE49-F238E27FC236}">
                <a16:creationId xmlns:a16="http://schemas.microsoft.com/office/drawing/2014/main" id="{6710E78B-D2D1-4553-B674-92EDA99616E4}"/>
              </a:ext>
            </a:extLst>
          </p:cNvPr>
          <p:cNvSpPr>
            <a:spLocks noGrp="1"/>
          </p:cNvSpPr>
          <p:nvPr/>
        </p:nvSpPr>
        <p:spPr>
          <a:xfrm>
            <a:off x="57626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DE1D3F6-433D-4E95-BD0D-D164A7656FE4}"/>
              </a:ext>
            </a:extLst>
          </p:cNvPr>
          <p:cNvSpPr>
            <a:spLocks noGrp="1"/>
          </p:cNvSpPr>
          <p:nvPr/>
        </p:nvSpPr>
        <p:spPr>
          <a:xfrm>
            <a:off x="61150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 logit</a:t>
            </a:r>
          </a:p>
        </p:txBody>
      </p:sp>
      <p:sp>
        <p:nvSpPr>
          <p:cNvPr id="90" name="箭头: 右 89">
            <a:extLst>
              <a:ext uri="{FF2B5EF4-FFF2-40B4-BE49-F238E27FC236}">
                <a16:creationId xmlns:a16="http://schemas.microsoft.com/office/drawing/2014/main" id="{DA7B2FE5-60FF-42C6-974E-9038EA7756CD}"/>
              </a:ext>
            </a:extLst>
          </p:cNvPr>
          <p:cNvSpPr>
            <a:spLocks noGrp="1"/>
          </p:cNvSpPr>
          <p:nvPr/>
        </p:nvSpPr>
        <p:spPr>
          <a:xfrm>
            <a:off x="76295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AC5E4AB4-02EA-4F6A-B22A-70F494DA58AC}"/>
              </a:ext>
            </a:extLst>
          </p:cNvPr>
          <p:cNvSpPr>
            <a:spLocks noGrp="1"/>
          </p:cNvSpPr>
          <p:nvPr/>
        </p:nvSpPr>
        <p:spPr>
          <a:xfrm>
            <a:off x="79819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归因结果</a:t>
            </a:r>
          </a:p>
        </p:txBody>
      </p:sp>
      <p:sp>
        <p:nvSpPr>
          <p:cNvPr id="92" name="箭头: 右 91">
            <a:extLst>
              <a:ext uri="{FF2B5EF4-FFF2-40B4-BE49-F238E27FC236}">
                <a16:creationId xmlns:a16="http://schemas.microsoft.com/office/drawing/2014/main" id="{414678C4-2F9D-49AA-8D7E-8C59EBA6E1EC}"/>
              </a:ext>
            </a:extLst>
          </p:cNvPr>
          <p:cNvSpPr>
            <a:spLocks noGrp="1"/>
          </p:cNvSpPr>
          <p:nvPr/>
        </p:nvSpPr>
        <p:spPr>
          <a:xfrm>
            <a:off x="9496425" y="5724525"/>
            <a:ext cx="257175" cy="1905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49CA4F05-32FE-4070-839F-3D7115F31E32}"/>
              </a:ext>
            </a:extLst>
          </p:cNvPr>
          <p:cNvSpPr>
            <a:spLocks noGrp="1"/>
          </p:cNvSpPr>
          <p:nvPr/>
        </p:nvSpPr>
        <p:spPr>
          <a:xfrm>
            <a:off x="9848850" y="561975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统一评价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69AB0D93-3421-4357-9805-9CBFDA5E8867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11163300" cy="400050"/>
          </a:xfrm>
          <a:prstGeom prst="roundRect">
            <a:avLst>
              <a:gd name="adj" fmla="val 2381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所有方法解释同一个 logit　　模型调用与额外锚点评估统一计入预算</a:t>
            </a:r>
          </a:p>
        </p:txBody>
      </p:sp>
    </p:spTree>
    <p:extLst>
      <p:ext uri="{BB962C8B-B14F-4D97-AF65-F5344CB8AC3E}">
        <p14:creationId xmlns:p14="http://schemas.microsoft.com/office/powerpoint/2010/main" val="185153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E7A57C50-02F7-429A-9A2A-F4E413D90716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CC50EC-CD0B-4A1C-8D9E-2DF04A9AD6EE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目标尺度决定候选粒度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B296C2-A422-49B8-B168-5DC9D38083B1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4245A3-9051-4AAC-BB45-37FFAF5E995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目标尺度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040580-8A0C-4C52-9123-2065A340C53D}"/>
              </a:ext>
            </a:extLst>
          </p:cNvPr>
          <p:cNvSpPr>
            <a:spLocks noGrp="1"/>
          </p:cNvSpPr>
          <p:nvPr/>
        </p:nvSpPr>
        <p:spPr>
          <a:xfrm>
            <a:off x="8605342" y="1066800"/>
            <a:ext cx="527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粒度不足比例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F82F29-532A-4BC0-AC40-41273892C6EC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ImageNet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0F6421-6D94-4E46-A572-CCD04772F144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边界框面积中位数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F7AC92-84A1-48CE-9350-ED2BDBA230F9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3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31.83%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94E875-31D4-4FAC-88F8-DB1B4DFCADEB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IQR 20.26%–42.33%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CC6837-0F69-47FD-932C-1D3444A2759C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CHNCXR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F7DF45-160D-4C8E-B157-066466973534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病灶并集面积中位数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CE484D-1B0B-4202-906F-7246C1B29380}"/>
              </a:ext>
            </a:extLst>
          </p:cNvPr>
          <p:cNvSpPr>
            <a:spLocks noGrp="1"/>
          </p:cNvSpPr>
          <p:nvPr/>
        </p:nvSpPr>
        <p:spPr>
          <a:xfrm>
            <a:off x="781050" y="41338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3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1.55%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972149-B18B-417F-A9A3-59F033DACB71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IQR 0.70%–3.36%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D6EC2C-7B4E-45D6-B58F-B1FF547DDD92}"/>
              </a:ext>
            </a:extLst>
          </p:cNvPr>
          <p:cNvSpPr>
            <a:spLocks noGrp="1"/>
          </p:cNvSpPr>
          <p:nvPr/>
        </p:nvSpPr>
        <p:spPr>
          <a:xfrm>
            <a:off x="8662492" y="14668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SLIC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87D3217-9EAA-41E3-93AC-1D295D070099}"/>
              </a:ext>
            </a:extLst>
          </p:cNvPr>
          <p:cNvSpPr>
            <a:spLocks noGrp="1"/>
          </p:cNvSpPr>
          <p:nvPr/>
        </p:nvSpPr>
        <p:spPr>
          <a:xfrm>
            <a:off x="8662492" y="1752600"/>
            <a:ext cx="1000125" cy="47625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n = 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AE3669-F22B-4F36-ACE0-D021A8C0CB4D}"/>
              </a:ext>
            </a:extLst>
          </p:cNvPr>
          <p:cNvSpPr>
            <a:spLocks noGrp="1"/>
          </p:cNvSpPr>
          <p:nvPr/>
        </p:nvSpPr>
        <p:spPr>
          <a:xfrm>
            <a:off x="9767392" y="175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ImageNet 0.6%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0746E2-44F5-44CF-BABD-1200E0E0F999}"/>
              </a:ext>
            </a:extLst>
          </p:cNvPr>
          <p:cNvSpPr>
            <a:spLocks noGrp="1"/>
          </p:cNvSpPr>
          <p:nvPr/>
        </p:nvSpPr>
        <p:spPr>
          <a:xfrm>
            <a:off x="9767392" y="1981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 66.7%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0F467A0-AE77-4049-8B58-40D01D5FD1F8}"/>
              </a:ext>
            </a:extLst>
          </p:cNvPr>
          <p:cNvSpPr>
            <a:spLocks noGrp="1"/>
          </p:cNvSpPr>
          <p:nvPr/>
        </p:nvSpPr>
        <p:spPr>
          <a:xfrm>
            <a:off x="8662492" y="2362200"/>
            <a:ext cx="1000125" cy="47625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n = 100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EFE37-78F3-4471-9F90-DD0415AD71DC}"/>
              </a:ext>
            </a:extLst>
          </p:cNvPr>
          <p:cNvSpPr>
            <a:spLocks noGrp="1"/>
          </p:cNvSpPr>
          <p:nvPr/>
        </p:nvSpPr>
        <p:spPr>
          <a:xfrm>
            <a:off x="9767392" y="2362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共同主设置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D12E5C-63CE-40D2-8253-F0FEC14E1AC4}"/>
              </a:ext>
            </a:extLst>
          </p:cNvPr>
          <p:cNvSpPr>
            <a:spLocks noGrp="1"/>
          </p:cNvSpPr>
          <p:nvPr/>
        </p:nvSpPr>
        <p:spPr>
          <a:xfrm>
            <a:off x="9767392" y="2590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 39.7%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822A1D5-E3EB-42B6-BD3C-9604AD5E5CB9}"/>
              </a:ext>
            </a:extLst>
          </p:cNvPr>
          <p:cNvSpPr>
            <a:spLocks noGrp="1"/>
          </p:cNvSpPr>
          <p:nvPr/>
        </p:nvSpPr>
        <p:spPr>
          <a:xfrm>
            <a:off x="8662492" y="2971800"/>
            <a:ext cx="1000125" cy="47625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n = 300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1F8690C-74B3-44C1-8AE3-CB95F96CC914}"/>
              </a:ext>
            </a:extLst>
          </p:cNvPr>
          <p:cNvSpPr>
            <a:spLocks noGrp="1"/>
          </p:cNvSpPr>
          <p:nvPr/>
        </p:nvSpPr>
        <p:spPr>
          <a:xfrm>
            <a:off x="9767392" y="29718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更细粒度候选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2132E8-FF6A-4E5F-A24C-67F036E7849E}"/>
              </a:ext>
            </a:extLst>
          </p:cNvPr>
          <p:cNvSpPr>
            <a:spLocks noGrp="1"/>
          </p:cNvSpPr>
          <p:nvPr/>
        </p:nvSpPr>
        <p:spPr>
          <a:xfrm>
            <a:off x="9767392" y="3200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 13.9%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FCC9284-ADB6-4CAD-98CD-51BB0725AB5F}"/>
              </a:ext>
            </a:extLst>
          </p:cNvPr>
          <p:cNvSpPr>
            <a:spLocks noGrp="1"/>
          </p:cNvSpPr>
          <p:nvPr/>
        </p:nvSpPr>
        <p:spPr>
          <a:xfrm>
            <a:off x="8662492" y="36195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EF54087-37AB-41EC-8E18-11607428AD63}"/>
              </a:ext>
            </a:extLst>
          </p:cNvPr>
          <p:cNvSpPr>
            <a:spLocks noGrp="1"/>
          </p:cNvSpPr>
          <p:nvPr/>
        </p:nvSpPr>
        <p:spPr>
          <a:xfrm>
            <a:off x="8662492" y="3943350"/>
            <a:ext cx="1000125" cy="457200"/>
          </a:xfrm>
          <a:prstGeom prst="roundRect">
            <a:avLst>
              <a:gd name="adj" fmla="val 20833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g = 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A98D6B-6B1F-42B3-B22F-4470FA71189F}"/>
              </a:ext>
            </a:extLst>
          </p:cNvPr>
          <p:cNvSpPr>
            <a:spLocks noGrp="1"/>
          </p:cNvSpPr>
          <p:nvPr/>
        </p:nvSpPr>
        <p:spPr>
          <a:xfrm>
            <a:off x="9767392" y="3943350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ImageNet 2.8%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F0C2EA-5B65-41E6-9793-CE888C3D5F26}"/>
              </a:ext>
            </a:extLst>
          </p:cNvPr>
          <p:cNvSpPr>
            <a:spLocks noGrp="1"/>
          </p:cNvSpPr>
          <p:nvPr/>
        </p:nvSpPr>
        <p:spPr>
          <a:xfrm>
            <a:off x="9767392" y="416242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 87.9%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8E994DE-CEE8-4D70-B8D7-1888C872004E}"/>
              </a:ext>
            </a:extLst>
          </p:cNvPr>
          <p:cNvSpPr>
            <a:spLocks noGrp="1"/>
          </p:cNvSpPr>
          <p:nvPr/>
        </p:nvSpPr>
        <p:spPr>
          <a:xfrm>
            <a:off x="8662492" y="4476750"/>
            <a:ext cx="1000125" cy="457200"/>
          </a:xfrm>
          <a:prstGeom prst="roundRect">
            <a:avLst>
              <a:gd name="adj" fmla="val 20833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g = 7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7359B89-8AC0-4A10-9BFE-19F7BBC47D30}"/>
              </a:ext>
            </a:extLst>
          </p:cNvPr>
          <p:cNvSpPr>
            <a:spLocks noGrp="1"/>
          </p:cNvSpPr>
          <p:nvPr/>
        </p:nvSpPr>
        <p:spPr>
          <a:xfrm>
            <a:off x="9767392" y="4476750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共同主设置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3C1B73-7A84-49B4-B46C-0DCD9CCC39E0}"/>
              </a:ext>
            </a:extLst>
          </p:cNvPr>
          <p:cNvSpPr>
            <a:spLocks noGrp="1"/>
          </p:cNvSpPr>
          <p:nvPr/>
        </p:nvSpPr>
        <p:spPr>
          <a:xfrm>
            <a:off x="9767392" y="469582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 61.2%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8051E5EB-61CD-9CD6-1D1D-5CBD62E1E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728" y="1448786"/>
            <a:ext cx="6083647" cy="2879709"/>
          </a:xfrm>
          <a:prstGeom prst="rect">
            <a:avLst/>
          </a:prstGeom>
        </p:spPr>
      </p:pic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62B019B-222C-D68C-7118-931E034B5B26}"/>
              </a:ext>
            </a:extLst>
          </p:cNvPr>
          <p:cNvSpPr>
            <a:spLocks noGrp="1"/>
          </p:cNvSpPr>
          <p:nvPr/>
        </p:nvSpPr>
        <p:spPr>
          <a:xfrm>
            <a:off x="4057650" y="4718952"/>
            <a:ext cx="3352800" cy="361950"/>
          </a:xfrm>
          <a:prstGeom prst="roundRect">
            <a:avLst>
              <a:gd name="adj" fmla="val 26316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因此，报告暂定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858DE8F-2C67-A246-626D-859FE849A8F8}"/>
              </a:ext>
            </a:extLst>
          </p:cNvPr>
          <p:cNvSpPr>
            <a:spLocks noGrp="1"/>
          </p:cNvSpPr>
          <p:nvPr/>
        </p:nvSpPr>
        <p:spPr>
          <a:xfrm>
            <a:off x="4168329" y="529257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SLIC 主设置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2040BD73-E41C-8422-BC2B-617265872E99}"/>
              </a:ext>
            </a:extLst>
          </p:cNvPr>
          <p:cNvSpPr>
            <a:spLocks noGrp="1"/>
          </p:cNvSpPr>
          <p:nvPr/>
        </p:nvSpPr>
        <p:spPr>
          <a:xfrm>
            <a:off x="5463729" y="5292570"/>
            <a:ext cx="1828800" cy="400050"/>
          </a:xfrm>
          <a:prstGeom prst="roundRect">
            <a:avLst>
              <a:gd name="adj" fmla="val 2381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 = 100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F772CF9-0329-4EFA-7253-3FFA62C0816C}"/>
              </a:ext>
            </a:extLst>
          </p:cNvPr>
          <p:cNvSpPr>
            <a:spLocks noGrp="1"/>
          </p:cNvSpPr>
          <p:nvPr/>
        </p:nvSpPr>
        <p:spPr>
          <a:xfrm>
            <a:off x="4168329" y="582597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RISE 主设置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8B3F9A7A-709B-BCF4-DD8D-3AAF1BFAE834}"/>
              </a:ext>
            </a:extLst>
          </p:cNvPr>
          <p:cNvSpPr>
            <a:spLocks noGrp="1"/>
          </p:cNvSpPr>
          <p:nvPr/>
        </p:nvSpPr>
        <p:spPr>
          <a:xfrm>
            <a:off x="5463729" y="5825970"/>
            <a:ext cx="1828800" cy="400050"/>
          </a:xfrm>
          <a:prstGeom prst="roundRect">
            <a:avLst>
              <a:gd name="adj" fmla="val 2381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 = 7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D28C7D90-8C24-4766-19AA-59A871CD4D9E}"/>
              </a:ext>
            </a:extLst>
          </p:cNvPr>
          <p:cNvSpPr>
            <a:spLocks noGrp="1"/>
          </p:cNvSpPr>
          <p:nvPr/>
        </p:nvSpPr>
        <p:spPr>
          <a:xfrm>
            <a:off x="7813230" y="5254470"/>
            <a:ext cx="3124200" cy="1066800"/>
          </a:xfrm>
          <a:prstGeom prst="roundRect">
            <a:avLst>
              <a:gd name="adj" fmla="val 8929"/>
            </a:avLst>
          </a:prstGeom>
          <a:solidFill>
            <a:srgbClr val="FFF6F1"/>
          </a:solidFill>
          <a:ln w="11430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FC08566-B8A8-02E3-606A-5EEC1BCCC828}"/>
              </a:ext>
            </a:extLst>
          </p:cNvPr>
          <p:cNvSpPr>
            <a:spLocks noGrp="1"/>
          </p:cNvSpPr>
          <p:nvPr/>
        </p:nvSpPr>
        <p:spPr>
          <a:xfrm>
            <a:off x="7965630" y="5349720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4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共同参照 ≠ 最优粒度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AB0D06E-BDB2-6B54-1567-EBB96E23892D}"/>
              </a:ext>
            </a:extLst>
          </p:cNvPr>
          <p:cNvSpPr>
            <a:spLocks noGrp="1"/>
          </p:cNvSpPr>
          <p:nvPr/>
        </p:nvSpPr>
        <p:spPr>
          <a:xfrm>
            <a:off x="7965630" y="5673570"/>
            <a:ext cx="2819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ctr">
              <a:defRPr sz="10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n = 100 与 g = 7 只是跨域共同参照点。</a:t>
            </a:r>
          </a:p>
          <a:p>
            <a:pPr algn="ctr">
              <a:defRPr sz="10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合适粒度仍需质量、稳定性与成本实验验证。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931E06B-EDD7-49C2-C264-72AD82BEC028}"/>
              </a:ext>
            </a:extLst>
          </p:cNvPr>
          <p:cNvSpPr>
            <a:spLocks noGrp="1"/>
          </p:cNvSpPr>
          <p:nvPr/>
        </p:nvSpPr>
        <p:spPr>
          <a:xfrm>
            <a:off x="752936" y="529257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SLIC 粒度扫描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F3ADD1E9-483C-7CD0-1CC0-58F002F48CF3}"/>
              </a:ext>
            </a:extLst>
          </p:cNvPr>
          <p:cNvSpPr>
            <a:spLocks noGrp="1"/>
          </p:cNvSpPr>
          <p:nvPr/>
        </p:nvSpPr>
        <p:spPr>
          <a:xfrm>
            <a:off x="2048336" y="5292570"/>
            <a:ext cx="1828800" cy="400050"/>
          </a:xfrm>
          <a:prstGeom prst="roundRect">
            <a:avLst>
              <a:gd name="adj" fmla="val 2381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n ∈ {50, 100, 200, 300}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468BC9F-85C3-C71F-EAFF-37775BE6B5B7}"/>
              </a:ext>
            </a:extLst>
          </p:cNvPr>
          <p:cNvSpPr>
            <a:spLocks noGrp="1"/>
          </p:cNvSpPr>
          <p:nvPr/>
        </p:nvSpPr>
        <p:spPr>
          <a:xfrm>
            <a:off x="752936" y="582597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RISE </a:t>
            </a:r>
            <a:r>
              <a:rPr sz="105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网格扫描</a:t>
            </a:r>
            <a:endParaRPr sz="105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7F9C7A8F-1D70-8CA0-3543-32B274F3352C}"/>
              </a:ext>
            </a:extLst>
          </p:cNvPr>
          <p:cNvSpPr>
            <a:spLocks noGrp="1"/>
          </p:cNvSpPr>
          <p:nvPr/>
        </p:nvSpPr>
        <p:spPr>
          <a:xfrm>
            <a:off x="2048336" y="5825970"/>
            <a:ext cx="1828800" cy="400050"/>
          </a:xfrm>
          <a:prstGeom prst="roundRect">
            <a:avLst>
              <a:gd name="adj" fmla="val 2381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 ∈ {4, 7, 10, 14}</a:t>
            </a:r>
          </a:p>
        </p:txBody>
      </p:sp>
    </p:spTree>
    <p:extLst>
      <p:ext uri="{BB962C8B-B14F-4D97-AF65-F5344CB8AC3E}">
        <p14:creationId xmlns:p14="http://schemas.microsoft.com/office/powerpoint/2010/main" val="150108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>
            <a:extLst>
              <a:ext uri="{FF2B5EF4-FFF2-40B4-BE49-F238E27FC236}">
                <a16:creationId xmlns:a16="http://schemas.microsoft.com/office/drawing/2014/main" id="{979B8D3E-8D7F-4AD6-9D4B-272FB8F202A8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10ECCD-36D4-4893-B40C-CFC50A1B1B1D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采样预算需要与解释维数匹配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CD4719-D85B-431E-838B-2DDF60D79EF9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34FDA63-C4CE-4246-AE1D-0C11C297C840}"/>
              </a:ext>
            </a:extLst>
          </p:cNvPr>
          <p:cNvSpPr>
            <a:spLocks noGrp="1"/>
          </p:cNvSpPr>
          <p:nvPr/>
        </p:nvSpPr>
        <p:spPr>
          <a:xfrm>
            <a:off x="4637009" y="1028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预算可行性</a:t>
            </a:r>
            <a:endParaRPr sz="1700" b="1" dirty="0">
              <a:solidFill>
                <a:srgbClr val="002FA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3C3FB6A0-D149-4074-A798-FF5D7EB72C50}"/>
              </a:ext>
            </a:extLst>
          </p:cNvPr>
          <p:cNvSpPr>
            <a:spLocks noGrp="1"/>
          </p:cNvSpPr>
          <p:nvPr/>
        </p:nvSpPr>
        <p:spPr>
          <a:xfrm>
            <a:off x="4637009" y="1409700"/>
            <a:ext cx="3352797" cy="3371850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9251945-C61C-4F71-A030-17ABAE8A1121}"/>
              </a:ext>
            </a:extLst>
          </p:cNvPr>
          <p:cNvSpPr>
            <a:spLocks noGrp="1"/>
          </p:cNvSpPr>
          <p:nvPr/>
        </p:nvSpPr>
        <p:spPr>
          <a:xfrm>
            <a:off x="4770359" y="16192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30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B / (C + 1)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18FB3DA-500C-48E3-ABCC-3E3C2454EB21}"/>
              </a:ext>
            </a:extLst>
          </p:cNvPr>
          <p:cNvSpPr>
            <a:spLocks noGrp="1"/>
          </p:cNvSpPr>
          <p:nvPr/>
        </p:nvSpPr>
        <p:spPr>
          <a:xfrm>
            <a:off x="4770359" y="2057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B：采样预算　　C + 1：待估参数维数</a:t>
            </a:r>
          </a:p>
        </p:txBody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5324AF59-674B-4D63-9E63-75F8507E6C2F}"/>
              </a:ext>
            </a:extLst>
          </p:cNvPr>
          <p:cNvSpPr>
            <a:spLocks noGrp="1"/>
          </p:cNvSpPr>
          <p:nvPr/>
        </p:nvSpPr>
        <p:spPr>
          <a:xfrm>
            <a:off x="4903709" y="2781300"/>
            <a:ext cx="2857500" cy="0"/>
          </a:xfrm>
          <a:prstGeom prst="line">
            <a:avLst/>
          </a:prstGeom>
          <a:noFill/>
          <a:ln w="1333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2673BFCE-71BA-4E80-945D-522061D9EED3}"/>
              </a:ext>
            </a:extLst>
          </p:cNvPr>
          <p:cNvSpPr>
            <a:spLocks noGrp="1"/>
          </p:cNvSpPr>
          <p:nvPr/>
        </p:nvSpPr>
        <p:spPr>
          <a:xfrm>
            <a:off x="5570459" y="2705100"/>
            <a:ext cx="152400" cy="1524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CE253B6C-B589-407C-A2A0-43345362A449}"/>
              </a:ext>
            </a:extLst>
          </p:cNvPr>
          <p:cNvSpPr>
            <a:spLocks noGrp="1"/>
          </p:cNvSpPr>
          <p:nvPr/>
        </p:nvSpPr>
        <p:spPr>
          <a:xfrm>
            <a:off x="7037309" y="2705100"/>
            <a:ext cx="152400" cy="15240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EB64FB7-B3BD-4547-9696-BE2341B16CD6}"/>
              </a:ext>
            </a:extLst>
          </p:cNvPr>
          <p:cNvSpPr>
            <a:spLocks noGrp="1"/>
          </p:cNvSpPr>
          <p:nvPr/>
        </p:nvSpPr>
        <p:spPr>
          <a:xfrm>
            <a:off x="4694159" y="29146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预算不足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FAA0473-06C7-46B6-B101-2B409F0C94FC}"/>
              </a:ext>
            </a:extLst>
          </p:cNvPr>
          <p:cNvSpPr>
            <a:spLocks noGrp="1"/>
          </p:cNvSpPr>
          <p:nvPr/>
        </p:nvSpPr>
        <p:spPr>
          <a:xfrm>
            <a:off x="6496061" y="29146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预算更充足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D65B412-A647-4FA6-9D1C-1B50C791F30F}"/>
              </a:ext>
            </a:extLst>
          </p:cNvPr>
          <p:cNvSpPr>
            <a:spLocks noGrp="1"/>
          </p:cNvSpPr>
          <p:nvPr/>
        </p:nvSpPr>
        <p:spPr>
          <a:xfrm>
            <a:off x="4770359" y="33147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n = 300　B = 256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BE92FC3-C1DC-4AC8-AA7A-9A5040A7736E}"/>
              </a:ext>
            </a:extLst>
          </p:cNvPr>
          <p:cNvSpPr>
            <a:spLocks noGrp="1"/>
          </p:cNvSpPr>
          <p:nvPr/>
        </p:nvSpPr>
        <p:spPr>
          <a:xfrm>
            <a:off x="4770359" y="36195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2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B / (C + 1) ≈ 0.9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1537AA92-D396-47D5-8652-B9037E1D8770}"/>
              </a:ext>
            </a:extLst>
          </p:cNvPr>
          <p:cNvSpPr>
            <a:spLocks noGrp="1"/>
          </p:cNvSpPr>
          <p:nvPr/>
        </p:nvSpPr>
        <p:spPr>
          <a:xfrm>
            <a:off x="4770359" y="4029632"/>
            <a:ext cx="3143250" cy="476250"/>
          </a:xfrm>
          <a:prstGeom prst="roundRect">
            <a:avLst>
              <a:gd name="adj" fmla="val 18000"/>
            </a:avLst>
          </a:prstGeom>
          <a:solidFill>
            <a:srgbClr val="FFF6F1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样本数少于待估系数数目</a:t>
            </a:r>
          </a:p>
          <a:p>
            <a:pPr algn="ctr">
              <a:defRPr sz="12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基本自由度不足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054623D-C09D-4B86-8C26-D44A4060AF58}"/>
              </a:ext>
            </a:extLst>
          </p:cNvPr>
          <p:cNvSpPr>
            <a:spLocks noGrp="1"/>
          </p:cNvSpPr>
          <p:nvPr/>
        </p:nvSpPr>
        <p:spPr>
          <a:xfrm>
            <a:off x="4770359" y="45148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维数可行</a:t>
            </a:r>
            <a:r>
              <a:rPr sz="1050" b="1" dirty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 ≠ </a:t>
            </a:r>
            <a:r>
              <a:rPr sz="105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求解一定稳定</a:t>
            </a:r>
            <a:endParaRPr sz="105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1A537B14-660B-4232-ACC0-AE42270F7A88}"/>
              </a:ext>
            </a:extLst>
          </p:cNvPr>
          <p:cNvSpPr>
            <a:spLocks noGrp="1"/>
          </p:cNvSpPr>
          <p:nvPr/>
        </p:nvSpPr>
        <p:spPr>
          <a:xfrm>
            <a:off x="8145561" y="1066800"/>
            <a:ext cx="3848100" cy="361950"/>
          </a:xfrm>
          <a:prstGeom prst="roundRect">
            <a:avLst>
              <a:gd name="adj" fmla="val 26316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因此，报告暂定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4F7F0A9-AFF2-49E0-81A1-98710FB7F469}"/>
              </a:ext>
            </a:extLst>
          </p:cNvPr>
          <p:cNvSpPr>
            <a:spLocks noGrp="1"/>
          </p:cNvSpPr>
          <p:nvPr/>
        </p:nvSpPr>
        <p:spPr>
          <a:xfrm>
            <a:off x="8297961" y="1675491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主预算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F5E27875-1E3C-4ED2-8461-D6D6A7E5F4A6}"/>
              </a:ext>
            </a:extLst>
          </p:cNvPr>
          <p:cNvSpPr>
            <a:spLocks noGrp="1"/>
          </p:cNvSpPr>
          <p:nvPr/>
        </p:nvSpPr>
        <p:spPr>
          <a:xfrm>
            <a:off x="9821961" y="1584777"/>
            <a:ext cx="2019300" cy="457200"/>
          </a:xfrm>
          <a:prstGeom prst="roundRect">
            <a:avLst>
              <a:gd name="adj" fmla="val 20833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= 1024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102A177-8F45-4E9E-BD73-16439E97CEE3}"/>
              </a:ext>
            </a:extLst>
          </p:cNvPr>
          <p:cNvSpPr>
            <a:spLocks noGrp="1"/>
          </p:cNvSpPr>
          <p:nvPr/>
        </p:nvSpPr>
        <p:spPr>
          <a:xfrm>
            <a:off x="8297961" y="229915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预算扫描</a:t>
            </a:r>
            <a:endParaRPr sz="110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F6575733-946D-4A7D-A86E-0BFD218E1B03}"/>
              </a:ext>
            </a:extLst>
          </p:cNvPr>
          <p:cNvSpPr>
            <a:spLocks noGrp="1"/>
          </p:cNvSpPr>
          <p:nvPr/>
        </p:nvSpPr>
        <p:spPr>
          <a:xfrm>
            <a:off x="9228059" y="2198004"/>
            <a:ext cx="2613202" cy="4572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256　512　1024　2048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B976386C-60A4-4A57-AFE4-BAF29D2D0B43}"/>
              </a:ext>
            </a:extLst>
          </p:cNvPr>
          <p:cNvSpPr>
            <a:spLocks noGrp="1"/>
          </p:cNvSpPr>
          <p:nvPr/>
        </p:nvSpPr>
        <p:spPr>
          <a:xfrm>
            <a:off x="8297961" y="2895600"/>
            <a:ext cx="3543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B = 1024 是统一比较的主参照预算</a:t>
            </a:r>
          </a:p>
        </p:txBody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A4528F82-C460-4ED5-A865-2C5D9F71D6F5}"/>
              </a:ext>
            </a:extLst>
          </p:cNvPr>
          <p:cNvSpPr>
            <a:spLocks noGrp="1"/>
          </p:cNvSpPr>
          <p:nvPr/>
        </p:nvSpPr>
        <p:spPr>
          <a:xfrm>
            <a:off x="8469411" y="4000500"/>
            <a:ext cx="300990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2293CDD4-A111-4A0B-80B5-71C3C7566443}"/>
              </a:ext>
            </a:extLst>
          </p:cNvPr>
          <p:cNvSpPr>
            <a:spLocks noGrp="1"/>
          </p:cNvSpPr>
          <p:nvPr/>
        </p:nvSpPr>
        <p:spPr>
          <a:xfrm>
            <a:off x="8469411" y="3467100"/>
            <a:ext cx="0" cy="5334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80B12953-5E05-4411-8F0C-66BEFD2668CB}"/>
              </a:ext>
            </a:extLst>
          </p:cNvPr>
          <p:cNvSpPr>
            <a:spLocks noGrp="1"/>
          </p:cNvSpPr>
          <p:nvPr/>
        </p:nvSpPr>
        <p:spPr>
          <a:xfrm rot="-480000">
            <a:off x="8678961" y="3752850"/>
            <a:ext cx="2476500" cy="0"/>
          </a:xfrm>
          <a:prstGeom prst="line">
            <a:avLst/>
          </a:prstGeom>
          <a:noFill/>
          <a:ln w="1524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90B69F36-76ED-443A-B426-DD7ADA190617}"/>
              </a:ext>
            </a:extLst>
          </p:cNvPr>
          <p:cNvSpPr>
            <a:spLocks noGrp="1"/>
          </p:cNvSpPr>
          <p:nvPr/>
        </p:nvSpPr>
        <p:spPr>
          <a:xfrm>
            <a:off x="8621811" y="38004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C0B19260-FDC5-4F29-AB29-996B282F263A}"/>
              </a:ext>
            </a:extLst>
          </p:cNvPr>
          <p:cNvSpPr>
            <a:spLocks noGrp="1"/>
          </p:cNvSpPr>
          <p:nvPr/>
        </p:nvSpPr>
        <p:spPr>
          <a:xfrm>
            <a:off x="9402861" y="36861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8C16011-3651-443D-BC40-CC6888C80010}"/>
              </a:ext>
            </a:extLst>
          </p:cNvPr>
          <p:cNvSpPr>
            <a:spLocks noGrp="1"/>
          </p:cNvSpPr>
          <p:nvPr/>
        </p:nvSpPr>
        <p:spPr>
          <a:xfrm>
            <a:off x="10183911" y="35718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B7247FA2-AA70-40A8-9892-0F415381345F}"/>
              </a:ext>
            </a:extLst>
          </p:cNvPr>
          <p:cNvSpPr>
            <a:spLocks noGrp="1"/>
          </p:cNvSpPr>
          <p:nvPr/>
        </p:nvSpPr>
        <p:spPr>
          <a:xfrm>
            <a:off x="10964961" y="3457575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BC46364-E2E5-4DD3-BF88-4AD910C66FF6}"/>
              </a:ext>
            </a:extLst>
          </p:cNvPr>
          <p:cNvSpPr>
            <a:spLocks noGrp="1"/>
          </p:cNvSpPr>
          <p:nvPr/>
        </p:nvSpPr>
        <p:spPr>
          <a:xfrm>
            <a:off x="8374161" y="40386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9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模型调用预算 B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D8266EF-22C8-4245-9CF2-AE09A3A56F07}"/>
              </a:ext>
            </a:extLst>
          </p:cNvPr>
          <p:cNvSpPr>
            <a:spLocks noGrp="1"/>
          </p:cNvSpPr>
          <p:nvPr/>
        </p:nvSpPr>
        <p:spPr>
          <a:xfrm>
            <a:off x="8297961" y="4324350"/>
            <a:ext cx="3543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继续增加预算是否带来有意义的质量提升？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EDB8C94F-C39C-42E5-877A-417B970E4E8D}"/>
              </a:ext>
            </a:extLst>
          </p:cNvPr>
          <p:cNvSpPr>
            <a:spLocks noGrp="1"/>
          </p:cNvSpPr>
          <p:nvPr/>
        </p:nvSpPr>
        <p:spPr>
          <a:xfrm>
            <a:off x="9536211" y="4688112"/>
            <a:ext cx="1066800" cy="247650"/>
          </a:xfrm>
          <a:prstGeom prst="roundRect">
            <a:avLst>
              <a:gd name="adj" fmla="val 46154"/>
            </a:avLst>
          </a:prstGeom>
          <a:solidFill>
            <a:srgbClr val="F47A24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待实验验证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311CB4B9-7ECD-4820-8159-D7C535719E77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为什么不运行全部组合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77785E4-E9CA-405D-95F6-B3237FCE6B77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209550" cy="209550"/>
          </a:xfrm>
          <a:prstGeom prst="rect">
            <a:avLst/>
          </a:prstGeom>
          <a:solidFill>
            <a:srgbClr val="F47A24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8E19421-43FE-4552-A7A5-CE2654681623}"/>
              </a:ext>
            </a:extLst>
          </p:cNvPr>
          <p:cNvSpPr>
            <a:spLocks noGrp="1"/>
          </p:cNvSpPr>
          <p:nvPr/>
        </p:nvSpPr>
        <p:spPr>
          <a:xfrm>
            <a:off x="866775" y="5276850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82A0268-435D-4749-9E13-B2ABF1249B97}"/>
              </a:ext>
            </a:extLst>
          </p:cNvPr>
          <p:cNvSpPr>
            <a:spLocks noGrp="1"/>
          </p:cNvSpPr>
          <p:nvPr/>
        </p:nvSpPr>
        <p:spPr>
          <a:xfrm>
            <a:off x="1123950" y="5276850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A04E1141-17A8-477F-AE74-2F76273E774D}"/>
              </a:ext>
            </a:extLst>
          </p:cNvPr>
          <p:cNvSpPr>
            <a:spLocks noGrp="1"/>
          </p:cNvSpPr>
          <p:nvPr/>
        </p:nvSpPr>
        <p:spPr>
          <a:xfrm>
            <a:off x="1381125" y="5276850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EABEFD4-C4CC-4F61-AB88-DC7CB5BEDD6F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467DD9A-B46B-417C-96D2-BAA97CD7B184}"/>
              </a:ext>
            </a:extLst>
          </p:cNvPr>
          <p:cNvSpPr>
            <a:spLocks noGrp="1"/>
          </p:cNvSpPr>
          <p:nvPr/>
        </p:nvSpPr>
        <p:spPr>
          <a:xfrm>
            <a:off x="866775" y="5534025"/>
            <a:ext cx="209550" cy="209550"/>
          </a:xfrm>
          <a:prstGeom prst="rect">
            <a:avLst/>
          </a:prstGeom>
          <a:solidFill>
            <a:srgbClr val="F47A24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9E67974-39C3-4F3B-B3D5-E19295F2A656}"/>
              </a:ext>
            </a:extLst>
          </p:cNvPr>
          <p:cNvSpPr>
            <a:spLocks noGrp="1"/>
          </p:cNvSpPr>
          <p:nvPr/>
        </p:nvSpPr>
        <p:spPr>
          <a:xfrm>
            <a:off x="1123950" y="5534025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F166198-345D-4B87-9E80-D054BC74164F}"/>
              </a:ext>
            </a:extLst>
          </p:cNvPr>
          <p:cNvSpPr>
            <a:spLocks noGrp="1"/>
          </p:cNvSpPr>
          <p:nvPr/>
        </p:nvSpPr>
        <p:spPr>
          <a:xfrm>
            <a:off x="1381125" y="5534025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1FCA7A5-10DF-4BA0-9BD6-1D564991BF1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1B54AD2-99EB-4BBE-A76F-EE18C7D64205}"/>
              </a:ext>
            </a:extLst>
          </p:cNvPr>
          <p:cNvSpPr>
            <a:spLocks noGrp="1"/>
          </p:cNvSpPr>
          <p:nvPr/>
        </p:nvSpPr>
        <p:spPr>
          <a:xfrm>
            <a:off x="866775" y="5791200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880EDAB-4EBE-4DCF-9B5D-3364EE2317FC}"/>
              </a:ext>
            </a:extLst>
          </p:cNvPr>
          <p:cNvSpPr>
            <a:spLocks noGrp="1"/>
          </p:cNvSpPr>
          <p:nvPr/>
        </p:nvSpPr>
        <p:spPr>
          <a:xfrm>
            <a:off x="1123950" y="5791200"/>
            <a:ext cx="209550" cy="209550"/>
          </a:xfrm>
          <a:prstGeom prst="rect">
            <a:avLst/>
          </a:prstGeom>
          <a:solidFill>
            <a:srgbClr val="F47A24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AFCE08A-66EC-4A4C-9CC9-8C1B08857FDE}"/>
              </a:ext>
            </a:extLst>
          </p:cNvPr>
          <p:cNvSpPr>
            <a:spLocks noGrp="1"/>
          </p:cNvSpPr>
          <p:nvPr/>
        </p:nvSpPr>
        <p:spPr>
          <a:xfrm>
            <a:off x="1381125" y="5791200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D855A8C-EC12-43A1-B7DE-C23A117ECAC3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6E4E164-8451-4E18-ABA1-2C2466F1F677}"/>
              </a:ext>
            </a:extLst>
          </p:cNvPr>
          <p:cNvSpPr>
            <a:spLocks noGrp="1"/>
          </p:cNvSpPr>
          <p:nvPr/>
        </p:nvSpPr>
        <p:spPr>
          <a:xfrm>
            <a:off x="866775" y="6048375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9C6C2F82-150B-4887-A20D-0438A84DADF2}"/>
              </a:ext>
            </a:extLst>
          </p:cNvPr>
          <p:cNvSpPr>
            <a:spLocks noGrp="1"/>
          </p:cNvSpPr>
          <p:nvPr/>
        </p:nvSpPr>
        <p:spPr>
          <a:xfrm>
            <a:off x="1123950" y="6048375"/>
            <a:ext cx="209550" cy="209550"/>
          </a:xfrm>
          <a:prstGeom prst="rect">
            <a:avLst/>
          </a:prstGeom>
          <a:solidFill>
            <a:srgbClr val="EAF3FB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DEABDA22-A5AA-412C-81A7-2575346E038A}"/>
              </a:ext>
            </a:extLst>
          </p:cNvPr>
          <p:cNvSpPr>
            <a:spLocks noGrp="1"/>
          </p:cNvSpPr>
          <p:nvPr/>
        </p:nvSpPr>
        <p:spPr>
          <a:xfrm>
            <a:off x="1381125" y="6048375"/>
            <a:ext cx="209550" cy="209550"/>
          </a:xfrm>
          <a:prstGeom prst="rect">
            <a:avLst/>
          </a:prstGeom>
          <a:solidFill>
            <a:srgbClr val="F47A24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AB83B48-E7A9-4FA3-93C0-ABC65204D6B5}"/>
              </a:ext>
            </a:extLst>
          </p:cNvPr>
          <p:cNvSpPr>
            <a:spLocks noGrp="1"/>
          </p:cNvSpPr>
          <p:nvPr/>
        </p:nvSpPr>
        <p:spPr>
          <a:xfrm>
            <a:off x="1695450" y="5314950"/>
            <a:ext cx="1485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完整 4 × 4 网格</a:t>
            </a:r>
          </a:p>
          <a:p>
            <a:pPr algn="ct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不做完整笛卡尔积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79A2CE8C-F4EF-40C5-AFD4-4E0877705594}"/>
              </a:ext>
            </a:extLst>
          </p:cNvPr>
          <p:cNvSpPr>
            <a:spLocks noGrp="1"/>
          </p:cNvSpPr>
          <p:nvPr/>
        </p:nvSpPr>
        <p:spPr>
          <a:xfrm>
            <a:off x="982759" y="6076950"/>
            <a:ext cx="262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单因素扫描</a:t>
            </a:r>
            <a:endParaRPr sz="1100" b="1" dirty="0">
              <a:solidFill>
                <a:srgbClr val="002FA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ADC4AF91-4F19-4911-974C-C6514069F2DB}"/>
              </a:ext>
            </a:extLst>
          </p:cNvPr>
          <p:cNvSpPr>
            <a:spLocks noGrp="1"/>
          </p:cNvSpPr>
          <p:nvPr/>
        </p:nvSpPr>
        <p:spPr>
          <a:xfrm>
            <a:off x="3467100" y="5181600"/>
            <a:ext cx="2857500" cy="495300"/>
          </a:xfrm>
          <a:prstGeom prst="roundRect">
            <a:avLst>
              <a:gd name="adj" fmla="val 19231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粒度扫描</a:t>
            </a: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n：50 → 100 → 200 → 300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4D1C071-7C75-44A7-AED0-ED7607C42852}"/>
              </a:ext>
            </a:extLst>
          </p:cNvPr>
          <p:cNvSpPr>
            <a:spLocks noGrp="1"/>
          </p:cNvSpPr>
          <p:nvPr/>
        </p:nvSpPr>
        <p:spPr>
          <a:xfrm>
            <a:off x="3467100" y="57531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固定 B = 1024</a:t>
            </a: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93F58F52-5BFA-4F89-870C-CC1F19BB92DA}"/>
              </a:ext>
            </a:extLst>
          </p:cNvPr>
          <p:cNvSpPr>
            <a:spLocks noGrp="1"/>
          </p:cNvSpPr>
          <p:nvPr/>
        </p:nvSpPr>
        <p:spPr>
          <a:xfrm>
            <a:off x="6477000" y="5181600"/>
            <a:ext cx="2857500" cy="495300"/>
          </a:xfrm>
          <a:prstGeom prst="roundRect">
            <a:avLst>
              <a:gd name="adj" fmla="val 19231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预算扫描</a:t>
            </a: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B：256 → 512 → 1024 → 2048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2EEEAB7-EA43-4033-BAF7-91973E9069D3}"/>
              </a:ext>
            </a:extLst>
          </p:cNvPr>
          <p:cNvSpPr>
            <a:spLocks noGrp="1"/>
          </p:cNvSpPr>
          <p:nvPr/>
        </p:nvSpPr>
        <p:spPr>
          <a:xfrm>
            <a:off x="6477000" y="57531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固定 n = 100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93DBE76-55A2-4BF4-9273-400ACEB3289D}"/>
              </a:ext>
            </a:extLst>
          </p:cNvPr>
          <p:cNvSpPr>
            <a:spLocks noGrp="1"/>
          </p:cNvSpPr>
          <p:nvPr/>
        </p:nvSpPr>
        <p:spPr>
          <a:xfrm>
            <a:off x="9523185" y="5096328"/>
            <a:ext cx="2190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9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一次前向按一张输入计数</a:t>
            </a:r>
            <a:endParaRPr sz="95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 dirty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sz="95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按实际样本数累计</a:t>
            </a:r>
            <a:endParaRPr sz="95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全零、全一与额外锚点计入预算</a:t>
            </a:r>
            <a:endParaRPr sz="95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 dirty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Ablation </a:t>
            </a:r>
            <a:r>
              <a:rPr sz="950" b="1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按实际区域数报告成本</a:t>
            </a:r>
            <a:endParaRPr sz="950" b="1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E825E63-3B20-4DBD-BB84-4CA24841F18F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1116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B = 1024 是主比较预算，不是已经验证的最优预算。</a:t>
            </a:r>
          </a:p>
        </p:txBody>
      </p:sp>
      <p:pic>
        <p:nvPicPr>
          <p:cNvPr id="129" name="图片 128">
            <a:extLst>
              <a:ext uri="{FF2B5EF4-FFF2-40B4-BE49-F238E27FC236}">
                <a16:creationId xmlns:a16="http://schemas.microsoft.com/office/drawing/2014/main" id="{7B85502C-7A52-1B20-B8C7-09A3C0DE3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57" y="1238810"/>
            <a:ext cx="4305299" cy="346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0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255F4CCC-6C0C-4ACB-83DF-22AEE342E7E6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E63B9B-8C8C-413E-9D87-028F9ACBF57F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实验变量与控制条件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970050-4505-418E-BFE8-C915E302CF70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52FF10-6CC8-49EA-A8E5-CBB5606FB07D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主动改变什么？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A7E9F2-67D2-49A7-B023-F488CB8DF62B}"/>
              </a:ext>
            </a:extLst>
          </p:cNvPr>
          <p:cNvSpPr>
            <a:spLocks noGrp="1"/>
          </p:cNvSpPr>
          <p:nvPr/>
        </p:nvSpPr>
        <p:spPr>
          <a:xfrm>
            <a:off x="4381500" y="10668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统一实验协议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9F6CBD-12DB-4CD3-AC57-5EC588C5407E}"/>
              </a:ext>
            </a:extLst>
          </p:cNvPr>
          <p:cNvSpPr>
            <a:spLocks noGrp="1"/>
          </p:cNvSpPr>
          <p:nvPr/>
        </p:nvSpPr>
        <p:spPr>
          <a:xfrm>
            <a:off x="8058150" y="10668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比较时固定什么？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2634627-F359-4E6A-9097-64B250873EF7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148252-958D-4D50-B758-3FBB510430D6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归因方法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C81159-E4D9-4DEA-AB3F-595020951ECA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Ablation　LIME　RISE　KernelSHAP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625C13-71DD-4CF9-98C3-0DC1DE81E7C6}"/>
              </a:ext>
            </a:extLst>
          </p:cNvPr>
          <p:cNvSpPr>
            <a:spLocks noGrp="1"/>
          </p:cNvSpPr>
          <p:nvPr/>
        </p:nvSpPr>
        <p:spPr>
          <a:xfrm>
            <a:off x="666750" y="2019300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rPr>
              <a:t>核心比较对象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56788B3-F821-4CBC-9A07-0C3CA13430C6}"/>
              </a:ext>
            </a:extLst>
          </p:cNvPr>
          <p:cNvSpPr>
            <a:spLocks noGrp="1"/>
          </p:cNvSpPr>
          <p:nvPr/>
        </p:nvSpPr>
        <p:spPr>
          <a:xfrm>
            <a:off x="514350" y="236220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F0DEF2-D6D6-4539-A710-E0F68BB07FD0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解释粒度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F491CA-817A-42F0-B5AF-CE233B06228A}"/>
              </a:ext>
            </a:extLst>
          </p:cNvPr>
          <p:cNvSpPr>
            <a:spLocks noGrp="1"/>
          </p:cNvSpPr>
          <p:nvPr/>
        </p:nvSpPr>
        <p:spPr>
          <a:xfrm>
            <a:off x="666750" y="265747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SLIC n ∈ {50,100,200,300}</a:t>
            </a:r>
          </a:p>
          <a:p>
            <a:pPr algn="l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RISE g ∈ {4,7,10,14}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A0292A-A2C4-4578-94FF-B351F2C9DAA5}"/>
              </a:ext>
            </a:extLst>
          </p:cNvPr>
          <p:cNvSpPr>
            <a:spLocks noGrp="1"/>
          </p:cNvSpPr>
          <p:nvPr/>
        </p:nvSpPr>
        <p:spPr>
          <a:xfrm>
            <a:off x="666750" y="2950935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 dirty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rPr>
              <a:t>RQ2：粒度敏感性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5FF5115-2867-418F-92D7-4FEA46ED6EB7}"/>
              </a:ext>
            </a:extLst>
          </p:cNvPr>
          <p:cNvSpPr>
            <a:spLocks noGrp="1"/>
          </p:cNvSpPr>
          <p:nvPr/>
        </p:nvSpPr>
        <p:spPr>
          <a:xfrm>
            <a:off x="514350" y="325755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809931-4CD6-43EA-80A7-2B8B34235237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遮蔽率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B6D2DB-48EE-48F8-AD1A-D53E061DAA91}"/>
              </a:ext>
            </a:extLst>
          </p:cNvPr>
          <p:cNvSpPr>
            <a:spLocks noGrp="1"/>
          </p:cNvSpPr>
          <p:nvPr/>
        </p:nvSpPr>
        <p:spPr>
          <a:xfrm>
            <a:off x="666750" y="355282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LIME / RISE　p ∈ {0.25,0.50,0.75}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EA774D-4727-4449-8E77-976663B09E84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rPr>
              <a:t>主设置 p = 0.50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10D9F52-2FE2-4FFF-B555-A1B90FE44126}"/>
              </a:ext>
            </a:extLst>
          </p:cNvPr>
          <p:cNvSpPr>
            <a:spLocks noGrp="1"/>
          </p:cNvSpPr>
          <p:nvPr/>
        </p:nvSpPr>
        <p:spPr>
          <a:xfrm>
            <a:off x="514350" y="4152900"/>
            <a:ext cx="3276600" cy="781050"/>
          </a:xfrm>
          <a:prstGeom prst="roundRect">
            <a:avLst>
              <a:gd name="adj" fmla="val 14634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9FF08F-B7B3-48DC-A407-BEE2981595E6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采样预算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30FB2B-888A-446F-AD4B-DD15041A0533}"/>
              </a:ext>
            </a:extLst>
          </p:cNvPr>
          <p:cNvSpPr>
            <a:spLocks noGrp="1"/>
          </p:cNvSpPr>
          <p:nvPr/>
        </p:nvSpPr>
        <p:spPr>
          <a:xfrm>
            <a:off x="666750" y="4448175"/>
            <a:ext cx="297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∈ {256,512,1024,2048}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3112FC-AB4D-418B-A2FB-21B9CB7D6AD6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rPr>
              <a:t>主设置 B = 1024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430592C-0608-46BF-9765-E9C0B88DE0AA}"/>
              </a:ext>
            </a:extLst>
          </p:cNvPr>
          <p:cNvSpPr>
            <a:spLocks noGrp="1"/>
          </p:cNvSpPr>
          <p:nvPr/>
        </p:nvSpPr>
        <p:spPr>
          <a:xfrm>
            <a:off x="4705350" y="142875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BE62700E-7682-4261-8C79-EC3DCA07ABDA}"/>
              </a:ext>
            </a:extLst>
          </p:cNvPr>
          <p:cNvSpPr>
            <a:spLocks noGrp="1"/>
          </p:cNvSpPr>
          <p:nvPr/>
        </p:nvSpPr>
        <p:spPr>
          <a:xfrm>
            <a:off x="5781675" y="183832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FB36982-626C-4D4C-89D2-075C89566D36}"/>
              </a:ext>
            </a:extLst>
          </p:cNvPr>
          <p:cNvSpPr>
            <a:spLocks noGrp="1"/>
          </p:cNvSpPr>
          <p:nvPr/>
        </p:nvSpPr>
        <p:spPr>
          <a:xfrm>
            <a:off x="4705350" y="205740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分类模型</a:t>
            </a:r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70DBA76A-A91F-4736-83D8-95DAA839703B}"/>
              </a:ext>
            </a:extLst>
          </p:cNvPr>
          <p:cNvSpPr>
            <a:spLocks noGrp="1"/>
          </p:cNvSpPr>
          <p:nvPr/>
        </p:nvSpPr>
        <p:spPr>
          <a:xfrm>
            <a:off x="5781675" y="246697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0300160-B566-473A-B224-7EBB519EE967}"/>
              </a:ext>
            </a:extLst>
          </p:cNvPr>
          <p:cNvSpPr>
            <a:spLocks noGrp="1"/>
          </p:cNvSpPr>
          <p:nvPr/>
        </p:nvSpPr>
        <p:spPr>
          <a:xfrm>
            <a:off x="4705350" y="268605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归因方法</a:t>
            </a: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EAC9C045-AB74-4141-8624-4BB2F346ACB0}"/>
              </a:ext>
            </a:extLst>
          </p:cNvPr>
          <p:cNvSpPr>
            <a:spLocks noGrp="1"/>
          </p:cNvSpPr>
          <p:nvPr/>
        </p:nvSpPr>
        <p:spPr>
          <a:xfrm>
            <a:off x="5781675" y="309562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E71C241-3BCB-48F5-B4B9-AD8DE7F05EAD}"/>
              </a:ext>
            </a:extLst>
          </p:cNvPr>
          <p:cNvSpPr>
            <a:spLocks noGrp="1"/>
          </p:cNvSpPr>
          <p:nvPr/>
        </p:nvSpPr>
        <p:spPr>
          <a:xfrm>
            <a:off x="4705350" y="331470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参数配置</a:t>
            </a:r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B7E380B2-5818-47B5-A778-E23B74375438}"/>
              </a:ext>
            </a:extLst>
          </p:cNvPr>
          <p:cNvSpPr>
            <a:spLocks noGrp="1"/>
          </p:cNvSpPr>
          <p:nvPr/>
        </p:nvSpPr>
        <p:spPr>
          <a:xfrm>
            <a:off x="5781675" y="372427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33CD604-8D6C-4992-AACF-275669D9FBBF}"/>
              </a:ext>
            </a:extLst>
          </p:cNvPr>
          <p:cNvSpPr>
            <a:spLocks noGrp="1"/>
          </p:cNvSpPr>
          <p:nvPr/>
        </p:nvSpPr>
        <p:spPr>
          <a:xfrm>
            <a:off x="4705350" y="394335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归因结果</a:t>
            </a: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453C8C0E-A522-44D2-B01C-4A330C3BC220}"/>
              </a:ext>
            </a:extLst>
          </p:cNvPr>
          <p:cNvSpPr>
            <a:spLocks noGrp="1"/>
          </p:cNvSpPr>
          <p:nvPr/>
        </p:nvSpPr>
        <p:spPr>
          <a:xfrm>
            <a:off x="5781675" y="4352925"/>
            <a:ext cx="171450" cy="161925"/>
          </a:xfrm>
          <a:prstGeom prst="down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592D2BF-6C5E-46D8-B659-17ADCECE16CC}"/>
              </a:ext>
            </a:extLst>
          </p:cNvPr>
          <p:cNvSpPr>
            <a:spLocks noGrp="1"/>
          </p:cNvSpPr>
          <p:nvPr/>
        </p:nvSpPr>
        <p:spPr>
          <a:xfrm>
            <a:off x="4705350" y="4572000"/>
            <a:ext cx="2400300" cy="381000"/>
          </a:xfrm>
          <a:prstGeom prst="roundRect">
            <a:avLst>
              <a:gd name="adj" fmla="val 25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统一评价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A0F01E9-F592-47FB-8B4D-30EF43DA8AD3}"/>
              </a:ext>
            </a:extLst>
          </p:cNvPr>
          <p:cNvSpPr>
            <a:spLocks noGrp="1"/>
          </p:cNvSpPr>
          <p:nvPr/>
        </p:nvSpPr>
        <p:spPr>
          <a:xfrm>
            <a:off x="8058150" y="14287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86D56E1-D3A3-4419-A4EA-F35F4AA62BE9}"/>
              </a:ext>
            </a:extLst>
          </p:cNvPr>
          <p:cNvSpPr>
            <a:spLocks noGrp="1"/>
          </p:cNvSpPr>
          <p:nvPr/>
        </p:nvSpPr>
        <p:spPr>
          <a:xfrm>
            <a:off x="8210550" y="14287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🔒 数据与样本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264632-F73D-4FA2-89BB-D0C0750B6469}"/>
              </a:ext>
            </a:extLst>
          </p:cNvPr>
          <p:cNvSpPr>
            <a:spLocks noGrp="1"/>
          </p:cNvSpPr>
          <p:nvPr/>
        </p:nvSpPr>
        <p:spPr>
          <a:xfrm>
            <a:off x="9220200" y="14287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ImageNet / CHNCXR　共同分类正确样本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28CE3D7-99E0-4AFE-AAFA-7111592409B2}"/>
              </a:ext>
            </a:extLst>
          </p:cNvPr>
          <p:cNvSpPr>
            <a:spLocks noGrp="1"/>
          </p:cNvSpPr>
          <p:nvPr/>
        </p:nvSpPr>
        <p:spPr>
          <a:xfrm>
            <a:off x="8058150" y="19621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2AF9E50-2A8B-4CE5-937C-64CF0E74D1D3}"/>
              </a:ext>
            </a:extLst>
          </p:cNvPr>
          <p:cNvSpPr>
            <a:spLocks noGrp="1"/>
          </p:cNvSpPr>
          <p:nvPr/>
        </p:nvSpPr>
        <p:spPr>
          <a:xfrm>
            <a:off x="8210550" y="19621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🔒 分类模型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0D2877A-1BE0-4EFB-B6A9-5CACB29E5AC7}"/>
              </a:ext>
            </a:extLst>
          </p:cNvPr>
          <p:cNvSpPr>
            <a:spLocks noGrp="1"/>
          </p:cNvSpPr>
          <p:nvPr/>
        </p:nvSpPr>
        <p:spPr>
          <a:xfrm>
            <a:off x="9220200" y="19621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ResNet-50 / VGG13　四组合分别分析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6FFE950-DBC5-4ED0-B9DC-CE8823AF534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B9F9A16-3CA8-4769-993D-062389497D23}"/>
              </a:ext>
            </a:extLst>
          </p:cNvPr>
          <p:cNvSpPr>
            <a:spLocks noGrp="1"/>
          </p:cNvSpPr>
          <p:nvPr/>
        </p:nvSpPr>
        <p:spPr>
          <a:xfrm>
            <a:off x="8210550" y="24955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🔒 被解释输出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E894E03-89FB-4C55-9E57-2464AE0211EA}"/>
              </a:ext>
            </a:extLst>
          </p:cNvPr>
          <p:cNvSpPr>
            <a:spLocks noGrp="1"/>
          </p:cNvSpPr>
          <p:nvPr/>
        </p:nvSpPr>
        <p:spPr>
          <a:xfrm>
            <a:off x="9220200" y="24955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正确类别的 pre-Softmax logit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E25E00E4-14F5-4E9D-A69D-80A827D1D18A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23C9340-4D57-496F-A652-D23B52BF2CCA}"/>
              </a:ext>
            </a:extLst>
          </p:cNvPr>
          <p:cNvSpPr>
            <a:spLocks noGrp="1"/>
          </p:cNvSpPr>
          <p:nvPr/>
        </p:nvSpPr>
        <p:spPr>
          <a:xfrm>
            <a:off x="8210550" y="30289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🔒 输入处理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6908158-5EB7-4A90-9B97-A38041B14DB8}"/>
              </a:ext>
            </a:extLst>
          </p:cNvPr>
          <p:cNvSpPr>
            <a:spLocks noGrp="1"/>
          </p:cNvSpPr>
          <p:nvPr/>
        </p:nvSpPr>
        <p:spPr>
          <a:xfrm>
            <a:off x="9220200" y="30289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完整图像 224 × 224　mask 最近邻插值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A078AD2-7E4A-4C91-A9B1-AE01114ACCC7}"/>
              </a:ext>
            </a:extLst>
          </p:cNvPr>
          <p:cNvSpPr>
            <a:spLocks noGrp="1"/>
          </p:cNvSpPr>
          <p:nvPr/>
        </p:nvSpPr>
        <p:spPr>
          <a:xfrm>
            <a:off x="8058150" y="35623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068B6F2-160D-46F9-BF0A-073B79570E45}"/>
              </a:ext>
            </a:extLst>
          </p:cNvPr>
          <p:cNvSpPr>
            <a:spLocks noGrp="1"/>
          </p:cNvSpPr>
          <p:nvPr/>
        </p:nvSpPr>
        <p:spPr>
          <a:xfrm>
            <a:off x="8210550" y="35623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🔒 遮蔽基线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311C8CE-A372-4375-98B3-8911A6837324}"/>
              </a:ext>
            </a:extLst>
          </p:cNvPr>
          <p:cNvSpPr>
            <a:spLocks noGrp="1"/>
          </p:cNvSpPr>
          <p:nvPr/>
        </p:nvSpPr>
        <p:spPr>
          <a:xfrm>
            <a:off x="9220200" y="35623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三种方法统一零基线　RISE 保留软随机 mask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A94F8E90-2AFA-44F3-9599-1EEB82DE8B82}"/>
              </a:ext>
            </a:extLst>
          </p:cNvPr>
          <p:cNvSpPr>
            <a:spLocks noGrp="1"/>
          </p:cNvSpPr>
          <p:nvPr/>
        </p:nvSpPr>
        <p:spPr>
          <a:xfrm>
            <a:off x="8058150" y="40957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B35EB8B-18D1-45E7-B460-E77BA65E1AAD}"/>
              </a:ext>
            </a:extLst>
          </p:cNvPr>
          <p:cNvSpPr>
            <a:spLocks noGrp="1"/>
          </p:cNvSpPr>
          <p:nvPr/>
        </p:nvSpPr>
        <p:spPr>
          <a:xfrm>
            <a:off x="8210550" y="40957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🔒 随机性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A93C50C-7602-4C00-8852-2CAF1F4C1642}"/>
              </a:ext>
            </a:extLst>
          </p:cNvPr>
          <p:cNvSpPr>
            <a:spLocks noGrp="1"/>
          </p:cNvSpPr>
          <p:nvPr/>
        </p:nvSpPr>
        <p:spPr>
          <a:xfrm>
            <a:off x="9220200" y="40957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seed = 0 / 1 / 2 / 3 / 4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E44C4B7-24E2-4B5C-8513-A5CDF2398D20}"/>
              </a:ext>
            </a:extLst>
          </p:cNvPr>
          <p:cNvSpPr>
            <a:spLocks noGrp="1"/>
          </p:cNvSpPr>
          <p:nvPr/>
        </p:nvSpPr>
        <p:spPr>
          <a:xfrm>
            <a:off x="8058150" y="4629150"/>
            <a:ext cx="3619500" cy="457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35AA6E3-AB16-4ACD-BBE7-A2C87CA6ED94}"/>
              </a:ext>
            </a:extLst>
          </p:cNvPr>
          <p:cNvSpPr>
            <a:spLocks noGrp="1"/>
          </p:cNvSpPr>
          <p:nvPr/>
        </p:nvSpPr>
        <p:spPr>
          <a:xfrm>
            <a:off x="8210550" y="4629150"/>
            <a:ext cx="97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🔒 计算环境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D1D4278-A5B9-4EF2-AA86-B10FECEF57C0}"/>
              </a:ext>
            </a:extLst>
          </p:cNvPr>
          <p:cNvSpPr>
            <a:spLocks noGrp="1"/>
          </p:cNvSpPr>
          <p:nvPr/>
        </p:nvSpPr>
        <p:spPr>
          <a:xfrm>
            <a:off x="9220200" y="462915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统一硬件、batch、预热策略与计时范围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550F2B2-9B2F-49C5-8F47-46C4265C5AEB}"/>
              </a:ext>
            </a:extLst>
          </p:cNvPr>
          <p:cNvSpPr>
            <a:spLocks noGrp="1"/>
          </p:cNvSpPr>
          <p:nvPr/>
        </p:nvSpPr>
        <p:spPr>
          <a:xfrm>
            <a:off x="514350" y="5467350"/>
            <a:ext cx="11163300" cy="419100"/>
          </a:xfrm>
          <a:prstGeom prst="roundRect">
            <a:avLst>
              <a:gd name="adj" fmla="val 22727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研究因素变化　×　其他条件固定　＝　可解释的实验差异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BC173A7-4C29-4A1C-92B0-E784B436A5D0}"/>
              </a:ext>
            </a:extLst>
          </p:cNvPr>
          <p:cNvSpPr>
            <a:spLocks noGrp="1"/>
          </p:cNvSpPr>
          <p:nvPr/>
        </p:nvSpPr>
        <p:spPr>
          <a:xfrm>
            <a:off x="514350" y="6000750"/>
            <a:ext cx="3543300" cy="457200"/>
          </a:xfrm>
          <a:prstGeom prst="roundRect">
            <a:avLst>
              <a:gd name="adj" fmla="val 1875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粒度实验　改变 n / g</a:t>
            </a:r>
          </a:p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固定 B = 1024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427026EE-CBFD-4790-92C0-1D9308C3CC35}"/>
              </a:ext>
            </a:extLst>
          </p:cNvPr>
          <p:cNvSpPr>
            <a:spLocks noGrp="1"/>
          </p:cNvSpPr>
          <p:nvPr/>
        </p:nvSpPr>
        <p:spPr>
          <a:xfrm>
            <a:off x="4229100" y="6000750"/>
            <a:ext cx="3543300" cy="457200"/>
          </a:xfrm>
          <a:prstGeom prst="roundRect">
            <a:avLst>
              <a:gd name="adj" fmla="val 1875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预算实验　改变 B</a:t>
            </a:r>
          </a:p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固定 SLIC n = 100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1417ABF8-6F52-49BD-A9E0-F602325806C2}"/>
              </a:ext>
            </a:extLst>
          </p:cNvPr>
          <p:cNvSpPr>
            <a:spLocks noGrp="1"/>
          </p:cNvSpPr>
          <p:nvPr/>
        </p:nvSpPr>
        <p:spPr>
          <a:xfrm>
            <a:off x="7943850" y="6000750"/>
            <a:ext cx="3543300" cy="457200"/>
          </a:xfrm>
          <a:prstGeom prst="roundRect">
            <a:avLst>
              <a:gd name="adj" fmla="val 18750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遮蔽率实验　改变 p</a:t>
            </a:r>
          </a:p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其他主设置不变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0EDFBD0-002D-48C6-9CE8-135C54BEF9B3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11163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通过单因素扫描，把方法差异、粒度影响和预算影响尽可能分离。</a:t>
            </a:r>
          </a:p>
        </p:txBody>
      </p:sp>
    </p:spTree>
    <p:extLst>
      <p:ext uri="{BB962C8B-B14F-4D97-AF65-F5344CB8AC3E}">
        <p14:creationId xmlns:p14="http://schemas.microsoft.com/office/powerpoint/2010/main" val="54708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63A6F906-17A0-4EA1-9B5B-11808D06DFEB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3B3E6B-DA9E-461E-9B10-F0800261F968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评价指标与配对统计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D1B436-5D5C-433A-9163-85DAB189715A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17F9FB-3034-4617-AFD6-0566D0193B35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E195AC-CC51-4BA2-AAC3-38E9687A91A7}"/>
              </a:ext>
            </a:extLst>
          </p:cNvPr>
          <p:cNvSpPr>
            <a:spLocks noGrp="1"/>
          </p:cNvSpPr>
          <p:nvPr/>
        </p:nvSpPr>
        <p:spPr>
          <a:xfrm>
            <a:off x="62865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忠实性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518EEA-41F2-4C18-814F-78D6700A94DC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Deletion AUC ↓</a:t>
            </a:r>
          </a:p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Insertion AUC 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E9B4A7-CB8C-4678-AFD8-B7B6538E2AC9}"/>
              </a:ext>
            </a:extLst>
          </p:cNvPr>
          <p:cNvSpPr>
            <a:spLocks noGrp="1"/>
          </p:cNvSpPr>
          <p:nvPr/>
        </p:nvSpPr>
        <p:spPr>
          <a:xfrm>
            <a:off x="62865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21 个等距检查点</a:t>
            </a:r>
          </a:p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AUC 按实际改变区域比例计算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3D6068B-8A26-4E62-BFE9-AC1898343811}"/>
              </a:ext>
            </a:extLst>
          </p:cNvPr>
          <p:cNvSpPr>
            <a:spLocks noGrp="1"/>
          </p:cNvSpPr>
          <p:nvPr/>
        </p:nvSpPr>
        <p:spPr>
          <a:xfrm>
            <a:off x="333375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69A8D2-5937-48D9-A97A-C2CCA248D717}"/>
              </a:ext>
            </a:extLst>
          </p:cNvPr>
          <p:cNvSpPr>
            <a:spLocks noGrp="1"/>
          </p:cNvSpPr>
          <p:nvPr/>
        </p:nvSpPr>
        <p:spPr>
          <a:xfrm>
            <a:off x="350520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0D406B-556D-459F-B85E-3AA3674C1431}"/>
              </a:ext>
            </a:extLst>
          </p:cNvPr>
          <p:cNvSpPr>
            <a:spLocks noGrp="1"/>
          </p:cNvSpPr>
          <p:nvPr/>
        </p:nvSpPr>
        <p:spPr>
          <a:xfrm>
            <a:off x="350520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Max-Sensitivity ↓</a:t>
            </a:r>
          </a:p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Cosine Similarity 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448989-BD9B-4E02-BCBF-364B5BA0DFA9}"/>
              </a:ext>
            </a:extLst>
          </p:cNvPr>
          <p:cNvSpPr>
            <a:spLocks noGrp="1"/>
          </p:cNvSpPr>
          <p:nvPr/>
        </p:nvSpPr>
        <p:spPr>
          <a:xfrm>
            <a:off x="350520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保持原图 SLIC、类别、</a:t>
            </a:r>
          </a:p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基线和预算不变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E7E5EC8-E381-4892-BC4F-C26EF1481421}"/>
              </a:ext>
            </a:extLst>
          </p:cNvPr>
          <p:cNvSpPr>
            <a:spLocks noGrp="1"/>
          </p:cNvSpPr>
          <p:nvPr/>
        </p:nvSpPr>
        <p:spPr>
          <a:xfrm>
            <a:off x="621030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11459F-2358-469E-AB0B-F335CFF88538}"/>
              </a:ext>
            </a:extLst>
          </p:cNvPr>
          <p:cNvSpPr>
            <a:spLocks noGrp="1"/>
          </p:cNvSpPr>
          <p:nvPr/>
        </p:nvSpPr>
        <p:spPr>
          <a:xfrm>
            <a:off x="638175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90B4C0-B1D1-4A85-95C9-A7E4D19B339D}"/>
              </a:ext>
            </a:extLst>
          </p:cNvPr>
          <p:cNvSpPr>
            <a:spLocks noGrp="1"/>
          </p:cNvSpPr>
          <p:nvPr/>
        </p:nvSpPr>
        <p:spPr>
          <a:xfrm>
            <a:off x="638175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前向次数</a:t>
            </a:r>
          </a:p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反向次数</a:t>
            </a:r>
          </a:p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归因耗时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F29D90-1DFD-4432-B605-EE14EB30C3CC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统一硬件、batch 与预热</a:t>
            </a:r>
          </a:p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计时只覆盖归因阶段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75ADD2C-D223-4340-8F78-D4318F5BE68A}"/>
              </a:ext>
            </a:extLst>
          </p:cNvPr>
          <p:cNvSpPr>
            <a:spLocks noGrp="1"/>
          </p:cNvSpPr>
          <p:nvPr/>
        </p:nvSpPr>
        <p:spPr>
          <a:xfrm>
            <a:off x="9086850" y="1295400"/>
            <a:ext cx="2647950" cy="3143250"/>
          </a:xfrm>
          <a:prstGeom prst="roundRect">
            <a:avLst>
              <a:gd name="adj" fmla="val 5396"/>
            </a:avLst>
          </a:prstGeom>
          <a:solidFill>
            <a:srgbClr val="F6FAFD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7FB78E-9C39-4937-B060-63F5949E5A0B}"/>
              </a:ext>
            </a:extLst>
          </p:cNvPr>
          <p:cNvSpPr>
            <a:spLocks noGrp="1"/>
          </p:cNvSpPr>
          <p:nvPr/>
        </p:nvSpPr>
        <p:spPr>
          <a:xfrm>
            <a:off x="9258300" y="1447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定位性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8FDF94-2CF0-48B1-B80D-4501E9D90E72}"/>
              </a:ext>
            </a:extLst>
          </p:cNvPr>
          <p:cNvSpPr>
            <a:spLocks noGrp="1"/>
          </p:cNvSpPr>
          <p:nvPr/>
        </p:nvSpPr>
        <p:spPr>
          <a:xfrm>
            <a:off x="9258300" y="1905000"/>
            <a:ext cx="2305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掩码内正能量占比</a:t>
            </a:r>
          </a:p>
          <a:p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Pointing Game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AAC092-0BDC-44FA-8E7B-08D2902A5E5C}"/>
              </a:ext>
            </a:extLst>
          </p:cNvPr>
          <p:cNvSpPr>
            <a:spLocks noGrp="1"/>
          </p:cNvSpPr>
          <p:nvPr/>
        </p:nvSpPr>
        <p:spPr>
          <a:xfrm>
            <a:off x="9258300" y="3695700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ImageNet：边界框区域</a:t>
            </a:r>
          </a:p>
          <a:p>
            <a:pPr algn="ctr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CHNCXR：病灶并集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F1EECD4E-A49A-44CC-9660-8933939EB548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196215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CE4C414-3A05-4B36-B01F-4414B8BA56DE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0" cy="5334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97D93DF-2D94-4C94-97A7-3BC29591A102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0E945C3-E2C4-40AF-82B6-E648180B0F5E}"/>
              </a:ext>
            </a:extLst>
          </p:cNvPr>
          <p:cNvSpPr>
            <a:spLocks noGrp="1"/>
          </p:cNvSpPr>
          <p:nvPr/>
        </p:nvSpPr>
        <p:spPr>
          <a:xfrm>
            <a:off x="1333500" y="3009900"/>
            <a:ext cx="95250" cy="952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81F23DB-F3FE-417E-B948-FA00FCBD70D0}"/>
              </a:ext>
            </a:extLst>
          </p:cNvPr>
          <p:cNvSpPr>
            <a:spLocks noGrp="1"/>
          </p:cNvSpPr>
          <p:nvPr/>
        </p:nvSpPr>
        <p:spPr>
          <a:xfrm>
            <a:off x="1790700" y="2914650"/>
            <a:ext cx="95250" cy="9525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0ABED82-B411-4CE2-B359-FB50F81BE7AD}"/>
              </a:ext>
            </a:extLst>
          </p:cNvPr>
          <p:cNvSpPr>
            <a:spLocks noGrp="1"/>
          </p:cNvSpPr>
          <p:nvPr/>
        </p:nvSpPr>
        <p:spPr>
          <a:xfrm>
            <a:off x="2247900" y="2819400"/>
            <a:ext cx="95250" cy="9525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C689055-5863-44A0-A58D-2DDA4E4EA9A5}"/>
              </a:ext>
            </a:extLst>
          </p:cNvPr>
          <p:cNvSpPr>
            <a:spLocks noGrp="1"/>
          </p:cNvSpPr>
          <p:nvPr/>
        </p:nvSpPr>
        <p:spPr>
          <a:xfrm>
            <a:off x="3619500" y="2800350"/>
            <a:ext cx="723900" cy="666750"/>
          </a:xfrm>
          <a:prstGeom prst="roundRect">
            <a:avLst>
              <a:gd name="adj" fmla="val 114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EFA2CAD-137B-402C-93C6-F0A4151B8F47}"/>
              </a:ext>
            </a:extLst>
          </p:cNvPr>
          <p:cNvSpPr>
            <a:spLocks noGrp="1"/>
          </p:cNvSpPr>
          <p:nvPr/>
        </p:nvSpPr>
        <p:spPr>
          <a:xfrm>
            <a:off x="3773805" y="2967038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C69759D-1E48-4723-B88B-E56DC2B00402}"/>
              </a:ext>
            </a:extLst>
          </p:cNvPr>
          <p:cNvSpPr>
            <a:spLocks noGrp="1"/>
          </p:cNvSpPr>
          <p:nvPr/>
        </p:nvSpPr>
        <p:spPr>
          <a:xfrm>
            <a:off x="3859530" y="3033713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6C4BCFF7-829E-4AF6-B2AC-D9405D92BC69}"/>
              </a:ext>
            </a:extLst>
          </p:cNvPr>
          <p:cNvSpPr>
            <a:spLocks noGrp="1"/>
          </p:cNvSpPr>
          <p:nvPr/>
        </p:nvSpPr>
        <p:spPr>
          <a:xfrm>
            <a:off x="4419600" y="300990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C797BD8-0FF6-430F-976C-9CC1407B0B9F}"/>
              </a:ext>
            </a:extLst>
          </p:cNvPr>
          <p:cNvSpPr>
            <a:spLocks noGrp="1"/>
          </p:cNvSpPr>
          <p:nvPr/>
        </p:nvSpPr>
        <p:spPr>
          <a:xfrm>
            <a:off x="4724400" y="2800350"/>
            <a:ext cx="723900" cy="666750"/>
          </a:xfrm>
          <a:prstGeom prst="roundRect">
            <a:avLst>
              <a:gd name="adj" fmla="val 114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4F8983F-5C51-42D7-8F13-384FDF5078F9}"/>
              </a:ext>
            </a:extLst>
          </p:cNvPr>
          <p:cNvSpPr>
            <a:spLocks noGrp="1"/>
          </p:cNvSpPr>
          <p:nvPr/>
        </p:nvSpPr>
        <p:spPr>
          <a:xfrm>
            <a:off x="4900422" y="2987040"/>
            <a:ext cx="342900" cy="266700"/>
          </a:xfrm>
          <a:prstGeom prst="ellipse">
            <a:avLst/>
          </a:prstGeom>
          <a:solidFill>
            <a:srgbClr val="54D3D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5301A96-8021-4895-A96D-0228BC588460}"/>
              </a:ext>
            </a:extLst>
          </p:cNvPr>
          <p:cNvSpPr>
            <a:spLocks noGrp="1"/>
          </p:cNvSpPr>
          <p:nvPr/>
        </p:nvSpPr>
        <p:spPr>
          <a:xfrm>
            <a:off x="4986147" y="3053715"/>
            <a:ext cx="171450" cy="1333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DC608D1-5145-4E24-B605-453CCB9236B8}"/>
              </a:ext>
            </a:extLst>
          </p:cNvPr>
          <p:cNvSpPr>
            <a:spLocks noGrp="1"/>
          </p:cNvSpPr>
          <p:nvPr/>
        </p:nvSpPr>
        <p:spPr>
          <a:xfrm>
            <a:off x="6496050" y="2838450"/>
            <a:ext cx="666750" cy="495300"/>
          </a:xfrm>
          <a:prstGeom prst="roundRect">
            <a:avLst>
              <a:gd name="adj" fmla="val 15385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F2D5C56-0204-491E-9EB9-B3A99F48435C}"/>
              </a:ext>
            </a:extLst>
          </p:cNvPr>
          <p:cNvSpPr>
            <a:spLocks noGrp="1"/>
          </p:cNvSpPr>
          <p:nvPr/>
        </p:nvSpPr>
        <p:spPr>
          <a:xfrm>
            <a:off x="6496050" y="28384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6949CA0-A586-44DB-98D5-0E74D37A0774}"/>
              </a:ext>
            </a:extLst>
          </p:cNvPr>
          <p:cNvSpPr>
            <a:spLocks noGrp="1"/>
          </p:cNvSpPr>
          <p:nvPr/>
        </p:nvSpPr>
        <p:spPr>
          <a:xfrm>
            <a:off x="7391400" y="2762250"/>
            <a:ext cx="647700" cy="6477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CB6F9748-8E75-4588-A75D-5E7D58B0BF7C}"/>
              </a:ext>
            </a:extLst>
          </p:cNvPr>
          <p:cNvSpPr>
            <a:spLocks noGrp="1"/>
          </p:cNvSpPr>
          <p:nvPr/>
        </p:nvSpPr>
        <p:spPr>
          <a:xfrm>
            <a:off x="7715250" y="2895600"/>
            <a:ext cx="0" cy="209550"/>
          </a:xfrm>
          <a:prstGeom prst="line">
            <a:avLst/>
          </a:prstGeom>
          <a:noFill/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87D543A7-2625-44EF-91E4-4D9F5BFAFCA9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152400" cy="0"/>
          </a:xfrm>
          <a:prstGeom prst="line">
            <a:avLst/>
          </a:prstGeom>
          <a:noFill/>
          <a:ln w="1905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5688798-9442-4415-BB3D-B1E921C67FE0}"/>
              </a:ext>
            </a:extLst>
          </p:cNvPr>
          <p:cNvSpPr>
            <a:spLocks noGrp="1"/>
          </p:cNvSpPr>
          <p:nvPr/>
        </p:nvSpPr>
        <p:spPr>
          <a:xfrm>
            <a:off x="9372600" y="2781300"/>
            <a:ext cx="876300" cy="685800"/>
          </a:xfrm>
          <a:prstGeom prst="roundRect">
            <a:avLst>
              <a:gd name="adj" fmla="val 11111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90A5BF8-E907-4500-A78F-373A0791D71A}"/>
              </a:ext>
            </a:extLst>
          </p:cNvPr>
          <p:cNvSpPr>
            <a:spLocks noGrp="1"/>
          </p:cNvSpPr>
          <p:nvPr/>
        </p:nvSpPr>
        <p:spPr>
          <a:xfrm>
            <a:off x="9667875" y="2990850"/>
            <a:ext cx="228600" cy="2286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8FF9B78-96FE-4157-BDBA-16FE9581C448}"/>
              </a:ext>
            </a:extLst>
          </p:cNvPr>
          <p:cNvSpPr>
            <a:spLocks noGrp="1"/>
          </p:cNvSpPr>
          <p:nvPr/>
        </p:nvSpPr>
        <p:spPr>
          <a:xfrm>
            <a:off x="10401300" y="2781300"/>
            <a:ext cx="876300" cy="685800"/>
          </a:xfrm>
          <a:prstGeom prst="roundRect">
            <a:avLst>
              <a:gd name="adj" fmla="val 11111"/>
            </a:avLst>
          </a:prstGeom>
          <a:noFill/>
          <a:ln w="1905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FD6D9CE-8591-4678-B090-93F3ADE8F1B1}"/>
              </a:ext>
            </a:extLst>
          </p:cNvPr>
          <p:cNvSpPr>
            <a:spLocks noGrp="1"/>
          </p:cNvSpPr>
          <p:nvPr/>
        </p:nvSpPr>
        <p:spPr>
          <a:xfrm>
            <a:off x="10744200" y="3028950"/>
            <a:ext cx="114300" cy="1143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A66957-AA3D-453D-94CE-54B91DDB8BEF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11277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统计原则</a:t>
            </a:r>
          </a:p>
        </p:txBody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F5A5B24E-ACB2-474B-AC27-5CBDB58BF226}"/>
              </a:ext>
            </a:extLst>
          </p:cNvPr>
          <p:cNvSpPr>
            <a:spLocks noGrp="1"/>
          </p:cNvSpPr>
          <p:nvPr/>
        </p:nvSpPr>
        <p:spPr>
          <a:xfrm>
            <a:off x="1428750" y="4791075"/>
            <a:ext cx="103060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27BB028-455B-47AD-9C3F-EC7A0C5CBD78}"/>
              </a:ext>
            </a:extLst>
          </p:cNvPr>
          <p:cNvSpPr>
            <a:spLocks noGrp="1"/>
          </p:cNvSpPr>
          <p:nvPr/>
        </p:nvSpPr>
        <p:spPr>
          <a:xfrm>
            <a:off x="51435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数据域 × 模型</a:t>
            </a:r>
          </a:p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分别分析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071ED63A-FFC3-4D99-A24F-73FDAE450F75}"/>
              </a:ext>
            </a:extLst>
          </p:cNvPr>
          <p:cNvSpPr>
            <a:spLocks noGrp="1"/>
          </p:cNvSpPr>
          <p:nvPr/>
        </p:nvSpPr>
        <p:spPr>
          <a:xfrm>
            <a:off x="228600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20424DC-FE5D-4E9B-81BA-D7BBAF2745B8}"/>
              </a:ext>
            </a:extLst>
          </p:cNvPr>
          <p:cNvSpPr>
            <a:spLocks noGrp="1"/>
          </p:cNvSpPr>
          <p:nvPr/>
        </p:nvSpPr>
        <p:spPr>
          <a:xfrm>
            <a:off x="274320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图像作为</a:t>
            </a:r>
          </a:p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独立配对单位</a:t>
            </a: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160567EF-8F61-4B39-83EC-BC68D8385031}"/>
              </a:ext>
            </a:extLst>
          </p:cNvPr>
          <p:cNvSpPr>
            <a:spLocks noGrp="1"/>
          </p:cNvSpPr>
          <p:nvPr/>
        </p:nvSpPr>
        <p:spPr>
          <a:xfrm>
            <a:off x="451485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4B117FB4-DFDB-4002-871F-EB74EF0A1B8D}"/>
              </a:ext>
            </a:extLst>
          </p:cNvPr>
          <p:cNvSpPr>
            <a:spLocks noGrp="1"/>
          </p:cNvSpPr>
          <p:nvPr/>
        </p:nvSpPr>
        <p:spPr>
          <a:xfrm>
            <a:off x="497205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中位数 + IQR</a:t>
            </a:r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4CCB2241-C16F-40EE-96F1-BEDD82ECC72B}"/>
              </a:ext>
            </a:extLst>
          </p:cNvPr>
          <p:cNvSpPr>
            <a:spLocks noGrp="1"/>
          </p:cNvSpPr>
          <p:nvPr/>
        </p:nvSpPr>
        <p:spPr>
          <a:xfrm>
            <a:off x="674370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928A29E-215E-4D27-B43E-EC8A68882653}"/>
              </a:ext>
            </a:extLst>
          </p:cNvPr>
          <p:cNvSpPr>
            <a:spLocks noGrp="1"/>
          </p:cNvSpPr>
          <p:nvPr/>
        </p:nvSpPr>
        <p:spPr>
          <a:xfrm>
            <a:off x="720090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配对 bootstrap</a:t>
            </a:r>
          </a:p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95% CI</a:t>
            </a: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1C5F1C8A-CEB7-4E66-97D4-573862ADF4F0}"/>
              </a:ext>
            </a:extLst>
          </p:cNvPr>
          <p:cNvSpPr>
            <a:spLocks noGrp="1"/>
          </p:cNvSpPr>
          <p:nvPr/>
        </p:nvSpPr>
        <p:spPr>
          <a:xfrm>
            <a:off x="8972550" y="5153025"/>
            <a:ext cx="24765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A643D18-ED38-4CD0-AC5D-5A394CBC5A98}"/>
              </a:ext>
            </a:extLst>
          </p:cNvPr>
          <p:cNvSpPr>
            <a:spLocks noGrp="1"/>
          </p:cNvSpPr>
          <p:nvPr/>
        </p:nvSpPr>
        <p:spPr>
          <a:xfrm>
            <a:off x="9429750" y="4991100"/>
            <a:ext cx="1733550" cy="514350"/>
          </a:xfrm>
          <a:prstGeom prst="roundRect">
            <a:avLst>
              <a:gd name="adj" fmla="val 18519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Wilcoxon + Holm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C4603CB-AD46-4085-9864-42C932F2AC17}"/>
              </a:ext>
            </a:extLst>
          </p:cNvPr>
          <p:cNvSpPr>
            <a:spLocks noGrp="1"/>
          </p:cNvSpPr>
          <p:nvPr/>
        </p:nvSpPr>
        <p:spPr>
          <a:xfrm>
            <a:off x="457200" y="56007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逐图配对　报告效应量与置信区间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2ED0AA3-A740-4461-AB0E-36446156987F}"/>
              </a:ext>
            </a:extLst>
          </p:cNvPr>
          <p:cNvSpPr>
            <a:spLocks noGrp="1"/>
          </p:cNvSpPr>
          <p:nvPr/>
        </p:nvSpPr>
        <p:spPr>
          <a:xfrm>
            <a:off x="5429250" y="5600700"/>
            <a:ext cx="6305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bootstrap 10,000 次　效应量：配对秩二列相关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691AF254-8488-4C23-91BD-D8B4F12203F5}"/>
              </a:ext>
            </a:extLst>
          </p:cNvPr>
          <p:cNvSpPr>
            <a:spLocks noGrp="1"/>
          </p:cNvSpPr>
          <p:nvPr/>
        </p:nvSpPr>
        <p:spPr>
          <a:xfrm>
            <a:off x="457200" y="6019800"/>
            <a:ext cx="5429250" cy="457200"/>
          </a:xfrm>
          <a:prstGeom prst="roundRect">
            <a:avLst>
              <a:gd name="adj" fmla="val 20833"/>
            </a:avLst>
          </a:prstGeom>
          <a:solidFill>
            <a:srgbClr val="FFF6F1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⚠ 随机种子和输入扰动重复次数不是新增独立样本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B298D06-5CA7-4C3B-A222-EF001AB1BA0C}"/>
              </a:ext>
            </a:extLst>
          </p:cNvPr>
          <p:cNvSpPr>
            <a:spLocks noGrp="1"/>
          </p:cNvSpPr>
          <p:nvPr/>
        </p:nvSpPr>
        <p:spPr>
          <a:xfrm>
            <a:off x="6076950" y="6019800"/>
            <a:ext cx="5657850" cy="457200"/>
          </a:xfrm>
          <a:prstGeom prst="roundRect">
            <a:avLst>
              <a:gd name="adj" fmla="val 20833"/>
            </a:avLst>
          </a:prstGeom>
          <a:solidFill>
            <a:srgbClr val="FFF6F1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⚠ 不同数据域 / 模型的原始 AUC 不合并为一个总体分数</a:t>
            </a:r>
          </a:p>
        </p:txBody>
      </p:sp>
    </p:spTree>
    <p:extLst>
      <p:ext uri="{BB962C8B-B14F-4D97-AF65-F5344CB8AC3E}">
        <p14:creationId xmlns:p14="http://schemas.microsoft.com/office/powerpoint/2010/main" val="155971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06552B28-20D6-4FD8-8718-059FC6784E77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29965A-4D64-416A-B9BA-C88AA7F7E9D2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六项实验构成完整验证方案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85A241-3964-4F4B-B189-7AC856028531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1B80490-5EEF-490B-85C3-AC40F2B9CBF0}"/>
              </a:ext>
            </a:extLst>
          </p:cNvPr>
          <p:cNvSpPr>
            <a:spLocks noGrp="1"/>
          </p:cNvSpPr>
          <p:nvPr/>
        </p:nvSpPr>
        <p:spPr>
          <a:xfrm>
            <a:off x="2476500" y="1028700"/>
            <a:ext cx="742950" cy="266700"/>
          </a:xfrm>
          <a:prstGeom prst="roundRect">
            <a:avLst>
              <a:gd name="adj" fmla="val 42857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E5C9AE-7241-4A4B-A764-07BBF07D206D}"/>
              </a:ext>
            </a:extLst>
          </p:cNvPr>
          <p:cNvSpPr>
            <a:spLocks noGrp="1"/>
          </p:cNvSpPr>
          <p:nvPr/>
        </p:nvSpPr>
        <p:spPr>
          <a:xfrm>
            <a:off x="3276600" y="1028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质量 × 效率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98590E-6F5F-4B2B-B731-25A4CFBF6F4F}"/>
              </a:ext>
            </a:extLst>
          </p:cNvPr>
          <p:cNvSpPr>
            <a:spLocks noGrp="1"/>
          </p:cNvSpPr>
          <p:nvPr/>
        </p:nvSpPr>
        <p:spPr>
          <a:xfrm>
            <a:off x="4953000" y="1028700"/>
            <a:ext cx="742950" cy="266700"/>
          </a:xfrm>
          <a:prstGeom prst="roundRect">
            <a:avLst>
              <a:gd name="adj" fmla="val 42857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044072-B198-4849-BE92-6B6A46461304}"/>
              </a:ext>
            </a:extLst>
          </p:cNvPr>
          <p:cNvSpPr>
            <a:spLocks noGrp="1"/>
          </p:cNvSpPr>
          <p:nvPr/>
        </p:nvSpPr>
        <p:spPr>
          <a:xfrm>
            <a:off x="5753100" y="1028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参数敏感性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19C6A82-64CB-4DC7-8862-F1963A61B1C0}"/>
              </a:ext>
            </a:extLst>
          </p:cNvPr>
          <p:cNvSpPr>
            <a:spLocks noGrp="1"/>
          </p:cNvSpPr>
          <p:nvPr/>
        </p:nvSpPr>
        <p:spPr>
          <a:xfrm>
            <a:off x="7429500" y="1028700"/>
            <a:ext cx="742950" cy="266700"/>
          </a:xfrm>
          <a:prstGeom prst="roundRect">
            <a:avLst>
              <a:gd name="adj" fmla="val 42857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F6F49C-A2F0-4ADC-934C-D6B360FC3A16}"/>
              </a:ext>
            </a:extLst>
          </p:cNvPr>
          <p:cNvSpPr>
            <a:spLocks noGrp="1"/>
          </p:cNvSpPr>
          <p:nvPr/>
        </p:nvSpPr>
        <p:spPr>
          <a:xfrm>
            <a:off x="8229600" y="1028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理论 × 实践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7F48A4-5D51-4829-A200-6E9ACC4084C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71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四项必做实验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68271C-8D2D-4C72-B0B0-557CA626B157}"/>
              </a:ext>
            </a:extLst>
          </p:cNvPr>
          <p:cNvSpPr>
            <a:spLocks noGrp="1"/>
          </p:cNvSpPr>
          <p:nvPr/>
        </p:nvSpPr>
        <p:spPr>
          <a:xfrm>
            <a:off x="8515350" y="1428750"/>
            <a:ext cx="3162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6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两项选做实验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B87ED99-A611-4AE0-9193-92C2C509A3A1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344FF5-2F6A-4E53-B067-BB41BB4A6830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F3BFFEC-E72A-4053-B78C-B6E8C32FD957}"/>
              </a:ext>
            </a:extLst>
          </p:cNvPr>
          <p:cNvSpPr>
            <a:spLocks noGrp="1"/>
          </p:cNvSpPr>
          <p:nvPr/>
        </p:nvSpPr>
        <p:spPr>
          <a:xfrm>
            <a:off x="3276600" y="19050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AD546E-BB70-430E-97A6-527EEDDB5F56}"/>
              </a:ext>
            </a:extLst>
          </p:cNvPr>
          <p:cNvSpPr>
            <a:spLocks noGrp="1"/>
          </p:cNvSpPr>
          <p:nvPr/>
        </p:nvSpPr>
        <p:spPr>
          <a:xfrm>
            <a:off x="1238250" y="18859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核心方法质量与效率比较</a:t>
            </a:r>
            <a:endParaRPr sz="13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DDDE11E6-7FE1-4D56-AE8D-0C18939E8AFC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3390900" cy="0"/>
          </a:xfrm>
          <a:prstGeom prst="line">
            <a:avLst/>
          </a:prstGeom>
          <a:noFill/>
          <a:ln w="9525">
            <a:solidFill>
              <a:srgbClr val="6687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99E6E1-CC15-4091-A917-7BFE024A4299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/ LIME / RISE / </a:t>
            </a:r>
            <a:r>
              <a:rPr sz="105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</a:t>
            </a:r>
            <a:endParaRPr sz="105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2E0861-3F5A-4217-8F0D-E74C6F46B242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DDE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 err="1">
                <a:solidFill>
                  <a:srgbClr val="61758B"/>
                </a:solidFill>
                <a:latin typeface="Microsoft YaHei"/>
                <a:ea typeface="Microsoft YaHei"/>
              </a:rPr>
              <a:t>统一预算下比较解释质量与计算成本</a:t>
            </a:r>
            <a:endParaRPr sz="1050" dirty="0">
              <a:solidFill>
                <a:srgbClr val="61758B"/>
              </a:solidFill>
              <a:latin typeface="Microsoft YaHei"/>
              <a:ea typeface="Microsoft YaHe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BD1F3FF-21F0-4D25-B9A4-3813379D13C4}"/>
              </a:ext>
            </a:extLst>
          </p:cNvPr>
          <p:cNvSpPr>
            <a:spLocks noGrp="1"/>
          </p:cNvSpPr>
          <p:nvPr/>
        </p:nvSpPr>
        <p:spPr>
          <a:xfrm>
            <a:off x="4419600" y="17526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38096D-5E95-4EE6-9ABA-A0D6A70AD0CA}"/>
              </a:ext>
            </a:extLst>
          </p:cNvPr>
          <p:cNvSpPr>
            <a:spLocks noGrp="1"/>
          </p:cNvSpPr>
          <p:nvPr/>
        </p:nvSpPr>
        <p:spPr>
          <a:xfrm>
            <a:off x="4591050" y="18859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D37E8FA-E48B-4846-A665-1784881BB3E2}"/>
              </a:ext>
            </a:extLst>
          </p:cNvPr>
          <p:cNvSpPr>
            <a:spLocks noGrp="1"/>
          </p:cNvSpPr>
          <p:nvPr/>
        </p:nvSpPr>
        <p:spPr>
          <a:xfrm>
            <a:off x="7181850" y="19050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E1DFDB-6E7B-4667-810A-016E8FFAEDC1}"/>
              </a:ext>
            </a:extLst>
          </p:cNvPr>
          <p:cNvSpPr>
            <a:spLocks noGrp="1"/>
          </p:cNvSpPr>
          <p:nvPr/>
        </p:nvSpPr>
        <p:spPr>
          <a:xfrm>
            <a:off x="5143500" y="18859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参数敏感性分析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11E2BC7B-DCE4-464A-9107-61987CF7FE7C}"/>
              </a:ext>
            </a:extLst>
          </p:cNvPr>
          <p:cNvSpPr>
            <a:spLocks noGrp="1"/>
          </p:cNvSpPr>
          <p:nvPr/>
        </p:nvSpPr>
        <p:spPr>
          <a:xfrm>
            <a:off x="4591050" y="2305050"/>
            <a:ext cx="33909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E4AD65-B4AF-4C51-B896-EB111FD49998}"/>
              </a:ext>
            </a:extLst>
          </p:cNvPr>
          <p:cNvSpPr>
            <a:spLocks noGrp="1"/>
          </p:cNvSpPr>
          <p:nvPr/>
        </p:nvSpPr>
        <p:spPr>
          <a:xfrm>
            <a:off x="4591050" y="24384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SLIC 粒度、RISE 网格、遮蔽率、采样预算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4B95FE-B4A8-4807-8FB2-22C421ABEFD2}"/>
              </a:ext>
            </a:extLst>
          </p:cNvPr>
          <p:cNvSpPr>
            <a:spLocks noGrp="1"/>
          </p:cNvSpPr>
          <p:nvPr/>
        </p:nvSpPr>
        <p:spPr>
          <a:xfrm>
            <a:off x="4591050" y="29527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粒度与预算采用单因素扫描</a:t>
            </a:r>
            <a:endParaRPr sz="1050" b="0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AE6AC67-AF1F-4F2E-A2A0-C302CB89B9A5}"/>
              </a:ext>
            </a:extLst>
          </p:cNvPr>
          <p:cNvSpPr>
            <a:spLocks noGrp="1"/>
          </p:cNvSpPr>
          <p:nvPr/>
        </p:nvSpPr>
        <p:spPr>
          <a:xfrm>
            <a:off x="514350" y="38100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ED7D3E-406A-410A-A0A3-29471E58AB83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BE006DA-2600-41C1-8A0A-BD7C1CDEF905}"/>
              </a:ext>
            </a:extLst>
          </p:cNvPr>
          <p:cNvSpPr>
            <a:spLocks noGrp="1"/>
          </p:cNvSpPr>
          <p:nvPr/>
        </p:nvSpPr>
        <p:spPr>
          <a:xfrm>
            <a:off x="3276600" y="39624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0CB21E-C099-4E4D-9688-2477448AD2E0}"/>
              </a:ext>
            </a:extLst>
          </p:cNvPr>
          <p:cNvSpPr>
            <a:spLocks noGrp="1"/>
          </p:cNvSpPr>
          <p:nvPr/>
        </p:nvSpPr>
        <p:spPr>
          <a:xfrm>
            <a:off x="1238250" y="39433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候选方法扩展与基线敏感性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A100B3BF-36C1-4D37-B127-C6F6B127F15B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33909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A8FF77-93EA-471D-A940-2622A553506E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扩展候选方法集合并比较遮蔽基线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434608-E8F7-4541-9ED3-8EBD4E2A0A68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检查原有比较结论是否稳定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9318DF6-985E-4155-BF4A-7FFD0C6DD453}"/>
              </a:ext>
            </a:extLst>
          </p:cNvPr>
          <p:cNvSpPr>
            <a:spLocks noGrp="1"/>
          </p:cNvSpPr>
          <p:nvPr/>
        </p:nvSpPr>
        <p:spPr>
          <a:xfrm>
            <a:off x="4419600" y="3810000"/>
            <a:ext cx="3733800" cy="1866900"/>
          </a:xfrm>
          <a:prstGeom prst="roundRect">
            <a:avLst>
              <a:gd name="adj" fmla="val 663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A443660-600F-432B-A26B-A115D3AA4CC2}"/>
              </a:ext>
            </a:extLst>
          </p:cNvPr>
          <p:cNvSpPr>
            <a:spLocks noGrp="1"/>
          </p:cNvSpPr>
          <p:nvPr/>
        </p:nvSpPr>
        <p:spPr>
          <a:xfrm>
            <a:off x="4591050" y="39433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0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03B302D-0280-4443-8825-C35A2BC42B2C}"/>
              </a:ext>
            </a:extLst>
          </p:cNvPr>
          <p:cNvSpPr>
            <a:spLocks noGrp="1"/>
          </p:cNvSpPr>
          <p:nvPr/>
        </p:nvSpPr>
        <p:spPr>
          <a:xfrm>
            <a:off x="7181850" y="396240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700332-C3ED-494A-A9A3-5F1C6464F0F0}"/>
              </a:ext>
            </a:extLst>
          </p:cNvPr>
          <p:cNvSpPr>
            <a:spLocks noGrp="1"/>
          </p:cNvSpPr>
          <p:nvPr/>
        </p:nvSpPr>
        <p:spPr>
          <a:xfrm>
            <a:off x="5143500" y="394335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与梯度类方法交叉比较</a:t>
            </a:r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78A7E0D0-C24A-4221-B0C0-2DA70ABF2136}"/>
              </a:ext>
            </a:extLst>
          </p:cNvPr>
          <p:cNvSpPr>
            <a:spLocks noGrp="1"/>
          </p:cNvSpPr>
          <p:nvPr/>
        </p:nvSpPr>
        <p:spPr>
          <a:xfrm>
            <a:off x="4591050" y="4362450"/>
            <a:ext cx="33909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440281A-3D11-44D2-9BA2-EE7F37BC9949}"/>
              </a:ext>
            </a:extLst>
          </p:cNvPr>
          <p:cNvSpPr>
            <a:spLocks noGrp="1"/>
          </p:cNvSpPr>
          <p:nvPr/>
        </p:nvSpPr>
        <p:spPr>
          <a:xfrm>
            <a:off x="4591050" y="44958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代表性扰动 / 博弈论配置对照 IG、EG、Grad-CAM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3260180-E59D-4EC8-A1B1-518D605BA27B}"/>
              </a:ext>
            </a:extLst>
          </p:cNvPr>
          <p:cNvSpPr>
            <a:spLocks noGrp="1"/>
          </p:cNvSpPr>
          <p:nvPr/>
        </p:nvSpPr>
        <p:spPr>
          <a:xfrm>
            <a:off x="4591050" y="5010150"/>
            <a:ext cx="3390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外部梯度类对照采用同协议比较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11EE9E2-7D09-4D9D-B1A9-FB4B0656BAB6}"/>
              </a:ext>
            </a:extLst>
          </p:cNvPr>
          <p:cNvSpPr>
            <a:spLocks noGrp="1"/>
          </p:cNvSpPr>
          <p:nvPr/>
        </p:nvSpPr>
        <p:spPr>
          <a:xfrm>
            <a:off x="8515350" y="1752600"/>
            <a:ext cx="3162300" cy="186690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35CD6A4-6BB0-4910-B9D2-38C7213538A7}"/>
              </a:ext>
            </a:extLst>
          </p:cNvPr>
          <p:cNvSpPr>
            <a:spLocks noGrp="1"/>
          </p:cNvSpPr>
          <p:nvPr/>
        </p:nvSpPr>
        <p:spPr>
          <a:xfrm>
            <a:off x="8667750" y="18859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0D45B17-1FC0-48C3-92C1-D6293E10239F}"/>
              </a:ext>
            </a:extLst>
          </p:cNvPr>
          <p:cNvSpPr>
            <a:spLocks noGrp="1"/>
          </p:cNvSpPr>
          <p:nvPr/>
        </p:nvSpPr>
        <p:spPr>
          <a:xfrm>
            <a:off x="10591800" y="19050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探索性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166D889-C3C5-42DD-A185-ED3511934DA8}"/>
              </a:ext>
            </a:extLst>
          </p:cNvPr>
          <p:cNvSpPr>
            <a:spLocks noGrp="1"/>
          </p:cNvSpPr>
          <p:nvPr/>
        </p:nvSpPr>
        <p:spPr>
          <a:xfrm>
            <a:off x="9124950" y="18859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OrdShap 位置归因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BCDCE28D-6002-41AE-97E2-D1EF878B820E}"/>
              </a:ext>
            </a:extLst>
          </p:cNvPr>
          <p:cNvSpPr>
            <a:spLocks noGrp="1"/>
          </p:cNvSpPr>
          <p:nvPr/>
        </p:nvSpPr>
        <p:spPr>
          <a:xfrm>
            <a:off x="8667750" y="2305050"/>
            <a:ext cx="2819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76F3493-6217-4DB5-A3CE-03B0E7CC9E96}"/>
              </a:ext>
            </a:extLst>
          </p:cNvPr>
          <p:cNvSpPr>
            <a:spLocks noGrp="1"/>
          </p:cNvSpPr>
          <p:nvPr/>
        </p:nvSpPr>
        <p:spPr>
          <a:xfrm>
            <a:off x="8667750" y="241935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4 × 4 固定图块　位置置换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6F2854B-0FB3-4C67-A1D3-F87881F979B3}"/>
              </a:ext>
            </a:extLst>
          </p:cNvPr>
          <p:cNvSpPr>
            <a:spLocks noGrp="1"/>
          </p:cNvSpPr>
          <p:nvPr/>
        </p:nvSpPr>
        <p:spPr>
          <a:xfrm>
            <a:off x="8667750" y="285750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KernelSHAP ↔ OrdShap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8446331-DEF2-4584-8805-8B4345AC8432}"/>
              </a:ext>
            </a:extLst>
          </p:cNvPr>
          <p:cNvSpPr>
            <a:spLocks noGrp="1"/>
          </p:cNvSpPr>
          <p:nvPr/>
        </p:nvSpPr>
        <p:spPr>
          <a:xfrm>
            <a:off x="8667750" y="3143250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ctr">
              <a:defRPr sz="9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先在 ImageNet 小规模验证</a:t>
            </a:r>
          </a:p>
          <a:p>
            <a:pPr algn="ctr">
              <a:defRPr sz="9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不默认扩展至 CHNCXR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D8F70BD-0C86-48E5-BF9E-4B85638B5086}"/>
              </a:ext>
            </a:extLst>
          </p:cNvPr>
          <p:cNvSpPr>
            <a:spLocks noGrp="1"/>
          </p:cNvSpPr>
          <p:nvPr/>
        </p:nvSpPr>
        <p:spPr>
          <a:xfrm>
            <a:off x="8515350" y="3810000"/>
            <a:ext cx="3162300" cy="1866900"/>
          </a:xfrm>
          <a:prstGeom prst="roundRect">
            <a:avLst>
              <a:gd name="adj" fmla="val 6633"/>
            </a:avLst>
          </a:prstGeom>
          <a:solidFill>
            <a:srgbClr val="FFFFFF"/>
          </a:solidFill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3DC09D2-D2B4-42C4-A9EA-FCE11691D133}"/>
              </a:ext>
            </a:extLst>
          </p:cNvPr>
          <p:cNvSpPr>
            <a:spLocks noGrp="1"/>
          </p:cNvSpPr>
          <p:nvPr/>
        </p:nvSpPr>
        <p:spPr>
          <a:xfrm>
            <a:off x="8667750" y="39433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8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B453314-37D0-4596-B4EF-568C6073E52E}"/>
              </a:ext>
            </a:extLst>
          </p:cNvPr>
          <p:cNvSpPr>
            <a:spLocks noGrp="1"/>
          </p:cNvSpPr>
          <p:nvPr/>
        </p:nvSpPr>
        <p:spPr>
          <a:xfrm>
            <a:off x="10591800" y="39624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DCE6E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跨域验证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B25362C-C8BD-4500-A4DA-B942DD525D71}"/>
              </a:ext>
            </a:extLst>
          </p:cNvPr>
          <p:cNvSpPr>
            <a:spLocks noGrp="1"/>
          </p:cNvSpPr>
          <p:nvPr/>
        </p:nvSpPr>
        <p:spPr>
          <a:xfrm>
            <a:off x="9124950" y="39433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CHNCXR 医学影像验证</a:t>
            </a:r>
          </a:p>
        </p:txBody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865D8E05-1E31-4A19-85BE-99D701BDDB1E}"/>
              </a:ext>
            </a:extLst>
          </p:cNvPr>
          <p:cNvSpPr>
            <a:spLocks noGrp="1"/>
          </p:cNvSpPr>
          <p:nvPr/>
        </p:nvSpPr>
        <p:spPr>
          <a:xfrm>
            <a:off x="8667750" y="4362450"/>
            <a:ext cx="2819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EC78E47-8194-4B95-9B27-F86117BF513A}"/>
              </a:ext>
            </a:extLst>
          </p:cNvPr>
          <p:cNvSpPr>
            <a:spLocks noGrp="1"/>
          </p:cNvSpPr>
          <p:nvPr/>
        </p:nvSpPr>
        <p:spPr>
          <a:xfrm>
            <a:off x="8667750" y="447675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ImageNet 参数直接迁移</a:t>
            </a:r>
          </a:p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对照 医学域重新选择参数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CAE3991-90F0-4A39-83FD-E84FAFDF7B17}"/>
              </a:ext>
            </a:extLst>
          </p:cNvPr>
          <p:cNvSpPr>
            <a:spLocks noGrp="1"/>
          </p:cNvSpPr>
          <p:nvPr/>
        </p:nvSpPr>
        <p:spPr>
          <a:xfrm>
            <a:off x="8667750" y="491490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相同 CHNCXR 评价集配对比较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F8A17CC-87E8-4FF6-9DB8-365EE6BE2E5D}"/>
              </a:ext>
            </a:extLst>
          </p:cNvPr>
          <p:cNvSpPr>
            <a:spLocks noGrp="1"/>
          </p:cNvSpPr>
          <p:nvPr/>
        </p:nvSpPr>
        <p:spPr>
          <a:xfrm>
            <a:off x="8667750" y="5200650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ctr">
              <a:defRPr sz="9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重点分析小病灶、单标注与多标注胸片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35103DA2-5930-4B65-A540-ED5FDC7BF549}"/>
              </a:ext>
            </a:extLst>
          </p:cNvPr>
          <p:cNvSpPr>
            <a:spLocks noGrp="1"/>
          </p:cNvSpPr>
          <p:nvPr/>
        </p:nvSpPr>
        <p:spPr>
          <a:xfrm>
            <a:off x="514350" y="5943600"/>
            <a:ext cx="11163300" cy="514350"/>
          </a:xfrm>
          <a:prstGeom prst="roundRect">
            <a:avLst>
              <a:gd name="adj" fmla="val 2037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项必做实验回答核心研究问题，2 项选做实验检验结论能否扩展到位置归因和医学影像迁移。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DA867A0-C32F-4891-B9E1-B6AA08D3E7A9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0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必做实验建立主结论，实验链路稳定后再开展两项选做实验。</a:t>
            </a:r>
          </a:p>
        </p:txBody>
      </p:sp>
    </p:spTree>
    <p:extLst>
      <p:ext uri="{BB962C8B-B14F-4D97-AF65-F5344CB8AC3E}">
        <p14:creationId xmlns:p14="http://schemas.microsoft.com/office/powerpoint/2010/main" val="192395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D9BBC9CA-A4EF-4A6F-90E8-660F8CEEAF37}"/>
              </a:ext>
            </a:extLst>
          </p:cNvPr>
          <p:cNvSpPr>
            <a:spLocks noGrp="1"/>
          </p:cNvSpPr>
          <p:nvPr/>
        </p:nvSpPr>
        <p:spPr>
          <a:xfrm>
            <a:off x="685800" y="447675"/>
            <a:ext cx="57150" cy="371475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1E8F8A-12E7-4481-8329-E554C9DD4AE9}"/>
              </a:ext>
            </a:extLst>
          </p:cNvPr>
          <p:cNvSpPr>
            <a:spLocks noGrp="1"/>
          </p:cNvSpPr>
          <p:nvPr/>
        </p:nvSpPr>
        <p:spPr>
          <a:xfrm>
            <a:off x="876300" y="381000"/>
            <a:ext cx="962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下一阶段计划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E15C96-CD8E-4322-A27D-7380EA864EF2}"/>
              </a:ext>
            </a:extLst>
          </p:cNvPr>
          <p:cNvSpPr>
            <a:spLocks noGrp="1"/>
          </p:cNvSpPr>
          <p:nvPr/>
        </p:nvSpPr>
        <p:spPr>
          <a:xfrm>
            <a:off x="10801350" y="390525"/>
            <a:ext cx="70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CC9E24-03E5-45CF-ADD0-A1D7FEC90BFD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2095500" cy="3695700"/>
          </a:xfrm>
          <a:prstGeom prst="roundRect">
            <a:avLst>
              <a:gd name="adj" fmla="val 7273"/>
            </a:avLst>
          </a:prstGeom>
          <a:solidFill>
            <a:srgbClr val="1670D2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4E9918-BF87-424E-8501-3537B8886F27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M1 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310A79-4E07-4C3F-A595-395446B12767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8DF23039-E00B-47E2-B88D-6D603F4A7870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1790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311E61-20EE-43AC-A2FC-0BDB0BC2AB16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7907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任务建模</a:t>
            </a:r>
          </a:p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方法选择</a:t>
            </a:r>
          </a:p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实验方案设计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97D3396-2BC1-4EF8-A89A-E07E368AF3CD}"/>
              </a:ext>
            </a:extLst>
          </p:cNvPr>
          <p:cNvSpPr>
            <a:spLocks noGrp="1"/>
          </p:cNvSpPr>
          <p:nvPr/>
        </p:nvSpPr>
        <p:spPr>
          <a:xfrm>
            <a:off x="2724150" y="3143250"/>
            <a:ext cx="228600" cy="171450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C01CEB8-8D18-421A-B8B3-C6BAB0FD7AF5}"/>
              </a:ext>
            </a:extLst>
          </p:cNvPr>
          <p:cNvSpPr>
            <a:spLocks noGrp="1"/>
          </p:cNvSpPr>
          <p:nvPr/>
        </p:nvSpPr>
        <p:spPr>
          <a:xfrm>
            <a:off x="2952750" y="1466850"/>
            <a:ext cx="2190750" cy="3695700"/>
          </a:xfrm>
          <a:prstGeom prst="roundRect">
            <a:avLst>
              <a:gd name="adj" fmla="val 6957"/>
            </a:avLst>
          </a:prstGeom>
          <a:solidFill>
            <a:srgbClr val="002FA7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CFB290-04FF-4B04-99B8-B7F97731ED0E}"/>
              </a:ext>
            </a:extLst>
          </p:cNvPr>
          <p:cNvSpPr>
            <a:spLocks noGrp="1"/>
          </p:cNvSpPr>
          <p:nvPr/>
        </p:nvSpPr>
        <p:spPr>
          <a:xfrm>
            <a:off x="3105150" y="1657350"/>
            <a:ext cx="1885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M2｜初步结果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FA1A74-B3B1-4172-9FB0-B494CB94A06A}"/>
              </a:ext>
            </a:extLst>
          </p:cNvPr>
          <p:cNvSpPr>
            <a:spLocks noGrp="1"/>
          </p:cNvSpPr>
          <p:nvPr/>
        </p:nvSpPr>
        <p:spPr>
          <a:xfrm>
            <a:off x="3105150" y="213360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43AC962C-3F9D-4AC5-8400-F729BB4D1164}"/>
              </a:ext>
            </a:extLst>
          </p:cNvPr>
          <p:cNvSpPr>
            <a:spLocks noGrp="1"/>
          </p:cNvSpPr>
          <p:nvPr/>
        </p:nvSpPr>
        <p:spPr>
          <a:xfrm>
            <a:off x="3105150" y="2533650"/>
            <a:ext cx="18859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10DC54-3527-46D8-9005-19B74DFCDEA1}"/>
              </a:ext>
            </a:extLst>
          </p:cNvPr>
          <p:cNvSpPr>
            <a:spLocks noGrp="1"/>
          </p:cNvSpPr>
          <p:nvPr/>
        </p:nvSpPr>
        <p:spPr>
          <a:xfrm>
            <a:off x="3105150" y="2724150"/>
            <a:ext cx="18859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统一值函数与预算计数</a:t>
            </a:r>
          </a:p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Ablation / LIME</a:t>
            </a:r>
          </a:p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 2 数据域 × 2 模型</a:t>
            </a:r>
          </a:p>
          <a:p>
            <a:pPr algn="l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 RISE 网格与稳定性参数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1A891E3-5C3F-4EC4-BB9F-04DF5CC1F837}"/>
              </a:ext>
            </a:extLst>
          </p:cNvPr>
          <p:cNvSpPr>
            <a:spLocks noGrp="1"/>
          </p:cNvSpPr>
          <p:nvPr/>
        </p:nvSpPr>
        <p:spPr>
          <a:xfrm>
            <a:off x="5200650" y="314325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C41FA41-65D2-4EDB-A50C-29D390238094}"/>
              </a:ext>
            </a:extLst>
          </p:cNvPr>
          <p:cNvSpPr>
            <a:spLocks noGrp="1"/>
          </p:cNvSpPr>
          <p:nvPr/>
        </p:nvSpPr>
        <p:spPr>
          <a:xfrm>
            <a:off x="5429250" y="1466850"/>
            <a:ext cx="2000250" cy="3695700"/>
          </a:xfrm>
          <a:prstGeom prst="roundRect">
            <a:avLst>
              <a:gd name="adj" fmla="val 7619"/>
            </a:avLst>
          </a:prstGeom>
          <a:solidFill>
            <a:srgbClr val="D7E5F2"/>
          </a:solidFill>
          <a:ln w="9525">
            <a:solidFill>
              <a:srgbClr val="D7E5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369138-0E65-4220-929D-6CE5CFEF9BDC}"/>
              </a:ext>
            </a:extLst>
          </p:cNvPr>
          <p:cNvSpPr>
            <a:spLocks noGrp="1"/>
          </p:cNvSpPr>
          <p:nvPr/>
        </p:nvSpPr>
        <p:spPr>
          <a:xfrm>
            <a:off x="5581650" y="1657350"/>
            <a:ext cx="1695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M3｜中期结果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CDE3F8-5903-49FC-8F2A-72B1359B9E5C}"/>
              </a:ext>
            </a:extLst>
          </p:cNvPr>
          <p:cNvSpPr>
            <a:spLocks noGrp="1"/>
          </p:cNvSpPr>
          <p:nvPr/>
        </p:nvSpPr>
        <p:spPr>
          <a:xfrm>
            <a:off x="5581650" y="213360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D40E5570-251A-4169-95E6-54DE0D0C1961}"/>
              </a:ext>
            </a:extLst>
          </p:cNvPr>
          <p:cNvSpPr>
            <a:spLocks noGrp="1"/>
          </p:cNvSpPr>
          <p:nvPr/>
        </p:nvSpPr>
        <p:spPr>
          <a:xfrm>
            <a:off x="5581650" y="2533650"/>
            <a:ext cx="16954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96252B-BB35-483D-8707-A9E127243343}"/>
              </a:ext>
            </a:extLst>
          </p:cNvPr>
          <p:cNvSpPr>
            <a:spLocks noGrp="1"/>
          </p:cNvSpPr>
          <p:nvPr/>
        </p:nvSpPr>
        <p:spPr>
          <a:xfrm>
            <a:off x="5581650" y="2724150"/>
            <a:ext cx="16954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/ KernelSHAP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四类评价模块与初步比较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核验 OrdShap 图像包装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冻结医学配置方案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249DF56F-F89D-4DD3-A673-8D8BE500D031}"/>
              </a:ext>
            </a:extLst>
          </p:cNvPr>
          <p:cNvSpPr>
            <a:spLocks noGrp="1"/>
          </p:cNvSpPr>
          <p:nvPr/>
        </p:nvSpPr>
        <p:spPr>
          <a:xfrm>
            <a:off x="7486650" y="314325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0739A26-EC1F-4820-AF4E-1293F233672E}"/>
              </a:ext>
            </a:extLst>
          </p:cNvPr>
          <p:cNvSpPr>
            <a:spLocks noGrp="1"/>
          </p:cNvSpPr>
          <p:nvPr/>
        </p:nvSpPr>
        <p:spPr>
          <a:xfrm>
            <a:off x="7715250" y="1466850"/>
            <a:ext cx="2000250" cy="3695700"/>
          </a:xfrm>
          <a:prstGeom prst="roundRect">
            <a:avLst>
              <a:gd name="adj" fmla="val 7619"/>
            </a:avLst>
          </a:prstGeom>
          <a:solidFill>
            <a:srgbClr val="E5EDF4"/>
          </a:solidFill>
          <a:ln w="9525">
            <a:solidFill>
              <a:srgbClr val="E5ED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A675A3-FA5A-43B8-911C-B6B4E1985881}"/>
              </a:ext>
            </a:extLst>
          </p:cNvPr>
          <p:cNvSpPr>
            <a:spLocks noGrp="1"/>
          </p:cNvSpPr>
          <p:nvPr/>
        </p:nvSpPr>
        <p:spPr>
          <a:xfrm>
            <a:off x="7867650" y="1657350"/>
            <a:ext cx="1695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M4｜完整实验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2E2E44-6EEA-41E0-8F01-F6460723F432}"/>
              </a:ext>
            </a:extLst>
          </p:cNvPr>
          <p:cNvSpPr>
            <a:spLocks noGrp="1"/>
          </p:cNvSpPr>
          <p:nvPr/>
        </p:nvSpPr>
        <p:spPr>
          <a:xfrm>
            <a:off x="7867650" y="213360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66AC87AB-2F36-4AAF-BA41-61AB4E9E96D9}"/>
              </a:ext>
            </a:extLst>
          </p:cNvPr>
          <p:cNvSpPr>
            <a:spLocks noGrp="1"/>
          </p:cNvSpPr>
          <p:nvPr/>
        </p:nvSpPr>
        <p:spPr>
          <a:xfrm>
            <a:off x="7867650" y="2533650"/>
            <a:ext cx="16954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B9768F-5E5B-4618-AC84-F2A39015DC69}"/>
              </a:ext>
            </a:extLst>
          </p:cNvPr>
          <p:cNvSpPr>
            <a:spLocks noGrp="1"/>
          </p:cNvSpPr>
          <p:nvPr/>
        </p:nvSpPr>
        <p:spPr>
          <a:xfrm>
            <a:off x="7867650" y="2724150"/>
            <a:ext cx="16954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四项必做实验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两项选做实验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质量—成本曲线与配对统计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参数敏感性及失败案例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5A1B1336-41E4-4B32-B2FC-6D1CF34DD460}"/>
              </a:ext>
            </a:extLst>
          </p:cNvPr>
          <p:cNvSpPr>
            <a:spLocks noGrp="1"/>
          </p:cNvSpPr>
          <p:nvPr/>
        </p:nvSpPr>
        <p:spPr>
          <a:xfrm>
            <a:off x="9772650" y="3143250"/>
            <a:ext cx="228600" cy="1714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B931FA0-F31B-42D6-AA18-FFBF3B90854D}"/>
              </a:ext>
            </a:extLst>
          </p:cNvPr>
          <p:cNvSpPr>
            <a:spLocks noGrp="1"/>
          </p:cNvSpPr>
          <p:nvPr/>
        </p:nvSpPr>
        <p:spPr>
          <a:xfrm>
            <a:off x="9906000" y="1466850"/>
            <a:ext cx="1714500" cy="3695700"/>
          </a:xfrm>
          <a:prstGeom prst="roundRect">
            <a:avLst>
              <a:gd name="adj" fmla="val 8889"/>
            </a:avLst>
          </a:prstGeom>
          <a:solidFill>
            <a:srgbClr val="EFF3F7"/>
          </a:solidFill>
          <a:ln w="9525">
            <a:solidFill>
              <a:srgbClr val="EFF3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EC7387-5FD8-466B-89F0-B9978BB830E4}"/>
              </a:ext>
            </a:extLst>
          </p:cNvPr>
          <p:cNvSpPr>
            <a:spLocks noGrp="1"/>
          </p:cNvSpPr>
          <p:nvPr/>
        </p:nvSpPr>
        <p:spPr>
          <a:xfrm>
            <a:off x="10058400" y="1657350"/>
            <a:ext cx="140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M5｜最终成果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3484C4-822D-4EB7-B980-40B9361370B6}"/>
              </a:ext>
            </a:extLst>
          </p:cNvPr>
          <p:cNvSpPr>
            <a:spLocks noGrp="1"/>
          </p:cNvSpPr>
          <p:nvPr/>
        </p:nvSpPr>
        <p:spPr>
          <a:xfrm>
            <a:off x="10058400" y="213360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B76E083B-4C7C-4B59-9AD6-FD99F5E5B0BC}"/>
              </a:ext>
            </a:extLst>
          </p:cNvPr>
          <p:cNvSpPr>
            <a:spLocks noGrp="1"/>
          </p:cNvSpPr>
          <p:nvPr/>
        </p:nvSpPr>
        <p:spPr>
          <a:xfrm>
            <a:off x="10058400" y="2533650"/>
            <a:ext cx="14097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60F6E0-896D-4015-84F3-DBD84EE9A7DA}"/>
              </a:ext>
            </a:extLst>
          </p:cNvPr>
          <p:cNvSpPr>
            <a:spLocks noGrp="1"/>
          </p:cNvSpPr>
          <p:nvPr/>
        </p:nvSpPr>
        <p:spPr>
          <a:xfrm>
            <a:off x="10058400" y="2724150"/>
            <a:ext cx="14097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冻结结果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报告与代码仓库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答辩 PPT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逐项回答 RQ1–RQ3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0D0B7A5-8192-47EB-8791-58C1A9CB842E}"/>
              </a:ext>
            </a:extLst>
          </p:cNvPr>
          <p:cNvSpPr>
            <a:spLocks noGrp="1"/>
          </p:cNvSpPr>
          <p:nvPr/>
        </p:nvSpPr>
        <p:spPr>
          <a:xfrm>
            <a:off x="571500" y="5562600"/>
            <a:ext cx="1104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M1 已把研究目标转化为具有明确数据口径、参数范围、预算计数和统计方案的实验任务。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7EC5194-B9AA-4AD4-9234-6D328F81A197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ctr">
            <a:noAutofit/>
          </a:bodyPr>
          <a:lstStyle/>
          <a:p>
            <a:pPr algn="ctr">
              <a:defRPr sz="15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M2 将验证这套流程能否稳定运行。</a:t>
            </a:r>
          </a:p>
        </p:txBody>
      </p:sp>
    </p:spTree>
    <p:extLst>
      <p:ext uri="{BB962C8B-B14F-4D97-AF65-F5344CB8AC3E}">
        <p14:creationId xmlns:p14="http://schemas.microsoft.com/office/powerpoint/2010/main" val="4746396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974</Words>
  <Application>Microsoft Office PowerPoint</Application>
  <DocSecurity>0</DocSecurity>
  <PresentationFormat>宽屏</PresentationFormat>
  <Paragraphs>379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emma1220kunby@126.com</cp:lastModifiedBy>
  <cp:revision>11</cp:revision>
  <dcterms:created xsi:type="dcterms:W3CDTF">2026-09-09T04:39:56Z</dcterms:created>
  <dcterms:modified xsi:type="dcterms:W3CDTF">2026-09-09T11:47:57Z</dcterms:modified>
</cp:coreProperties>
</file>