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3"/>
    <p:sldId id="270" r:id="rId5"/>
    <p:sldId id="257" r:id="rId6"/>
    <p:sldId id="258" r:id="rId7"/>
    <p:sldId id="259" r:id="rId8"/>
    <p:sldId id="260" r:id="rId9"/>
    <p:sldId id="261" r:id="rId10"/>
    <p:sldId id="262" r:id="rId11"/>
    <p:sldId id="269" r:id="rId12"/>
    <p:sldId id="263" r:id="rId13"/>
    <p:sldId id="268" r:id="rId14"/>
    <p:sldId id="26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A7"/>
    <a:srgbClr val="B8D4EA"/>
    <a:srgbClr val="17324D"/>
    <a:srgbClr val="081D3A"/>
    <a:srgbClr val="F6FAFD"/>
    <a:srgbClr val="6AAAF0"/>
    <a:srgbClr val="1670D2"/>
    <a:srgbClr val="DF6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801" autoAdjust="0"/>
  </p:normalViewPr>
  <p:slideViewPr>
    <p:cSldViewPr snapToGrid="0">
      <p:cViewPr>
        <p:scale>
          <a:sx n="75" d="100"/>
          <a:sy n="75" d="100"/>
        </p:scale>
        <p:origin x="76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封面视觉由 OpenAI 图像生成工具为本课程汇报专门生成；页面不包含外部数据或实验结论。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本页仅定义质量和成本的共同比较口径，不展示方法排名。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RQ1、RQ2、RQ3 均为待验证问题，不包含实验优劣结果。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数据规模和标注结构按用户提供的新版方案呈现。生成图像仅作抽象任务示意，不作为真实数据样本。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四种核心方法并列比较，不表示连续执行顺序。IG、EG、Grad-CAM 作为分组外部对照。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本页使用新版数据：31.83%、1.55%、约 20 倍以及新版粒度不足比例。未使用旧版禁用数值。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主预算与扫描范围均为暂定设计。B=1024 是主比较参照，不代表已验证的最优预算。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实验变量使用实心蓝色，控制条件使用白色锁定框。页面解释公平比较如何建立。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正文仅保留核心统计原则。更详细的 epsilon、K、跨种子 Spearman 与 Jaccard 放入备用页。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四项必做实验建立主结论。OrdShap 与 CHNCXR 迁移属于选做实验，均在必做链路稳定后开展。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M2 至 M5 均为未来计划。M2 是下一阶段，其他阶段使用浅蓝灰色表示尚未完成。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685800" y="533400"/>
            <a:ext cx="57150" cy="266700"/>
          </a:xfrm>
          <a:prstGeom prst="rect">
            <a:avLst/>
          </a:prstGeom>
          <a:solidFill>
            <a:srgbClr val="14B8C8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4953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1">
                <a:solidFill>
                  <a:srgbClr val="146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146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机器学习综合实践  ·  M1 阶段汇报</a:t>
            </a:r>
            <a:endParaRPr b="1">
              <a:solidFill>
                <a:srgbClr val="1467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267700" y="49530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项目需求分析与任务建模</a:t>
            </a:r>
            <a:endParaRPr b="0">
              <a:solidFill>
                <a:srgbClr val="6074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199034"/>
            <a:ext cx="9810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4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图像分类</a:t>
            </a:r>
            <a:r>
              <a:rPr sz="4200" b="1">
                <a:solidFill>
                  <a:srgbClr val="1467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特征归因</a:t>
            </a:r>
            <a:r>
              <a:rPr sz="42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方法的</a:t>
            </a:r>
            <a:endParaRPr sz="42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2000"/>
              </a:lnSpc>
              <a:buNone/>
              <a:defRPr sz="4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14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</a:t>
            </a:r>
            <a:r>
              <a:rPr sz="42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4200" b="1">
                <a:solidFill>
                  <a:srgbClr val="14B8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</a:t>
            </a:r>
            <a:r>
              <a:rPr sz="4200" b="1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</a:t>
            </a:r>
            <a:endParaRPr sz="4200" b="1">
              <a:solidFill>
                <a:srgbClr val="0B1F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76375" y="5524500"/>
            <a:ext cx="9239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b="0"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模型为什么做出判断？不同解释方法的可靠性与计算成本如何权衡？</a:t>
            </a:r>
            <a:endParaRPr b="0">
              <a:solidFill>
                <a:srgbClr val="6074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CEAF7"/>
          </a:solidFill>
          <a:ln w="0">
            <a:noFill/>
          </a:ln>
        </p:spPr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6229351"/>
            <a:ext cx="8747312" cy="2000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b="0"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小组成员：</a:t>
            </a:r>
            <a:r>
              <a:rPr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陈纪仰 朱炳政 杜孟泽 张泰瑜 邹研泽            </a:t>
            </a:r>
            <a:r>
              <a:rPr b="0"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学院：</a:t>
            </a:r>
            <a:r>
              <a:rPr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人工智能学院  </a:t>
            </a:r>
            <a:endParaRPr b="0">
              <a:solidFill>
                <a:srgbClr val="6074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220200" y="6200775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r>
              <a:rPr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0"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</a:t>
            </a:r>
            <a:r>
              <a:rPr>
                <a:solidFill>
                  <a:srgbClr val="6074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6/9/12  </a:t>
            </a:r>
            <a:endParaRPr b="0">
              <a:solidFill>
                <a:srgbClr val="6074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11"/>
          <p:cNvPicPr>
            <a:picLocks noChangeAspect="1"/>
          </p:cNvPicPr>
          <p:nvPr/>
        </p:nvPicPr>
        <p:blipFill>
          <a:blip r:embed="rId1"/>
          <a:srcRect l="14816" t="34510" r="11203" b="25768"/>
          <a:stretch>
            <a:fillRect/>
          </a:stretch>
        </p:blipFill>
        <p:spPr>
          <a:xfrm>
            <a:off x="1223215" y="2436714"/>
            <a:ext cx="9745569" cy="29449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矩形 56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93065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900" b="1" dirty="0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zh-CN" sz="2900" b="1" dirty="0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</a:t>
            </a:r>
            <a:endParaRPr lang="zh-CN" sz="2900" b="1" dirty="0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93725" y="1086705"/>
          <a:ext cx="11004550" cy="491617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1926590"/>
                <a:gridCol w="2078990"/>
                <a:gridCol w="6998970"/>
              </a:tblGrid>
              <a:tr h="852170"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姓名</a:t>
                      </a:r>
                      <a:endParaRPr lang="zh-CN" altLang="en-US" sz="200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角色</a:t>
                      </a:r>
                      <a:endParaRPr lang="zh-CN" altLang="en-US" sz="200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主要职责</a:t>
                      </a:r>
                      <a:endParaRPr lang="zh-CN" altLang="en-US" sz="200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</a:tr>
              <a:tr h="812800"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杜孟泽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R1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数据获取与合规、划分清单、预处理、超像素与掩码模块、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EDA</a:t>
                      </a:r>
                      <a:endParaRPr lang="en-US" altLang="zh-CN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</a:tr>
              <a:tr h="812800"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张泰瑜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模型加载、值函数与前向计数、缓存与批处理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</a:tr>
              <a:tr h="812800"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邹研泽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R3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LIME / RISE / Ablation / KernelSHAP /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交互分解 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梯度基线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</a:tr>
              <a:tr h="812800"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陈纪仰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组长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R4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评价指标、实验驱动、预算对齐、断点续跑、结果落盘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</a:tr>
              <a:tr h="812800"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朱炳政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R5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分析与文档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  <a:tc>
                  <a:txBody>
                    <a:bodyPr/>
                    <a:p>
                      <a:pPr algn="ctr" fontAlgn="t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统计推断、图表生成、报告与 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PPT</a:t>
                      </a:r>
                      <a:endParaRPr lang="en-US" altLang="zh-CN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0" marR="317500" marT="215900" marB="21590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93065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2900" b="1" dirty="0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9334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解释质量提升是否值得额外的计算代价？</a:t>
            </a:r>
            <a:endParaRPr sz="170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: 圆角 4"/>
          <p:cNvSpPr>
            <a:spLocks noGrp="1"/>
          </p:cNvSpPr>
          <p:nvPr/>
        </p:nvSpPr>
        <p:spPr>
          <a:xfrm>
            <a:off x="685800" y="1409700"/>
            <a:ext cx="4667250" cy="3733800"/>
          </a:xfrm>
          <a:prstGeom prst="roundRect">
            <a:avLst>
              <a:gd name="adj" fmla="val 4082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/>
          <p:cNvSpPr>
            <a:spLocks noGrp="1"/>
          </p:cNvSpPr>
          <p:nvPr/>
        </p:nvSpPr>
        <p:spPr>
          <a:xfrm>
            <a:off x="6838950" y="1409700"/>
            <a:ext cx="4667250" cy="3733800"/>
          </a:xfrm>
          <a:prstGeom prst="roundRect">
            <a:avLst>
              <a:gd name="adj" fmla="val 4082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15621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2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解释质量</a:t>
            </a:r>
            <a:endParaRPr sz="22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981075" y="2209800"/>
            <a:ext cx="876300" cy="685800"/>
          </a:xfrm>
          <a:prstGeom prst="roundRect">
            <a:avLst>
              <a:gd name="adj" fmla="val 11111"/>
            </a:avLst>
          </a:prstGeom>
          <a:solidFill>
            <a:srgbClr val="DDEBFA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200150" y="2352675"/>
            <a:ext cx="266700" cy="2667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2647950"/>
            <a:ext cx="647700" cy="133350"/>
          </a:xfrm>
          <a:prstGeom prst="rect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933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输入图像</a:t>
            </a:r>
            <a:endParaRPr sz="11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箭头: 右 11"/>
          <p:cNvSpPr>
            <a:spLocks noGrp="1"/>
          </p:cNvSpPr>
          <p:nvPr/>
        </p:nvSpPr>
        <p:spPr>
          <a:xfrm>
            <a:off x="2009775" y="2428875"/>
            <a:ext cx="3238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2476500" y="2143125"/>
            <a:ext cx="1104900" cy="819150"/>
          </a:xfrm>
          <a:prstGeom prst="roundRect">
            <a:avLst>
              <a:gd name="adj" fmla="val 11628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476500" y="2143125"/>
            <a:ext cx="1104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深度分类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箭头: 右 14"/>
          <p:cNvSpPr>
            <a:spLocks noGrp="1"/>
          </p:cNvSpPr>
          <p:nvPr/>
        </p:nvSpPr>
        <p:spPr>
          <a:xfrm>
            <a:off x="3733800" y="2428875"/>
            <a:ext cx="3238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4200525" y="2152650"/>
            <a:ext cx="876300" cy="742950"/>
          </a:xfrm>
          <a:prstGeom prst="roundRect">
            <a:avLst>
              <a:gd name="adj" fmla="val 10256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4511040" y="2353628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4596765" y="2420303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171950" y="29337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预测结果</a:t>
            </a:r>
            <a:endParaRPr sz="11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33375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 err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预测可以正确，但模型内部决策依据不可直接观察</a:t>
            </a:r>
            <a:endParaRPr sz="1500" b="1" dirty="0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: 圆角 20"/>
          <p:cNvSpPr>
            <a:spLocks noGrp="1"/>
          </p:cNvSpPr>
          <p:nvPr/>
        </p:nvSpPr>
        <p:spPr>
          <a:xfrm>
            <a:off x="962025" y="4171950"/>
            <a:ext cx="1200150" cy="438150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忠实性</a:t>
            </a:r>
            <a:endParaRPr sz="1300" b="1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: 圆角 21"/>
          <p:cNvSpPr>
            <a:spLocks noGrp="1"/>
          </p:cNvSpPr>
          <p:nvPr/>
        </p:nvSpPr>
        <p:spPr>
          <a:xfrm>
            <a:off x="2324100" y="4171950"/>
            <a:ext cx="1200150" cy="438150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00" b="1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: 圆角 22"/>
          <p:cNvSpPr>
            <a:spLocks noGrp="1"/>
          </p:cNvSpPr>
          <p:nvPr/>
        </p:nvSpPr>
        <p:spPr>
          <a:xfrm>
            <a:off x="3686175" y="4171950"/>
            <a:ext cx="1200150" cy="438150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跨样本差异</a:t>
            </a:r>
            <a:endParaRPr sz="130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86600" y="15621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2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计算成本</a:t>
            </a:r>
            <a:endParaRPr sz="22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: 圆角 24"/>
          <p:cNvSpPr>
            <a:spLocks noGrp="1"/>
          </p:cNvSpPr>
          <p:nvPr/>
        </p:nvSpPr>
        <p:spPr>
          <a:xfrm>
            <a:off x="7181850" y="2171700"/>
            <a:ext cx="876300" cy="628650"/>
          </a:xfrm>
          <a:prstGeom prst="roundRect">
            <a:avLst>
              <a:gd name="adj" fmla="val 13636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181850" y="2171700"/>
            <a:ext cx="876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箭头: 右 26"/>
          <p:cNvSpPr>
            <a:spLocks noGrp="1"/>
          </p:cNvSpPr>
          <p:nvPr/>
        </p:nvSpPr>
        <p:spPr>
          <a:xfrm>
            <a:off x="8191500" y="2381250"/>
            <a:ext cx="285750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29650" y="2114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867775" y="2114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05900" y="2114550"/>
            <a:ext cx="209550" cy="209550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344025" y="2114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629650" y="2352675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867775" y="2352675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105900" y="2352675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344025" y="2352675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629650" y="2590800"/>
            <a:ext cx="209550" cy="209550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867775" y="259080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105900" y="259080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44025" y="259080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箭头: 右 39"/>
          <p:cNvSpPr>
            <a:spLocks noGrp="1"/>
          </p:cNvSpPr>
          <p:nvPr/>
        </p:nvSpPr>
        <p:spPr>
          <a:xfrm>
            <a:off x="9734550" y="2381250"/>
            <a:ext cx="285750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椭圆 40"/>
          <p:cNvSpPr>
            <a:spLocks noGrp="1"/>
          </p:cNvSpPr>
          <p:nvPr/>
        </p:nvSpPr>
        <p:spPr>
          <a:xfrm>
            <a:off x="10210800" y="215265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10553700" y="2295525"/>
            <a:ext cx="0" cy="209550"/>
          </a:xfrm>
          <a:prstGeom prst="line">
            <a:avLst/>
          </a:prstGeom>
          <a:noFill/>
          <a:ln w="1905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10553700" y="2505075"/>
            <a:ext cx="171450" cy="0"/>
          </a:xfrm>
          <a:prstGeom prst="line">
            <a:avLst/>
          </a:prstGeom>
          <a:noFill/>
          <a:ln w="19050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124700" y="31432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模型调用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505825" y="31432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扰动样本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886950" y="31432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计算时间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086600" y="375285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 err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</a:rPr>
              <a:t>不同归因方法需要不同数量的模型调用、扰动样本与计算时间</a:t>
            </a:r>
            <a:endParaRPr sz="1500" b="1" dirty="0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矩形: 圆角 47"/>
          <p:cNvSpPr>
            <a:spLocks noGrp="1"/>
          </p:cNvSpPr>
          <p:nvPr/>
        </p:nvSpPr>
        <p:spPr>
          <a:xfrm>
            <a:off x="5619750" y="1666875"/>
            <a:ext cx="952500" cy="3143250"/>
          </a:xfrm>
          <a:prstGeom prst="roundRect">
            <a:avLst>
              <a:gd name="adj" fmla="val 16000"/>
            </a:avLst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715000" y="1847850"/>
            <a:ext cx="762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实验口径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: 圆角 49"/>
          <p:cNvSpPr>
            <a:spLocks noGrp="1"/>
          </p:cNvSpPr>
          <p:nvPr/>
        </p:nvSpPr>
        <p:spPr>
          <a:xfrm>
            <a:off x="5715000" y="2857500"/>
            <a:ext cx="76200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05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: 圆角 50"/>
          <p:cNvSpPr>
            <a:spLocks noGrp="1"/>
          </p:cNvSpPr>
          <p:nvPr/>
        </p:nvSpPr>
        <p:spPr>
          <a:xfrm>
            <a:off x="5715000" y="3409950"/>
            <a:ext cx="76200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模型输出</a:t>
            </a:r>
            <a:endParaRPr sz="105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: 圆角 51"/>
          <p:cNvSpPr>
            <a:spLocks noGrp="1"/>
          </p:cNvSpPr>
          <p:nvPr/>
        </p:nvSpPr>
        <p:spPr>
          <a:xfrm>
            <a:off x="5715000" y="3962400"/>
            <a:ext cx="76200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计算预算</a:t>
            </a:r>
            <a:endParaRPr sz="105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箭头: 右 52"/>
          <p:cNvSpPr>
            <a:spLocks noGrp="1"/>
          </p:cNvSpPr>
          <p:nvPr/>
        </p:nvSpPr>
        <p:spPr>
          <a:xfrm>
            <a:off x="5353317" y="3076575"/>
            <a:ext cx="285750" cy="209550"/>
          </a:xfrm>
          <a:prstGeom prst="rightArrow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箭头: 右 53"/>
          <p:cNvSpPr>
            <a:spLocks noGrp="1"/>
          </p:cNvSpPr>
          <p:nvPr/>
        </p:nvSpPr>
        <p:spPr>
          <a:xfrm>
            <a:off x="6572250" y="3076575"/>
            <a:ext cx="285750" cy="209550"/>
          </a:xfrm>
          <a:prstGeom prst="rightArrow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239000" y="4914900"/>
            <a:ext cx="405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1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默认参数和少量漂亮热图不足以支持方法优劣判断</a:t>
            </a:r>
            <a:endParaRPr sz="110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: 圆角 55"/>
          <p:cNvSpPr>
            <a:spLocks noGrp="1"/>
          </p:cNvSpPr>
          <p:nvPr/>
        </p:nvSpPr>
        <p:spPr>
          <a:xfrm>
            <a:off x="685800" y="5638800"/>
            <a:ext cx="10820400" cy="666750"/>
          </a:xfrm>
          <a:prstGeom prst="roundRect">
            <a:avLst>
              <a:gd name="adj" fmla="val 20000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在统一数据、模型输出和预算口径下，判断不同归因方法的适用范围及其代价。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三个研究问题</a:t>
            </a:r>
            <a:endParaRPr sz="29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704850" y="1362075"/>
            <a:ext cx="2457450" cy="3581400"/>
          </a:xfrm>
          <a:prstGeom prst="roundRect">
            <a:avLst>
              <a:gd name="adj" fmla="val 6977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504950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RQ1｜质量 × 效率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857250" y="1952625"/>
            <a:ext cx="21145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07645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不同方法如何权衡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忠实性与效率？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400050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增加模型调用是否带来稳定且有实际意义的质量提升？</a:t>
            </a:r>
            <a:endParaRPr sz="1200" b="0">
              <a:solidFill>
                <a:srgbClr val="DDEB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3562350" y="1352550"/>
            <a:ext cx="2457450" cy="3581400"/>
          </a:xfrm>
          <a:prstGeom prst="roundRect">
            <a:avLst>
              <a:gd name="adj" fmla="val 6977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733800" y="1504950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RQ2｜参数敏感性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3733800" y="1952625"/>
            <a:ext cx="21145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33800" y="207645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参数改变如何影响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质量、稳定性与成本？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16573" y="4000500"/>
            <a:ext cx="2362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0">
                <a:solidFill>
                  <a:srgbClr val="D7F7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dirty="0" err="1">
                <a:solidFill>
                  <a:srgbClr val="D7F7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粒度｜遮蔽率｜前向预算</a:t>
            </a:r>
            <a:endParaRPr sz="1200" b="0" dirty="0">
              <a:solidFill>
                <a:srgbClr val="D7F7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0">
                <a:solidFill>
                  <a:srgbClr val="D7F7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dirty="0" err="1">
                <a:solidFill>
                  <a:srgbClr val="D7F7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不同数据域是否需要不同参数</a:t>
            </a:r>
            <a:r>
              <a:rPr sz="1200" b="0" dirty="0">
                <a:solidFill>
                  <a:srgbClr val="D7F7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sz="1200" b="0" dirty="0">
              <a:solidFill>
                <a:srgbClr val="D7F7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6438900" y="1352550"/>
            <a:ext cx="2457450" cy="3581400"/>
          </a:xfrm>
          <a:prstGeom prst="roundRect">
            <a:avLst>
              <a:gd name="adj" fmla="val 6977"/>
            </a:avLst>
          </a:prstGeom>
          <a:solidFill>
            <a:srgbClr val="0799A9"/>
          </a:solidFill>
          <a:ln w="9525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10350" y="1504950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RQ3｜理论 × 实践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610350" y="1952625"/>
            <a:ext cx="21145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10350" y="207645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SHAP </a:t>
            </a:r>
            <a:r>
              <a:rPr sz="15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类方法的公理性保证能否转化为实际归因质量</a:t>
            </a: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10350" y="400050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0">
                <a:solidFill>
                  <a:srgbClr val="D7F7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D7F7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自然图像与医学影像中是否保持？</a:t>
            </a:r>
            <a:endParaRPr sz="1200" b="0">
              <a:solidFill>
                <a:srgbClr val="D7F7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箭头: 右 18"/>
          <p:cNvSpPr>
            <a:spLocks noGrp="1"/>
          </p:cNvSpPr>
          <p:nvPr/>
        </p:nvSpPr>
        <p:spPr>
          <a:xfrm>
            <a:off x="3204795" y="3000375"/>
            <a:ext cx="342900" cy="2667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箭头: 右 19"/>
          <p:cNvSpPr>
            <a:spLocks noGrp="1"/>
          </p:cNvSpPr>
          <p:nvPr/>
        </p:nvSpPr>
        <p:spPr>
          <a:xfrm>
            <a:off x="6073530" y="3000375"/>
            <a:ext cx="342900" cy="2667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箭头: 右 20"/>
          <p:cNvSpPr>
            <a:spLocks noGrp="1"/>
          </p:cNvSpPr>
          <p:nvPr/>
        </p:nvSpPr>
        <p:spPr>
          <a:xfrm>
            <a:off x="8965710" y="3000375"/>
            <a:ext cx="495300" cy="2667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31275" y="3356220"/>
            <a:ext cx="190500" cy="247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493225" y="3280020"/>
            <a:ext cx="19050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55175" y="3203820"/>
            <a:ext cx="190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217125" y="3127620"/>
            <a:ext cx="190500" cy="476250"/>
          </a:xfrm>
          <a:prstGeom prst="rect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007209" y="3752850"/>
            <a:ext cx="16954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91173" y="2725617"/>
            <a:ext cx="750275" cy="222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归因质量</a:t>
            </a:r>
            <a:endParaRPr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781425" y="30099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048125" y="30099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314825" y="30099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581525" y="30099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781425" y="32766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048125" y="32766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314825" y="3276600"/>
            <a:ext cx="238125" cy="238125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581525" y="32766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781425" y="35433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048125" y="35433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314825" y="35433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581525" y="35433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4953000" y="3086100"/>
            <a:ext cx="762000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椭圆 40"/>
          <p:cNvSpPr>
            <a:spLocks noGrp="1"/>
          </p:cNvSpPr>
          <p:nvPr/>
        </p:nvSpPr>
        <p:spPr>
          <a:xfrm>
            <a:off x="5143500" y="3019425"/>
            <a:ext cx="133350" cy="133350"/>
          </a:xfrm>
          <a:prstGeom prst="ellipse">
            <a:avLst/>
          </a:prstGeom>
          <a:solidFill>
            <a:srgbClr val="10B7C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4953000" y="3409950"/>
            <a:ext cx="762000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椭圆 42"/>
          <p:cNvSpPr>
            <a:spLocks noGrp="1"/>
          </p:cNvSpPr>
          <p:nvPr/>
        </p:nvSpPr>
        <p:spPr>
          <a:xfrm>
            <a:off x="5314950" y="3343275"/>
            <a:ext cx="133350" cy="133350"/>
          </a:xfrm>
          <a:prstGeom prst="ellipse">
            <a:avLst/>
          </a:prstGeom>
          <a:solidFill>
            <a:srgbClr val="10B7C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4953000" y="3733800"/>
            <a:ext cx="762000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椭圆 44"/>
          <p:cNvSpPr>
            <a:spLocks noGrp="1"/>
          </p:cNvSpPr>
          <p:nvPr/>
        </p:nvSpPr>
        <p:spPr>
          <a:xfrm>
            <a:off x="5486400" y="3667125"/>
            <a:ext cx="133350" cy="133350"/>
          </a:xfrm>
          <a:prstGeom prst="ellipse">
            <a:avLst/>
          </a:prstGeom>
          <a:solidFill>
            <a:srgbClr val="10B7C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6724650" y="3390900"/>
            <a:ext cx="971550" cy="0"/>
          </a:xfrm>
          <a:prstGeom prst="line">
            <a:avLst/>
          </a:prstGeom>
          <a:noFill/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6743700" y="33147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椭圆 47"/>
          <p:cNvSpPr>
            <a:spLocks noGrp="1"/>
          </p:cNvSpPr>
          <p:nvPr/>
        </p:nvSpPr>
        <p:spPr>
          <a:xfrm>
            <a:off x="7019925" y="33147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7296150" y="33147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7572375" y="3314700"/>
            <a:ext cx="152400" cy="152400"/>
          </a:xfrm>
          <a:prstGeom prst="ellipse">
            <a:avLst/>
          </a:prstGeom>
          <a:solidFill>
            <a:srgbClr val="F47A2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箭头: 右 50"/>
          <p:cNvSpPr>
            <a:spLocks noGrp="1"/>
          </p:cNvSpPr>
          <p:nvPr/>
        </p:nvSpPr>
        <p:spPr>
          <a:xfrm>
            <a:off x="7791450" y="3314700"/>
            <a:ext cx="247650" cy="171450"/>
          </a:xfrm>
          <a:prstGeom prst="rightArrow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: 圆角 51"/>
          <p:cNvSpPr>
            <a:spLocks noGrp="1"/>
          </p:cNvSpPr>
          <p:nvPr/>
        </p:nvSpPr>
        <p:spPr>
          <a:xfrm>
            <a:off x="8134350" y="3028950"/>
            <a:ext cx="533400" cy="723900"/>
          </a:xfrm>
          <a:prstGeom prst="roundRect">
            <a:avLst>
              <a:gd name="adj" fmla="val 14286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8240268" y="3221355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椭圆 53"/>
          <p:cNvSpPr>
            <a:spLocks noGrp="1"/>
          </p:cNvSpPr>
          <p:nvPr/>
        </p:nvSpPr>
        <p:spPr>
          <a:xfrm>
            <a:off x="8325993" y="3288030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: 圆角 54"/>
          <p:cNvSpPr>
            <a:spLocks noGrp="1"/>
          </p:cNvSpPr>
          <p:nvPr/>
        </p:nvSpPr>
        <p:spPr>
          <a:xfrm>
            <a:off x="9525000" y="2305050"/>
            <a:ext cx="1981200" cy="1657350"/>
          </a:xfrm>
          <a:prstGeom prst="roundRect">
            <a:avLst>
              <a:gd name="adj" fmla="val 10345"/>
            </a:avLst>
          </a:prstGeom>
          <a:solidFill>
            <a:srgbClr val="F6FAFD"/>
          </a:solidFill>
          <a:ln w="14288">
            <a:solidFill>
              <a:srgbClr val="1670D2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7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有场景和预算限制的</a:t>
            </a:r>
            <a:endParaRPr sz="17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方法建议</a:t>
            </a:r>
            <a:endParaRPr sz="17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998409" y="52578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dirty="0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</a:t>
            </a:r>
            <a:r>
              <a:rPr sz="1600" b="1" dirty="0" err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600" b="1" dirty="0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2343150" y="5410200"/>
            <a:ext cx="9163050" cy="0"/>
          </a:xfrm>
          <a:prstGeom prst="line">
            <a:avLst/>
          </a:prstGeom>
          <a:noFill/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1619250" y="5943600"/>
            <a:ext cx="8305800" cy="0"/>
          </a:xfrm>
          <a:prstGeom prst="line">
            <a:avLst/>
          </a:prstGeom>
          <a:noFill/>
          <a:ln w="1333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1447800" y="5791200"/>
            <a:ext cx="304800" cy="3048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447800" y="5791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90600" y="6191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比较对象 ✓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椭圆 61"/>
          <p:cNvSpPr>
            <a:spLocks noGrp="1"/>
          </p:cNvSpPr>
          <p:nvPr/>
        </p:nvSpPr>
        <p:spPr>
          <a:xfrm>
            <a:off x="3524250" y="5791200"/>
            <a:ext cx="304800" cy="3048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3524250" y="5791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3067050" y="6191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控制条件 ✓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椭圆 64"/>
          <p:cNvSpPr>
            <a:spLocks noGrp="1"/>
          </p:cNvSpPr>
          <p:nvPr/>
        </p:nvSpPr>
        <p:spPr>
          <a:xfrm>
            <a:off x="5600700" y="5791200"/>
            <a:ext cx="304800" cy="3048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5600700" y="5791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5143500" y="6191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预算单位 ✓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椭圆 67"/>
          <p:cNvSpPr>
            <a:spLocks noGrp="1"/>
          </p:cNvSpPr>
          <p:nvPr/>
        </p:nvSpPr>
        <p:spPr>
          <a:xfrm>
            <a:off x="7677150" y="5791200"/>
            <a:ext cx="304800" cy="3048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7677150" y="5791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7219950" y="6191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评价维度 ✓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椭圆 70"/>
          <p:cNvSpPr>
            <a:spLocks noGrp="1"/>
          </p:cNvSpPr>
          <p:nvPr/>
        </p:nvSpPr>
        <p:spPr>
          <a:xfrm>
            <a:off x="9753600" y="5791200"/>
            <a:ext cx="304800" cy="3048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9753600" y="5791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9296400" y="6191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后续里程碑 ✓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2109663" y="3822702"/>
            <a:ext cx="895350" cy="1846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模型调用次数</a:t>
            </a:r>
            <a:endParaRPr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直接连接符 77"/>
          <p:cNvSpPr>
            <a:spLocks noGrp="1"/>
          </p:cNvSpPr>
          <p:nvPr/>
        </p:nvSpPr>
        <p:spPr>
          <a:xfrm flipV="1">
            <a:off x="1006230" y="2970825"/>
            <a:ext cx="0" cy="79057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2021500" y="2586036"/>
            <a:ext cx="693125" cy="740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dirty="0">
                <a:solidFill>
                  <a:srgbClr val="DF6F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sz="1600" b="1" dirty="0">
              <a:solidFill>
                <a:srgbClr val="DF6F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两个数据域与两种模型</a:t>
            </a:r>
            <a:endParaRPr sz="29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049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自然图像｜ImageNet</a:t>
            </a:r>
            <a:endParaRPr sz="18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"/>
          <a:srcRect t="14706" b="14706"/>
          <a:stretch>
            <a:fillRect/>
          </a:stretch>
        </p:blipFill>
        <p:spPr>
          <a:xfrm>
            <a:off x="685800" y="1504950"/>
            <a:ext cx="2428875" cy="17145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1314450" y="1654399"/>
            <a:ext cx="1181100" cy="1066800"/>
          </a:xfrm>
          <a:prstGeom prst="rect">
            <a:avLst/>
          </a:prstGeom>
          <a:noFill/>
          <a:ln w="28575">
            <a:solidFill>
              <a:srgbClr val="F47A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3295650"/>
            <a:ext cx="2428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9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张图像</a:t>
            </a:r>
            <a:endParaRPr sz="1900" b="1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3638550"/>
            <a:ext cx="2428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定位标注：目标边界框</a:t>
            </a:r>
            <a:endParaRPr sz="120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0" y="11049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医学影像｜CHNCXR</a:t>
            </a:r>
            <a:endParaRPr sz="18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43950" y="1504950"/>
            <a:ext cx="1714500" cy="1714500"/>
          </a:xfrm>
          <a:prstGeom prst="roundRect">
            <a:avLst>
              <a:gd name="adj" fmla="val 6667"/>
            </a:avLst>
          </a:prstGeom>
        </p:spPr>
      </p:pic>
      <p:sp>
        <p:nvSpPr>
          <p:cNvPr id="12" name="矩形: 圆角 11"/>
          <p:cNvSpPr>
            <a:spLocks noGrp="1"/>
          </p:cNvSpPr>
          <p:nvPr/>
        </p:nvSpPr>
        <p:spPr>
          <a:xfrm>
            <a:off x="8815618" y="4155279"/>
            <a:ext cx="1009650" cy="342900"/>
          </a:xfrm>
          <a:prstGeom prst="roundRect">
            <a:avLst>
              <a:gd name="adj" fmla="val 33333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 dirty="0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336 </a:t>
            </a:r>
            <a:r>
              <a:rPr sz="1300" b="1" dirty="0" err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阳性</a:t>
            </a:r>
            <a:endParaRPr sz="1300" b="1" dirty="0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890582" y="4341581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dirty="0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330 </a:t>
            </a:r>
            <a:r>
              <a:rPr sz="1200" b="1" dirty="0" err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有病灶标注</a:t>
            </a:r>
            <a:endParaRPr sz="1200" b="1" dirty="0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809846" y="4007487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dirty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sz="1200" b="1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无病灶标注</a:t>
            </a:r>
            <a:endParaRPr sz="1200" b="1" dirty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826670" y="4632570"/>
            <a:ext cx="3109722" cy="4325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1153 </a:t>
            </a:r>
            <a:r>
              <a:rPr sz="1100" b="1" dirty="0" err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个逐病灶</a:t>
            </a:r>
            <a:r>
              <a:rPr sz="1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mask  →  330 </a:t>
            </a:r>
            <a:r>
              <a:rPr sz="1100" b="1" dirty="0" err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个逐图病灶并集</a:t>
            </a:r>
            <a:endParaRPr sz="1100" b="1" dirty="0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943350" y="12001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分类模型</a:t>
            </a:r>
            <a:endParaRPr sz="15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: 圆角 29"/>
          <p:cNvSpPr>
            <a:spLocks noGrp="1"/>
          </p:cNvSpPr>
          <p:nvPr/>
        </p:nvSpPr>
        <p:spPr>
          <a:xfrm>
            <a:off x="4362450" y="1619250"/>
            <a:ext cx="1428750" cy="590550"/>
          </a:xfrm>
          <a:prstGeom prst="roundRect">
            <a:avLst>
              <a:gd name="adj" fmla="val 22581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ResNet-50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: 圆角 30"/>
          <p:cNvSpPr>
            <a:spLocks noGrp="1"/>
          </p:cNvSpPr>
          <p:nvPr/>
        </p:nvSpPr>
        <p:spPr>
          <a:xfrm>
            <a:off x="5962650" y="1619250"/>
            <a:ext cx="1428750" cy="590550"/>
          </a:xfrm>
          <a:prstGeom prst="roundRect">
            <a:avLst>
              <a:gd name="adj" fmla="val 22581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VGG13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886200" y="2476500"/>
            <a:ext cx="3695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4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数据域 × 模型：4 个分析组合</a:t>
            </a:r>
            <a:endParaRPr sz="14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: 圆角 32"/>
          <p:cNvSpPr>
            <a:spLocks noGrp="1"/>
          </p:cNvSpPr>
          <p:nvPr/>
        </p:nvSpPr>
        <p:spPr>
          <a:xfrm>
            <a:off x="3886200" y="2876550"/>
            <a:ext cx="1714500" cy="476250"/>
          </a:xfrm>
          <a:prstGeom prst="roundRect">
            <a:avLst>
              <a:gd name="adj" fmla="val 20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ImageNet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ResNet-50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: 圆角 33"/>
          <p:cNvSpPr>
            <a:spLocks noGrp="1"/>
          </p:cNvSpPr>
          <p:nvPr/>
        </p:nvSpPr>
        <p:spPr>
          <a:xfrm>
            <a:off x="5753100" y="2876550"/>
            <a:ext cx="1714500" cy="476250"/>
          </a:xfrm>
          <a:prstGeom prst="roundRect">
            <a:avLst>
              <a:gd name="adj" fmla="val 20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ImageNet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VGG13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: 圆角 34"/>
          <p:cNvSpPr>
            <a:spLocks noGrp="1"/>
          </p:cNvSpPr>
          <p:nvPr/>
        </p:nvSpPr>
        <p:spPr>
          <a:xfrm>
            <a:off x="3886200" y="3467100"/>
            <a:ext cx="1714500" cy="476250"/>
          </a:xfrm>
          <a:prstGeom prst="roundRect">
            <a:avLst>
              <a:gd name="adj" fmla="val 20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CHNCXR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ResNet-50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: 圆角 35"/>
          <p:cNvSpPr>
            <a:spLocks noGrp="1"/>
          </p:cNvSpPr>
          <p:nvPr/>
        </p:nvSpPr>
        <p:spPr>
          <a:xfrm>
            <a:off x="5753100" y="3467100"/>
            <a:ext cx="1714500" cy="476250"/>
          </a:xfrm>
          <a:prstGeom prst="roundRect">
            <a:avLst>
              <a:gd name="adj" fmla="val 20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CHNCXR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VGG13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箭头: 右 36"/>
          <p:cNvSpPr>
            <a:spLocks noGrp="1"/>
          </p:cNvSpPr>
          <p:nvPr/>
        </p:nvSpPr>
        <p:spPr>
          <a:xfrm>
            <a:off x="3200400" y="2266950"/>
            <a:ext cx="552450" cy="2667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: 圆角 38"/>
          <p:cNvSpPr>
            <a:spLocks noGrp="1"/>
          </p:cNvSpPr>
          <p:nvPr/>
        </p:nvSpPr>
        <p:spPr>
          <a:xfrm>
            <a:off x="4095750" y="4229100"/>
            <a:ext cx="4000500" cy="457200"/>
          </a:xfrm>
          <a:prstGeom prst="roundRect">
            <a:avLst>
              <a:gd name="adj" fmla="val 29167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共同分类正确样本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5800" y="476250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共同正确筛选确保不同模型和方法比较同一批图像</a:t>
            </a:r>
            <a:endParaRPr sz="150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: 圆角 40"/>
          <p:cNvSpPr>
            <a:spLocks noGrp="1"/>
          </p:cNvSpPr>
          <p:nvPr/>
        </p:nvSpPr>
        <p:spPr>
          <a:xfrm>
            <a:off x="685800" y="5272286"/>
            <a:ext cx="2533650" cy="666750"/>
          </a:xfrm>
          <a:prstGeom prst="roundRect">
            <a:avLst>
              <a:gd name="adj" fmla="val 17143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解释正确类别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: 圆角 41"/>
          <p:cNvSpPr>
            <a:spLocks noGrp="1"/>
          </p:cNvSpPr>
          <p:nvPr/>
        </p:nvSpPr>
        <p:spPr>
          <a:xfrm>
            <a:off x="3390900" y="5272286"/>
            <a:ext cx="2533650" cy="666750"/>
          </a:xfrm>
          <a:prstGeom prst="roundRect">
            <a:avLst>
              <a:gd name="adj" fmla="val 17143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pre-Softmax logit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: 圆角 42"/>
          <p:cNvSpPr>
            <a:spLocks noGrp="1"/>
          </p:cNvSpPr>
          <p:nvPr/>
        </p:nvSpPr>
        <p:spPr>
          <a:xfrm>
            <a:off x="6096000" y="5272286"/>
            <a:ext cx="2533650" cy="666750"/>
          </a:xfrm>
          <a:prstGeom prst="roundRect">
            <a:avLst>
              <a:gd name="adj" fmla="val 17143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完整图像缩放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224 × 224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: 圆角 43"/>
          <p:cNvSpPr>
            <a:spLocks noGrp="1"/>
          </p:cNvSpPr>
          <p:nvPr/>
        </p:nvSpPr>
        <p:spPr>
          <a:xfrm>
            <a:off x="8801100" y="5272286"/>
            <a:ext cx="2533650" cy="666750"/>
          </a:xfrm>
          <a:prstGeom prst="roundRect">
            <a:avLst>
              <a:gd name="adj" fmla="val 17143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mask 最近邻插值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85800" y="615315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阴性样本和无掩码阳性样本可用于忠实性、稳定性和效率评价，不计算定位性。</a:t>
            </a:r>
            <a:endParaRPr sz="110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箭头: 右 9"/>
          <p:cNvSpPr>
            <a:spLocks noGrp="1"/>
          </p:cNvSpPr>
          <p:nvPr/>
        </p:nvSpPr>
        <p:spPr>
          <a:xfrm flipH="1">
            <a:off x="7848600" y="2266950"/>
            <a:ext cx="552450" cy="2667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021239" y="3263367"/>
            <a:ext cx="111093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6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dirty="0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662 </a:t>
            </a:r>
            <a:r>
              <a:rPr sz="1600" b="1" dirty="0" err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张胸片</a:t>
            </a:r>
            <a:endParaRPr sz="1600" b="1" dirty="0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: 圆角 37"/>
          <p:cNvSpPr>
            <a:spLocks noGrp="1"/>
          </p:cNvSpPr>
          <p:nvPr/>
        </p:nvSpPr>
        <p:spPr>
          <a:xfrm>
            <a:off x="8806248" y="3683432"/>
            <a:ext cx="1009650" cy="342900"/>
          </a:xfrm>
          <a:prstGeom prst="roundRect">
            <a:avLst>
              <a:gd name="adj" fmla="val 33333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 dirty="0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326 </a:t>
            </a:r>
            <a:r>
              <a:rPr sz="1300" b="1" dirty="0" err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阴性</a:t>
            </a:r>
            <a:endParaRPr sz="1300" b="1" dirty="0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四种核心归因方法</a:t>
            </a:r>
            <a:endParaRPr sz="29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514350" y="1200150"/>
            <a:ext cx="2590800" cy="2724150"/>
          </a:xfrm>
          <a:prstGeom prst="roundRect">
            <a:avLst>
              <a:gd name="adj" fmla="val 5515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/>
          <p:cNvSpPr>
            <a:spLocks noGrp="1"/>
          </p:cNvSpPr>
          <p:nvPr/>
        </p:nvSpPr>
        <p:spPr>
          <a:xfrm>
            <a:off x="514350" y="1200150"/>
            <a:ext cx="2590800" cy="552450"/>
          </a:xfrm>
          <a:prstGeom prst="roundRect">
            <a:avLst>
              <a:gd name="adj" fmla="val 2586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2954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Ablation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8669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逐个遮蔽 SLIC 区域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直接消融基线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3371850" y="1200150"/>
            <a:ext cx="2590800" cy="2724150"/>
          </a:xfrm>
          <a:prstGeom prst="roundRect">
            <a:avLst>
              <a:gd name="adj" fmla="val 5515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3371850" y="1200150"/>
            <a:ext cx="2590800" cy="552450"/>
          </a:xfrm>
          <a:prstGeom prst="roundRect">
            <a:avLst>
              <a:gd name="adj" fmla="val 25862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505200" y="12954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LIME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524250" y="18669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超像素开关空间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</a:t>
            </a: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局部线性</a:t>
            </a:r>
            <a:r>
              <a:rPr lang="zh-CN"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lang="zh-CN"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6229350" y="1200150"/>
            <a:ext cx="2590800" cy="2724150"/>
          </a:xfrm>
          <a:prstGeom prst="roundRect">
            <a:avLst>
              <a:gd name="adj" fmla="val 5515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6229350" y="1200150"/>
            <a:ext cx="2590800" cy="552450"/>
          </a:xfrm>
          <a:prstGeom prst="roundRect">
            <a:avLst>
              <a:gd name="adj" fmla="val 25862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62700" y="12954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RISE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18669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随机网格软掩码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9086850" y="1200150"/>
            <a:ext cx="2590800" cy="2724150"/>
          </a:xfrm>
          <a:prstGeom prst="roundRect">
            <a:avLst>
              <a:gd name="adj" fmla="val 5515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9086850" y="1200150"/>
            <a:ext cx="2590800" cy="552450"/>
          </a:xfrm>
          <a:prstGeom prst="roundRect">
            <a:avLst>
              <a:gd name="adj" fmla="val 25862"/>
            </a:avLst>
          </a:prstGeom>
          <a:solidFill>
            <a:srgbClr val="0799A9"/>
          </a:solidFill>
          <a:ln w="9525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20200" y="12954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KernelSHAP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39250" y="18669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SHAP 核加权回归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96846" y="25129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458796" y="25129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820746" y="25129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182696" y="25129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96846" y="287494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58796" y="287494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820746" y="2874942"/>
            <a:ext cx="323850" cy="323850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182696" y="287494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96846" y="32368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458796" y="32368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820746" y="32368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182696" y="32368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23900" y="36385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归一化零基线</a:t>
            </a:r>
            <a:endParaRPr sz="10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562350" y="2423647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 dirty="0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1  0  1  1  0</a:t>
            </a:r>
            <a:endParaRPr sz="1300" b="1" dirty="0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箭头: 右 33"/>
          <p:cNvSpPr>
            <a:spLocks noGrp="1"/>
          </p:cNvSpPr>
          <p:nvPr/>
        </p:nvSpPr>
        <p:spPr>
          <a:xfrm>
            <a:off x="4286250" y="295275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781550" y="27051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048250" y="2705100"/>
            <a:ext cx="238125" cy="238125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314950" y="27051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781550" y="29718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048250" y="29718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314950" y="29718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781550" y="3238500"/>
            <a:ext cx="238125" cy="238125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048250" y="32385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314950" y="32385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箭头: 右 43"/>
          <p:cNvSpPr>
            <a:spLocks noGrp="1"/>
          </p:cNvSpPr>
          <p:nvPr/>
        </p:nvSpPr>
        <p:spPr>
          <a:xfrm>
            <a:off x="5286375" y="3333750"/>
            <a:ext cx="266700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600450" y="35242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随机扰动  →  局部线性模型</a:t>
            </a:r>
            <a:endParaRPr sz="10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457950" y="25717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686550" y="2571750"/>
            <a:ext cx="209550" cy="209550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915150" y="25717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143750" y="25717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457950" y="28003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686550" y="28003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915150" y="28003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143750" y="28003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457950" y="30289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686550" y="30289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915150" y="30289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143750" y="3028950"/>
            <a:ext cx="209550" cy="209550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457950" y="3257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6686550" y="3257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915150" y="3257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143750" y="3257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箭头: 右 61"/>
          <p:cNvSpPr>
            <a:spLocks noGrp="1"/>
          </p:cNvSpPr>
          <p:nvPr/>
        </p:nvSpPr>
        <p:spPr>
          <a:xfrm>
            <a:off x="7461966" y="2921625"/>
            <a:ext cx="266700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: 圆角 62"/>
          <p:cNvSpPr>
            <a:spLocks noGrp="1"/>
          </p:cNvSpPr>
          <p:nvPr/>
        </p:nvSpPr>
        <p:spPr>
          <a:xfrm>
            <a:off x="7810500" y="2571750"/>
            <a:ext cx="762000" cy="876300"/>
          </a:xfrm>
          <a:prstGeom prst="roundRect">
            <a:avLst>
              <a:gd name="adj" fmla="val 10000"/>
            </a:avLst>
          </a:prstGeom>
          <a:solidFill>
            <a:srgbClr val="D7E9FA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椭圆 63"/>
          <p:cNvSpPr>
            <a:spLocks noGrp="1"/>
          </p:cNvSpPr>
          <p:nvPr/>
        </p:nvSpPr>
        <p:spPr>
          <a:xfrm>
            <a:off x="8004810" y="2920365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椭圆 64"/>
          <p:cNvSpPr>
            <a:spLocks noGrp="1"/>
          </p:cNvSpPr>
          <p:nvPr/>
        </p:nvSpPr>
        <p:spPr>
          <a:xfrm>
            <a:off x="8090535" y="2987040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6419850" y="3562350"/>
            <a:ext cx="226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低分辨率网格 / 上采样 / 随机平移</a:t>
            </a:r>
            <a:endParaRPr sz="10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椭圆 66"/>
          <p:cNvSpPr>
            <a:spLocks noGrp="1"/>
          </p:cNvSpPr>
          <p:nvPr/>
        </p:nvSpPr>
        <p:spPr>
          <a:xfrm>
            <a:off x="9380379" y="2570143"/>
            <a:ext cx="228600" cy="228600"/>
          </a:xfrm>
          <a:prstGeom prst="ellipse">
            <a:avLst/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椭圆 67"/>
          <p:cNvSpPr>
            <a:spLocks noGrp="1"/>
          </p:cNvSpPr>
          <p:nvPr/>
        </p:nvSpPr>
        <p:spPr>
          <a:xfrm>
            <a:off x="9761379" y="2570143"/>
            <a:ext cx="228600" cy="228600"/>
          </a:xfrm>
          <a:prstGeom prst="ellipse">
            <a:avLst/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椭圆 68"/>
          <p:cNvSpPr>
            <a:spLocks noGrp="1"/>
          </p:cNvSpPr>
          <p:nvPr/>
        </p:nvSpPr>
        <p:spPr>
          <a:xfrm>
            <a:off x="9380379" y="2930216"/>
            <a:ext cx="228600" cy="228600"/>
          </a:xfrm>
          <a:prstGeom prst="ellipse">
            <a:avLst/>
          </a:prstGeom>
          <a:solidFill>
            <a:srgbClr val="F47A24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椭圆 69"/>
          <p:cNvSpPr>
            <a:spLocks noGrp="1"/>
          </p:cNvSpPr>
          <p:nvPr/>
        </p:nvSpPr>
        <p:spPr>
          <a:xfrm>
            <a:off x="9755664" y="2940090"/>
            <a:ext cx="228600" cy="228600"/>
          </a:xfrm>
          <a:prstGeom prst="ellipse">
            <a:avLst/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箭头: 右 70"/>
          <p:cNvSpPr>
            <a:spLocks noGrp="1"/>
          </p:cNvSpPr>
          <p:nvPr/>
        </p:nvSpPr>
        <p:spPr>
          <a:xfrm>
            <a:off x="10350055" y="2759032"/>
            <a:ext cx="266700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0706100" y="2562093"/>
            <a:ext cx="819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 dirty="0" err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核权重</a:t>
            </a:r>
            <a:endParaRPr sz="1100" b="1" dirty="0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 dirty="0" err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加权回归</a:t>
            </a:r>
            <a:endParaRPr sz="1100" b="1" dirty="0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9239250" y="34480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SHAP 核采样联盟</a:t>
            </a:r>
            <a:endParaRPr sz="110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9239250" y="36766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90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⊘ 不以固定遮蔽率替代采样分布</a:t>
            </a:r>
            <a:endParaRPr sz="900" b="1">
              <a:solidFill>
                <a:srgbClr val="D94A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514350" y="4095750"/>
            <a:ext cx="805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共享设置</a:t>
            </a:r>
            <a:endParaRPr sz="15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直接连接符 75"/>
          <p:cNvSpPr>
            <a:spLocks noGrp="1"/>
          </p:cNvSpPr>
          <p:nvPr/>
        </p:nvSpPr>
        <p:spPr>
          <a:xfrm>
            <a:off x="1543050" y="4257675"/>
            <a:ext cx="70294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: 圆角 76"/>
          <p:cNvSpPr>
            <a:spLocks noGrp="1"/>
          </p:cNvSpPr>
          <p:nvPr/>
        </p:nvSpPr>
        <p:spPr>
          <a:xfrm>
            <a:off x="514350" y="4457700"/>
            <a:ext cx="5095875" cy="514350"/>
          </a:xfrm>
          <a:prstGeom prst="roundRect">
            <a:avLst>
              <a:gd name="adj" fmla="val 22222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Ablation / LIME / KernelSHAP</a:t>
            </a:r>
            <a:endParaRPr sz="13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箭头: 右 77"/>
          <p:cNvSpPr>
            <a:spLocks noGrp="1"/>
          </p:cNvSpPr>
          <p:nvPr/>
        </p:nvSpPr>
        <p:spPr>
          <a:xfrm>
            <a:off x="5676900" y="4600575"/>
            <a:ext cx="3238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: 圆角 78"/>
          <p:cNvSpPr>
            <a:spLocks noGrp="1"/>
          </p:cNvSpPr>
          <p:nvPr/>
        </p:nvSpPr>
        <p:spPr>
          <a:xfrm>
            <a:off x="6076950" y="4457700"/>
            <a:ext cx="2495550" cy="514350"/>
          </a:xfrm>
          <a:prstGeom prst="roundRect">
            <a:avLst>
              <a:gd name="adj" fmla="val 2222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SLIC + 归一化零基线</a:t>
            </a:r>
            <a:endParaRPr sz="1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8801100" y="413385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IG   EG   Grad-CAM</a:t>
            </a:r>
            <a:endParaRPr sz="11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矩形: 圆角 80"/>
          <p:cNvSpPr>
            <a:spLocks noGrp="1"/>
          </p:cNvSpPr>
          <p:nvPr/>
        </p:nvSpPr>
        <p:spPr>
          <a:xfrm>
            <a:off x="8801100" y="4476750"/>
            <a:ext cx="2876550" cy="514350"/>
          </a:xfrm>
          <a:prstGeom prst="roundRect">
            <a:avLst>
              <a:gd name="adj" fmla="val 2222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外部梯度类对照</a:t>
            </a:r>
            <a:endParaRPr sz="110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分组报告</a:t>
            </a:r>
            <a:endParaRPr sz="110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514350" y="5067300"/>
            <a:ext cx="805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RISE：保留原生随机网格，评价时再汇总到统一 SLIC 区域</a:t>
            </a:r>
            <a:endParaRPr sz="1200" b="1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矩形: 圆角 82"/>
          <p:cNvSpPr>
            <a:spLocks noGrp="1"/>
          </p:cNvSpPr>
          <p:nvPr/>
        </p:nvSpPr>
        <p:spPr>
          <a:xfrm>
            <a:off x="5143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输入图像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箭头: 右 83"/>
          <p:cNvSpPr>
            <a:spLocks noGrp="1"/>
          </p:cNvSpPr>
          <p:nvPr/>
        </p:nvSpPr>
        <p:spPr>
          <a:xfrm>
            <a:off x="2028825" y="5724525"/>
            <a:ext cx="257175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: 圆角 84"/>
          <p:cNvSpPr>
            <a:spLocks noGrp="1"/>
          </p:cNvSpPr>
          <p:nvPr/>
        </p:nvSpPr>
        <p:spPr>
          <a:xfrm>
            <a:off x="23812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 / 网格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箭头: 右 85"/>
          <p:cNvSpPr>
            <a:spLocks noGrp="1"/>
          </p:cNvSpPr>
          <p:nvPr/>
        </p:nvSpPr>
        <p:spPr>
          <a:xfrm>
            <a:off x="3895725" y="5724525"/>
            <a:ext cx="257175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: 圆角 86"/>
          <p:cNvSpPr>
            <a:spLocks noGrp="1"/>
          </p:cNvSpPr>
          <p:nvPr/>
        </p:nvSpPr>
        <p:spPr>
          <a:xfrm>
            <a:off x="42481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扰动 / coalition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箭头: 右 87"/>
          <p:cNvSpPr>
            <a:spLocks noGrp="1"/>
          </p:cNvSpPr>
          <p:nvPr/>
        </p:nvSpPr>
        <p:spPr>
          <a:xfrm>
            <a:off x="5762625" y="5724525"/>
            <a:ext cx="257175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: 圆角 88"/>
          <p:cNvSpPr>
            <a:spLocks noGrp="1"/>
          </p:cNvSpPr>
          <p:nvPr/>
        </p:nvSpPr>
        <p:spPr>
          <a:xfrm>
            <a:off x="61150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 logit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箭头: 右 89"/>
          <p:cNvSpPr>
            <a:spLocks noGrp="1"/>
          </p:cNvSpPr>
          <p:nvPr/>
        </p:nvSpPr>
        <p:spPr>
          <a:xfrm>
            <a:off x="7629525" y="5724525"/>
            <a:ext cx="257175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: 圆角 90"/>
          <p:cNvSpPr>
            <a:spLocks noGrp="1"/>
          </p:cNvSpPr>
          <p:nvPr/>
        </p:nvSpPr>
        <p:spPr>
          <a:xfrm>
            <a:off x="79819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归因结果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箭头: 右 91"/>
          <p:cNvSpPr>
            <a:spLocks noGrp="1"/>
          </p:cNvSpPr>
          <p:nvPr/>
        </p:nvSpPr>
        <p:spPr>
          <a:xfrm>
            <a:off x="9496425" y="5724525"/>
            <a:ext cx="257175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: 圆角 92"/>
          <p:cNvSpPr>
            <a:spLocks noGrp="1"/>
          </p:cNvSpPr>
          <p:nvPr/>
        </p:nvSpPr>
        <p:spPr>
          <a:xfrm>
            <a:off x="98488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统一评价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矩形: 圆角 93"/>
          <p:cNvSpPr>
            <a:spLocks noGrp="1"/>
          </p:cNvSpPr>
          <p:nvPr/>
        </p:nvSpPr>
        <p:spPr>
          <a:xfrm>
            <a:off x="514350" y="6191250"/>
            <a:ext cx="11163300" cy="400050"/>
          </a:xfrm>
          <a:prstGeom prst="roundRect">
            <a:avLst>
              <a:gd name="adj" fmla="val 23810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所有方法解释同一个 logit　　模型调用与额外锚点评估统一计入预算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目标尺度决定候选粒度</a:t>
            </a:r>
            <a:endParaRPr sz="29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066800"/>
            <a:ext cx="504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目标尺度</a:t>
            </a:r>
            <a:endParaRPr sz="18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605342" y="1066800"/>
            <a:ext cx="527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粒度不足比例</a:t>
            </a:r>
            <a:endParaRPr sz="18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5621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ImageNet</a:t>
            </a:r>
            <a:endParaRPr sz="1500" b="1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9240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边界框面积中位数</a:t>
            </a:r>
            <a:endParaRPr sz="120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2669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31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31.83%</a:t>
            </a:r>
            <a:endParaRPr sz="31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8765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IQR 20.26%–42.33%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3429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0799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799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CHNCXR</a:t>
            </a:r>
            <a:endParaRPr sz="1500" b="1">
              <a:solidFill>
                <a:srgbClr val="0799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3790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病灶并集面积中位数</a:t>
            </a:r>
            <a:endParaRPr sz="120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1338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3100" b="1">
                <a:solidFill>
                  <a:srgbClr val="0799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00" b="1">
                <a:solidFill>
                  <a:srgbClr val="0799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1.55%</a:t>
            </a:r>
            <a:endParaRPr sz="3100" b="1">
              <a:solidFill>
                <a:srgbClr val="0799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4743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IQR 0.70%–3.36%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2492" y="14668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SLIC</a:t>
            </a:r>
            <a:endParaRPr sz="15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: 圆角 19"/>
          <p:cNvSpPr>
            <a:spLocks noGrp="1"/>
          </p:cNvSpPr>
          <p:nvPr/>
        </p:nvSpPr>
        <p:spPr>
          <a:xfrm>
            <a:off x="8662492" y="1752600"/>
            <a:ext cx="1000125" cy="47625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= 50</a:t>
            </a:r>
            <a:endParaRPr sz="13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767392" y="1752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ImageNet 0.6%</a:t>
            </a:r>
            <a:endParaRPr sz="1100" b="0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767392" y="1981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CHNCXR 66.7%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: 圆角 23"/>
          <p:cNvSpPr>
            <a:spLocks noGrp="1"/>
          </p:cNvSpPr>
          <p:nvPr/>
        </p:nvSpPr>
        <p:spPr>
          <a:xfrm>
            <a:off x="8662492" y="2362200"/>
            <a:ext cx="1000125" cy="47625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= 100</a:t>
            </a:r>
            <a:endParaRPr sz="13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67392" y="2362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共同主设置</a:t>
            </a:r>
            <a:endParaRPr sz="110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67392" y="2590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CHNCXR 39.7%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8662492" y="2971800"/>
            <a:ext cx="1000125" cy="47625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= 300</a:t>
            </a:r>
            <a:endParaRPr sz="13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767392" y="2971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更细粒度候选</a:t>
            </a:r>
            <a:endParaRPr sz="1100" b="0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767392" y="32004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CHNCXR 13.9%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662492" y="36195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RISE</a:t>
            </a:r>
            <a:endParaRPr sz="15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: 圆角 30"/>
          <p:cNvSpPr>
            <a:spLocks noGrp="1"/>
          </p:cNvSpPr>
          <p:nvPr/>
        </p:nvSpPr>
        <p:spPr>
          <a:xfrm>
            <a:off x="8662492" y="3943350"/>
            <a:ext cx="1000125" cy="457200"/>
          </a:xfrm>
          <a:prstGeom prst="roundRect">
            <a:avLst>
              <a:gd name="adj" fmla="val 20833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= 4</a:t>
            </a:r>
            <a:endParaRPr sz="13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767392" y="3943350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ImageNet 2.8%</a:t>
            </a:r>
            <a:endParaRPr sz="1100" b="0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767392" y="4162425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CHNCXR 87.9%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: 圆角 33"/>
          <p:cNvSpPr>
            <a:spLocks noGrp="1"/>
          </p:cNvSpPr>
          <p:nvPr/>
        </p:nvSpPr>
        <p:spPr>
          <a:xfrm>
            <a:off x="8662492" y="4476750"/>
            <a:ext cx="1000125" cy="457200"/>
          </a:xfrm>
          <a:prstGeom prst="roundRect">
            <a:avLst>
              <a:gd name="adj" fmla="val 20833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= 7</a:t>
            </a:r>
            <a:endParaRPr sz="13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767392" y="4476750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共同主设置</a:t>
            </a:r>
            <a:endParaRPr sz="110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767392" y="4695825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CHNCXR 61.2%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728" y="1448786"/>
            <a:ext cx="6083647" cy="2879709"/>
          </a:xfrm>
          <a:prstGeom prst="rect">
            <a:avLst/>
          </a:prstGeom>
        </p:spPr>
      </p:pic>
      <p:sp>
        <p:nvSpPr>
          <p:cNvPr id="55" name="矩形: 圆角 54"/>
          <p:cNvSpPr>
            <a:spLocks noGrp="1"/>
          </p:cNvSpPr>
          <p:nvPr/>
        </p:nvSpPr>
        <p:spPr>
          <a:xfrm>
            <a:off x="4057650" y="4718952"/>
            <a:ext cx="3352800" cy="361950"/>
          </a:xfrm>
          <a:prstGeom prst="roundRect">
            <a:avLst>
              <a:gd name="adj" fmla="val 26316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因此，报告暂定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4282901" y="529257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SLIC 粒度扫描</a:t>
            </a:r>
            <a:endParaRPr sz="105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矩形: 圆角 82"/>
          <p:cNvSpPr>
            <a:spLocks noGrp="1"/>
          </p:cNvSpPr>
          <p:nvPr/>
        </p:nvSpPr>
        <p:spPr>
          <a:xfrm>
            <a:off x="5578301" y="5292570"/>
            <a:ext cx="1828800" cy="400050"/>
          </a:xfrm>
          <a:prstGeom prst="roundRect">
            <a:avLst>
              <a:gd name="adj" fmla="val 2381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∈ {50, 100, 200, 300}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4282901" y="582597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dirty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RISE </a:t>
            </a:r>
            <a:r>
              <a:rPr sz="1050" b="1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网格扫描</a:t>
            </a:r>
            <a:endParaRPr sz="1050" b="1" dirty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矩形: 圆角 86"/>
          <p:cNvSpPr>
            <a:spLocks noGrp="1"/>
          </p:cNvSpPr>
          <p:nvPr/>
        </p:nvSpPr>
        <p:spPr>
          <a:xfrm>
            <a:off x="5578301" y="5825970"/>
            <a:ext cx="1828800" cy="400050"/>
          </a:xfrm>
          <a:prstGeom prst="roundRect">
            <a:avLst>
              <a:gd name="adj" fmla="val 2381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∈ {4, 7, 10, 14}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采样预算需要与解释维数匹配</a:t>
            </a:r>
            <a:endParaRPr sz="29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4637009" y="1028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 dirty="0" err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预算可行性</a:t>
            </a:r>
            <a:endParaRPr sz="1700" b="1" dirty="0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: 圆角 71"/>
          <p:cNvSpPr>
            <a:spLocks noGrp="1"/>
          </p:cNvSpPr>
          <p:nvPr/>
        </p:nvSpPr>
        <p:spPr>
          <a:xfrm>
            <a:off x="4637009" y="1409700"/>
            <a:ext cx="3352797" cy="3371850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4770359" y="16192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30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 dirty="0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/ (C + 1)</a:t>
            </a:r>
            <a:endParaRPr sz="3000" b="1" dirty="0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770359" y="20574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B：采样预算　　C + 1：待估参数维数</a:t>
            </a:r>
            <a:endParaRPr sz="11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直接连接符 74"/>
          <p:cNvSpPr>
            <a:spLocks noGrp="1"/>
          </p:cNvSpPr>
          <p:nvPr/>
        </p:nvSpPr>
        <p:spPr>
          <a:xfrm>
            <a:off x="4903709" y="2781300"/>
            <a:ext cx="2857500" cy="0"/>
          </a:xfrm>
          <a:prstGeom prst="line">
            <a:avLst/>
          </a:prstGeom>
          <a:noFill/>
          <a:ln w="1333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椭圆 75"/>
          <p:cNvSpPr>
            <a:spLocks noGrp="1"/>
          </p:cNvSpPr>
          <p:nvPr/>
        </p:nvSpPr>
        <p:spPr>
          <a:xfrm>
            <a:off x="5570459" y="2705100"/>
            <a:ext cx="152400" cy="15240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椭圆 76"/>
          <p:cNvSpPr>
            <a:spLocks noGrp="1"/>
          </p:cNvSpPr>
          <p:nvPr/>
        </p:nvSpPr>
        <p:spPr>
          <a:xfrm>
            <a:off x="7037309" y="2705100"/>
            <a:ext cx="152400" cy="15240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4694159" y="29146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预算不足</a:t>
            </a:r>
            <a:endParaRPr sz="1050" b="1">
              <a:solidFill>
                <a:srgbClr val="D94A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6496061" y="29146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预算更充足</a:t>
            </a:r>
            <a:endParaRPr sz="1050" b="1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4770359" y="33147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= 300　B = 256</a:t>
            </a:r>
            <a:endParaRPr sz="130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4770359" y="36195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21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/ (C + 1) ≈ 0.9</a:t>
            </a:r>
            <a:endParaRPr sz="210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: 圆角 81"/>
          <p:cNvSpPr>
            <a:spLocks noGrp="1"/>
          </p:cNvSpPr>
          <p:nvPr/>
        </p:nvSpPr>
        <p:spPr>
          <a:xfrm>
            <a:off x="4770359" y="4029632"/>
            <a:ext cx="3143250" cy="476250"/>
          </a:xfrm>
          <a:prstGeom prst="roundRect">
            <a:avLst>
              <a:gd name="adj" fmla="val 18000"/>
            </a:avLst>
          </a:prstGeom>
          <a:solidFill>
            <a:srgbClr val="FFF6F1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样本数少于待估系数数目</a:t>
            </a:r>
            <a:endParaRPr sz="1200" b="1">
              <a:solidFill>
                <a:srgbClr val="D94A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基本自由度不足</a:t>
            </a:r>
            <a:endParaRPr sz="1200" b="1">
              <a:solidFill>
                <a:srgbClr val="D94A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4770359" y="45148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维数可行</a:t>
            </a:r>
            <a:r>
              <a:rPr sz="1050" b="1" dirty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sz="1050" b="1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求解一定稳定</a:t>
            </a:r>
            <a:endParaRPr sz="1050" b="1" dirty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矩形: 圆角 83"/>
          <p:cNvSpPr>
            <a:spLocks noGrp="1"/>
          </p:cNvSpPr>
          <p:nvPr/>
        </p:nvSpPr>
        <p:spPr>
          <a:xfrm>
            <a:off x="8145561" y="1066800"/>
            <a:ext cx="3848100" cy="361950"/>
          </a:xfrm>
          <a:prstGeom prst="roundRect">
            <a:avLst>
              <a:gd name="adj" fmla="val 26316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因此，报告暂定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8297961" y="1675491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主预算</a:t>
            </a:r>
            <a:endParaRPr sz="11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矩形: 圆角 85"/>
          <p:cNvSpPr>
            <a:spLocks noGrp="1"/>
          </p:cNvSpPr>
          <p:nvPr/>
        </p:nvSpPr>
        <p:spPr>
          <a:xfrm>
            <a:off x="9821961" y="1584777"/>
            <a:ext cx="2019300" cy="457200"/>
          </a:xfrm>
          <a:prstGeom prst="roundRect">
            <a:avLst>
              <a:gd name="adj" fmla="val 20833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= 1024</a:t>
            </a:r>
            <a:endParaRPr sz="1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8297961" y="2299150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预算扫描</a:t>
            </a:r>
            <a:endParaRPr sz="1100" b="1" dirty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矩形: 圆角 87"/>
          <p:cNvSpPr>
            <a:spLocks noGrp="1"/>
          </p:cNvSpPr>
          <p:nvPr/>
        </p:nvSpPr>
        <p:spPr>
          <a:xfrm>
            <a:off x="9228059" y="2198004"/>
            <a:ext cx="2613202" cy="4572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256　512　1024　2048</a:t>
            </a:r>
            <a:endParaRPr sz="1600" b="1" dirty="0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8297961" y="2895600"/>
            <a:ext cx="3543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= 1024 是统一比较的主参照预算</a:t>
            </a:r>
            <a:endParaRPr sz="1100" b="1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直接连接符 89"/>
          <p:cNvSpPr>
            <a:spLocks noGrp="1"/>
          </p:cNvSpPr>
          <p:nvPr/>
        </p:nvSpPr>
        <p:spPr>
          <a:xfrm>
            <a:off x="8469411" y="4000500"/>
            <a:ext cx="3009900" cy="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直接连接符 90"/>
          <p:cNvSpPr>
            <a:spLocks noGrp="1"/>
          </p:cNvSpPr>
          <p:nvPr/>
        </p:nvSpPr>
        <p:spPr>
          <a:xfrm>
            <a:off x="8469411" y="3467100"/>
            <a:ext cx="0" cy="53340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直接连接符 91"/>
          <p:cNvSpPr>
            <a:spLocks noGrp="1"/>
          </p:cNvSpPr>
          <p:nvPr/>
        </p:nvSpPr>
        <p:spPr>
          <a:xfrm rot="-480000">
            <a:off x="8678961" y="3752850"/>
            <a:ext cx="2476500" cy="0"/>
          </a:xfrm>
          <a:prstGeom prst="line">
            <a:avLst/>
          </a:prstGeom>
          <a:noFill/>
          <a:ln w="1524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椭圆 92"/>
          <p:cNvSpPr>
            <a:spLocks noGrp="1"/>
          </p:cNvSpPr>
          <p:nvPr/>
        </p:nvSpPr>
        <p:spPr>
          <a:xfrm>
            <a:off x="8621811" y="3800475"/>
            <a:ext cx="114300" cy="1143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椭圆 93"/>
          <p:cNvSpPr>
            <a:spLocks noGrp="1"/>
          </p:cNvSpPr>
          <p:nvPr/>
        </p:nvSpPr>
        <p:spPr>
          <a:xfrm>
            <a:off x="9402861" y="3686175"/>
            <a:ext cx="114300" cy="1143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椭圆 94"/>
          <p:cNvSpPr>
            <a:spLocks noGrp="1"/>
          </p:cNvSpPr>
          <p:nvPr/>
        </p:nvSpPr>
        <p:spPr>
          <a:xfrm>
            <a:off x="10183911" y="3571875"/>
            <a:ext cx="114300" cy="1143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椭圆 95"/>
          <p:cNvSpPr>
            <a:spLocks noGrp="1"/>
          </p:cNvSpPr>
          <p:nvPr/>
        </p:nvSpPr>
        <p:spPr>
          <a:xfrm>
            <a:off x="10964961" y="3457575"/>
            <a:ext cx="114300" cy="1143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8374161" y="403860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9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模型调用预算 B</a:t>
            </a:r>
            <a:endParaRPr sz="95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8297961" y="4324350"/>
            <a:ext cx="3543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继续增加预算是否带来有意义的质量提升？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矩形: 圆角 98"/>
          <p:cNvSpPr>
            <a:spLocks noGrp="1"/>
          </p:cNvSpPr>
          <p:nvPr/>
        </p:nvSpPr>
        <p:spPr>
          <a:xfrm>
            <a:off x="9536211" y="4688112"/>
            <a:ext cx="1066800" cy="247650"/>
          </a:xfrm>
          <a:prstGeom prst="roundRect">
            <a:avLst>
              <a:gd name="adj" fmla="val 46154"/>
            </a:avLst>
          </a:prstGeom>
          <a:solidFill>
            <a:srgbClr val="F47A24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待实验验证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矩形: 圆角 118"/>
          <p:cNvSpPr>
            <a:spLocks noGrp="1"/>
          </p:cNvSpPr>
          <p:nvPr/>
        </p:nvSpPr>
        <p:spPr>
          <a:xfrm>
            <a:off x="3467100" y="5181600"/>
            <a:ext cx="2857500" cy="495300"/>
          </a:xfrm>
          <a:prstGeom prst="roundRect">
            <a:avLst>
              <a:gd name="adj" fmla="val 19231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粒度扫描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n：50 → 100 → 200 → 300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3467100" y="57531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 B = 1024</a:t>
            </a:r>
            <a:endParaRPr sz="11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矩形: 圆角 120"/>
          <p:cNvSpPr>
            <a:spLocks noGrp="1"/>
          </p:cNvSpPr>
          <p:nvPr/>
        </p:nvSpPr>
        <p:spPr>
          <a:xfrm>
            <a:off x="6477000" y="5181600"/>
            <a:ext cx="2857500" cy="495300"/>
          </a:xfrm>
          <a:prstGeom prst="roundRect">
            <a:avLst>
              <a:gd name="adj" fmla="val 19231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预算扫描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B：256 → 512 → 1024 → 2048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6477000" y="57531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 n = 100</a:t>
            </a:r>
            <a:endParaRPr sz="11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9523185" y="5096328"/>
            <a:ext cx="2190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9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一次前向按一张输入计数</a:t>
            </a:r>
            <a:endParaRPr sz="950" b="1" dirty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 dirty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batch </a:t>
            </a:r>
            <a:r>
              <a:rPr sz="950" b="1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按实际样本数累计</a:t>
            </a:r>
            <a:endParaRPr sz="950" b="1" dirty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全零、全一与额外锚点计入预算</a:t>
            </a:r>
            <a:endParaRPr sz="950" b="1" dirty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 dirty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Ablation </a:t>
            </a:r>
            <a:r>
              <a:rPr sz="950" b="1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按实际区域数报告成本</a:t>
            </a:r>
            <a:endParaRPr sz="950" b="1" dirty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矩形 123"/>
          <p:cNvSpPr>
            <a:spLocks noGrp="1"/>
          </p:cNvSpPr>
          <p:nvPr/>
        </p:nvSpPr>
        <p:spPr>
          <a:xfrm>
            <a:off x="514350" y="6343650"/>
            <a:ext cx="1116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5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= 1024 是主比较预算，不是已经验证的最优预算。</a:t>
            </a:r>
            <a:endParaRPr sz="125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9" name="图片 1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57" y="1238810"/>
            <a:ext cx="4305299" cy="34649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实验变量与控制条件</a:t>
            </a:r>
            <a:endParaRPr sz="29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0668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主动改变什么？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381500" y="10668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统一实验协议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58150" y="10668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比较时固定什么？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514350" y="1466850"/>
            <a:ext cx="3276600" cy="781050"/>
          </a:xfrm>
          <a:prstGeom prst="roundRect">
            <a:avLst>
              <a:gd name="adj" fmla="val 14634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54305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归因方法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76212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Ablation　LIME　RISE　KernelSHAP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2019300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核心比较对象</a:t>
            </a:r>
            <a:endParaRPr sz="950" b="0">
              <a:solidFill>
                <a:srgbClr val="DDEB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514350" y="2362200"/>
            <a:ext cx="3276600" cy="781050"/>
          </a:xfrm>
          <a:prstGeom prst="roundRect">
            <a:avLst>
              <a:gd name="adj" fmla="val 14634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243840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解释粒度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265747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SLIC n ∈ {50,100,200,300}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RISE g ∈ {4,7,10,14}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6750" y="2950935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0" dirty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RQ2：粒度敏感性</a:t>
            </a:r>
            <a:endParaRPr sz="950" b="0" dirty="0">
              <a:solidFill>
                <a:srgbClr val="DDEB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514350" y="3257550"/>
            <a:ext cx="3276600" cy="781050"/>
          </a:xfrm>
          <a:prstGeom prst="roundRect">
            <a:avLst>
              <a:gd name="adj" fmla="val 14634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333375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遮蔽率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355282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LIME / RISE　p ∈ {0.25,0.50,0.75}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3810000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主设置 p = 0.50</a:t>
            </a:r>
            <a:endParaRPr sz="950" b="0">
              <a:solidFill>
                <a:srgbClr val="DDEB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514350" y="4152900"/>
            <a:ext cx="3276600" cy="781050"/>
          </a:xfrm>
          <a:prstGeom prst="roundRect">
            <a:avLst>
              <a:gd name="adj" fmla="val 14634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" y="422910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采样预算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" y="444817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∈ {256,512,1024,2048}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6750" y="4705350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主设置 B = 1024</a:t>
            </a:r>
            <a:endParaRPr sz="950" b="0">
              <a:solidFill>
                <a:srgbClr val="DDEB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: 圆角 22"/>
          <p:cNvSpPr>
            <a:spLocks noGrp="1"/>
          </p:cNvSpPr>
          <p:nvPr/>
        </p:nvSpPr>
        <p:spPr>
          <a:xfrm>
            <a:off x="4705350" y="142875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箭头: 下 23"/>
          <p:cNvSpPr>
            <a:spLocks noGrp="1"/>
          </p:cNvSpPr>
          <p:nvPr/>
        </p:nvSpPr>
        <p:spPr>
          <a:xfrm>
            <a:off x="5781675" y="1838325"/>
            <a:ext cx="171450" cy="161925"/>
          </a:xfrm>
          <a:prstGeom prst="down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: 圆角 24"/>
          <p:cNvSpPr>
            <a:spLocks noGrp="1"/>
          </p:cNvSpPr>
          <p:nvPr/>
        </p:nvSpPr>
        <p:spPr>
          <a:xfrm>
            <a:off x="4705350" y="205740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分类模型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箭头: 下 25"/>
          <p:cNvSpPr>
            <a:spLocks noGrp="1"/>
          </p:cNvSpPr>
          <p:nvPr/>
        </p:nvSpPr>
        <p:spPr>
          <a:xfrm>
            <a:off x="5781675" y="2466975"/>
            <a:ext cx="171450" cy="161925"/>
          </a:xfrm>
          <a:prstGeom prst="down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4705350" y="268605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归因方法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箭头: 下 27"/>
          <p:cNvSpPr>
            <a:spLocks noGrp="1"/>
          </p:cNvSpPr>
          <p:nvPr/>
        </p:nvSpPr>
        <p:spPr>
          <a:xfrm>
            <a:off x="5781675" y="3095625"/>
            <a:ext cx="171450" cy="161925"/>
          </a:xfrm>
          <a:prstGeom prst="down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/>
          <p:cNvSpPr>
            <a:spLocks noGrp="1"/>
          </p:cNvSpPr>
          <p:nvPr/>
        </p:nvSpPr>
        <p:spPr>
          <a:xfrm>
            <a:off x="4705350" y="331470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参数配置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箭头: 下 29"/>
          <p:cNvSpPr>
            <a:spLocks noGrp="1"/>
          </p:cNvSpPr>
          <p:nvPr/>
        </p:nvSpPr>
        <p:spPr>
          <a:xfrm>
            <a:off x="5781675" y="3724275"/>
            <a:ext cx="171450" cy="161925"/>
          </a:xfrm>
          <a:prstGeom prst="down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: 圆角 30"/>
          <p:cNvSpPr>
            <a:spLocks noGrp="1"/>
          </p:cNvSpPr>
          <p:nvPr/>
        </p:nvSpPr>
        <p:spPr>
          <a:xfrm>
            <a:off x="4705350" y="394335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归因结果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箭头: 下 31"/>
          <p:cNvSpPr>
            <a:spLocks noGrp="1"/>
          </p:cNvSpPr>
          <p:nvPr/>
        </p:nvSpPr>
        <p:spPr>
          <a:xfrm>
            <a:off x="5781675" y="4352925"/>
            <a:ext cx="171450" cy="161925"/>
          </a:xfrm>
          <a:prstGeom prst="down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/>
          <p:cNvSpPr>
            <a:spLocks noGrp="1"/>
          </p:cNvSpPr>
          <p:nvPr/>
        </p:nvSpPr>
        <p:spPr>
          <a:xfrm>
            <a:off x="4705350" y="457200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统一评价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: 圆角 33"/>
          <p:cNvSpPr>
            <a:spLocks noGrp="1"/>
          </p:cNvSpPr>
          <p:nvPr/>
        </p:nvSpPr>
        <p:spPr>
          <a:xfrm>
            <a:off x="8058150" y="14287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210550" y="14287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🔒 数据与样本</a:t>
            </a:r>
            <a:endParaRPr sz="105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220200" y="14287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ImageNet / CHNCXR　共同分类正确样本</a:t>
            </a:r>
            <a:endParaRPr sz="9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: 圆角 36"/>
          <p:cNvSpPr>
            <a:spLocks noGrp="1"/>
          </p:cNvSpPr>
          <p:nvPr/>
        </p:nvSpPr>
        <p:spPr>
          <a:xfrm>
            <a:off x="8058150" y="19621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210550" y="19621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🔒 分类模型</a:t>
            </a:r>
            <a:endParaRPr sz="105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220200" y="19621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ResNet-50 / VGG13　四组合分别分析</a:t>
            </a:r>
            <a:endParaRPr sz="9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: 圆角 39"/>
          <p:cNvSpPr>
            <a:spLocks noGrp="1"/>
          </p:cNvSpPr>
          <p:nvPr/>
        </p:nvSpPr>
        <p:spPr>
          <a:xfrm>
            <a:off x="8058150" y="24955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210550" y="24955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🔒 被解释输出</a:t>
            </a:r>
            <a:endParaRPr sz="105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220200" y="24955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正确类别的 pre-Softmax logit</a:t>
            </a:r>
            <a:endParaRPr sz="9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: 圆角 42"/>
          <p:cNvSpPr>
            <a:spLocks noGrp="1"/>
          </p:cNvSpPr>
          <p:nvPr/>
        </p:nvSpPr>
        <p:spPr>
          <a:xfrm>
            <a:off x="8058150" y="30289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210550" y="30289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🔒 输入处理</a:t>
            </a:r>
            <a:endParaRPr sz="105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220200" y="30289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完整图像 224 × 224　mask 最近邻插值</a:t>
            </a:r>
            <a:endParaRPr sz="9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: 圆角 45"/>
          <p:cNvSpPr>
            <a:spLocks noGrp="1"/>
          </p:cNvSpPr>
          <p:nvPr/>
        </p:nvSpPr>
        <p:spPr>
          <a:xfrm>
            <a:off x="8058150" y="35623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210550" y="35623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🔒 遮蔽基线</a:t>
            </a:r>
            <a:endParaRPr sz="105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220200" y="35623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三种方法统一零基线　RISE 保留软随机 mask</a:t>
            </a:r>
            <a:endParaRPr sz="9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: 圆角 48"/>
          <p:cNvSpPr>
            <a:spLocks noGrp="1"/>
          </p:cNvSpPr>
          <p:nvPr/>
        </p:nvSpPr>
        <p:spPr>
          <a:xfrm>
            <a:off x="8058150" y="40957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210550" y="40957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🔒 随机性</a:t>
            </a:r>
            <a:endParaRPr sz="105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220200" y="40957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= 0 / 1 / 2 / 3 / 4</a:t>
            </a:r>
            <a:endParaRPr sz="9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: 圆角 51"/>
          <p:cNvSpPr>
            <a:spLocks noGrp="1"/>
          </p:cNvSpPr>
          <p:nvPr/>
        </p:nvSpPr>
        <p:spPr>
          <a:xfrm>
            <a:off x="8058150" y="46291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210550" y="46291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🔒 计算环境</a:t>
            </a:r>
            <a:endParaRPr sz="105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9220200" y="46291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统一硬件、batch、预热策略与计时范围</a:t>
            </a:r>
            <a:endParaRPr sz="9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: 圆角 54"/>
          <p:cNvSpPr>
            <a:spLocks noGrp="1"/>
          </p:cNvSpPr>
          <p:nvPr/>
        </p:nvSpPr>
        <p:spPr>
          <a:xfrm>
            <a:off x="514350" y="5467350"/>
            <a:ext cx="11163300" cy="419100"/>
          </a:xfrm>
          <a:prstGeom prst="roundRect">
            <a:avLst>
              <a:gd name="adj" fmla="val 22727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研究因素变化　×　其他条件固定　＝　可解释的实验差异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: 圆角 55"/>
          <p:cNvSpPr>
            <a:spLocks noGrp="1"/>
          </p:cNvSpPr>
          <p:nvPr/>
        </p:nvSpPr>
        <p:spPr>
          <a:xfrm>
            <a:off x="514350" y="6000750"/>
            <a:ext cx="3543300" cy="457200"/>
          </a:xfrm>
          <a:prstGeom prst="roundRect">
            <a:avLst>
              <a:gd name="adj" fmla="val 1875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粒度实验　改变 n / g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 B = 1024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: 圆角 56"/>
          <p:cNvSpPr>
            <a:spLocks noGrp="1"/>
          </p:cNvSpPr>
          <p:nvPr/>
        </p:nvSpPr>
        <p:spPr>
          <a:xfrm>
            <a:off x="4229100" y="6000750"/>
            <a:ext cx="3543300" cy="457200"/>
          </a:xfrm>
          <a:prstGeom prst="roundRect">
            <a:avLst>
              <a:gd name="adj" fmla="val 1875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预算实验　改变 B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 SLIC n = 100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: 圆角 57"/>
          <p:cNvSpPr>
            <a:spLocks noGrp="1"/>
          </p:cNvSpPr>
          <p:nvPr/>
        </p:nvSpPr>
        <p:spPr>
          <a:xfrm>
            <a:off x="7943850" y="6000750"/>
            <a:ext cx="3543300" cy="457200"/>
          </a:xfrm>
          <a:prstGeom prst="roundRect">
            <a:avLst>
              <a:gd name="adj" fmla="val 1875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遮蔽率实验　改变 p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其他主设置不变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514350" y="6534150"/>
            <a:ext cx="11163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通过单因素扫描，把方法差异、粒度影响和预算影响尽可能分离。</a:t>
            </a:r>
            <a:endParaRPr sz="105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评价指标与配对统计</a:t>
            </a:r>
            <a:endParaRPr sz="29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457200" y="1295400"/>
            <a:ext cx="2647950" cy="3143250"/>
          </a:xfrm>
          <a:prstGeom prst="roundRect">
            <a:avLst>
              <a:gd name="adj" fmla="val 5396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4478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忠实性</a:t>
            </a:r>
            <a:endParaRPr sz="19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905000"/>
            <a:ext cx="2305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Deletion AUC ↓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Insertion AUC ↑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369570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个等距检查点</a:t>
            </a:r>
            <a:endParaRPr sz="10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AUC 按实际改变区域比例计算</a:t>
            </a:r>
            <a:endParaRPr sz="10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3333750" y="1295400"/>
            <a:ext cx="2647950" cy="3143250"/>
          </a:xfrm>
          <a:prstGeom prst="roundRect">
            <a:avLst>
              <a:gd name="adj" fmla="val 5396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505200" y="14478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9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505200" y="1905000"/>
            <a:ext cx="2305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Max-Sensitivity ↓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Cosine Similarity ↑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505200" y="369570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保持原图 SLIC、类别、</a:t>
            </a:r>
            <a:endParaRPr sz="10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基线和预算不变</a:t>
            </a:r>
            <a:endParaRPr sz="10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6210300" y="1295400"/>
            <a:ext cx="2647950" cy="3143250"/>
          </a:xfrm>
          <a:prstGeom prst="roundRect">
            <a:avLst>
              <a:gd name="adj" fmla="val 5396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4478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</a:t>
            </a:r>
            <a:endParaRPr sz="19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1905000"/>
            <a:ext cx="2305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前向次数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反向次数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归因耗时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369570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统一硬件、batch 与预热</a:t>
            </a:r>
            <a:endParaRPr sz="10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计时只覆盖归因阶段</a:t>
            </a:r>
            <a:endParaRPr sz="10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9086850" y="1295400"/>
            <a:ext cx="2647950" cy="3143250"/>
          </a:xfrm>
          <a:prstGeom prst="roundRect">
            <a:avLst>
              <a:gd name="adj" fmla="val 5396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258300" y="14478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0799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0799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定位性</a:t>
            </a:r>
            <a:endParaRPr sz="1900" b="1">
              <a:solidFill>
                <a:srgbClr val="0799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58300" y="1905000"/>
            <a:ext cx="2305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掩码内正能量占比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Pointing Game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58300" y="369570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ImageNet：边界框区域</a:t>
            </a:r>
            <a:endParaRPr sz="10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CHNCXR：病灶并集</a:t>
            </a:r>
            <a:endParaRPr sz="10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742950" y="3314700"/>
            <a:ext cx="1962150" cy="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742950" y="2781300"/>
            <a:ext cx="0" cy="53340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876300" y="3105150"/>
            <a:ext cx="95250" cy="952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1333500" y="3009900"/>
            <a:ext cx="95250" cy="952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1790700" y="2914650"/>
            <a:ext cx="95250" cy="9525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2247900" y="2819400"/>
            <a:ext cx="95250" cy="9525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>
            <a:off x="3619500" y="2800350"/>
            <a:ext cx="723900" cy="666750"/>
          </a:xfrm>
          <a:prstGeom prst="roundRect">
            <a:avLst>
              <a:gd name="adj" fmla="val 11429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3773805" y="2967038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3859530" y="3033713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箭头: 右 28"/>
          <p:cNvSpPr>
            <a:spLocks noGrp="1"/>
          </p:cNvSpPr>
          <p:nvPr/>
        </p:nvSpPr>
        <p:spPr>
          <a:xfrm>
            <a:off x="4419600" y="3009900"/>
            <a:ext cx="22860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: 圆角 29"/>
          <p:cNvSpPr>
            <a:spLocks noGrp="1"/>
          </p:cNvSpPr>
          <p:nvPr/>
        </p:nvSpPr>
        <p:spPr>
          <a:xfrm>
            <a:off x="4724400" y="2800350"/>
            <a:ext cx="723900" cy="666750"/>
          </a:xfrm>
          <a:prstGeom prst="roundRect">
            <a:avLst>
              <a:gd name="adj" fmla="val 11429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4900422" y="2987040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4986147" y="3053715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/>
          <p:cNvSpPr>
            <a:spLocks noGrp="1"/>
          </p:cNvSpPr>
          <p:nvPr/>
        </p:nvSpPr>
        <p:spPr>
          <a:xfrm>
            <a:off x="6496050" y="283845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496050" y="28384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7391400" y="2762250"/>
            <a:ext cx="647700" cy="6477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7715250" y="2895600"/>
            <a:ext cx="0" cy="209550"/>
          </a:xfrm>
          <a:prstGeom prst="line">
            <a:avLst/>
          </a:prstGeom>
          <a:noFill/>
          <a:ln w="1905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7715250" y="3105150"/>
            <a:ext cx="152400" cy="0"/>
          </a:xfrm>
          <a:prstGeom prst="line">
            <a:avLst/>
          </a:prstGeom>
          <a:noFill/>
          <a:ln w="19050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: 圆角 37"/>
          <p:cNvSpPr>
            <a:spLocks noGrp="1"/>
          </p:cNvSpPr>
          <p:nvPr/>
        </p:nvSpPr>
        <p:spPr>
          <a:xfrm>
            <a:off x="9372600" y="2781300"/>
            <a:ext cx="876300" cy="685800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椭圆 38"/>
          <p:cNvSpPr>
            <a:spLocks noGrp="1"/>
          </p:cNvSpPr>
          <p:nvPr/>
        </p:nvSpPr>
        <p:spPr>
          <a:xfrm>
            <a:off x="9667875" y="2990850"/>
            <a:ext cx="228600" cy="22860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: 圆角 39"/>
          <p:cNvSpPr>
            <a:spLocks noGrp="1"/>
          </p:cNvSpPr>
          <p:nvPr/>
        </p:nvSpPr>
        <p:spPr>
          <a:xfrm>
            <a:off x="10401300" y="2781300"/>
            <a:ext cx="876300" cy="685800"/>
          </a:xfrm>
          <a:prstGeom prst="roundRect">
            <a:avLst>
              <a:gd name="adj" fmla="val 11111"/>
            </a:avLst>
          </a:prstGeom>
          <a:noFill/>
          <a:ln w="1905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椭圆 40"/>
          <p:cNvSpPr>
            <a:spLocks noGrp="1"/>
          </p:cNvSpPr>
          <p:nvPr/>
        </p:nvSpPr>
        <p:spPr>
          <a:xfrm>
            <a:off x="10744200" y="3028950"/>
            <a:ext cx="114300" cy="1143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57200" y="4648200"/>
            <a:ext cx="11277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统计原则</a:t>
            </a:r>
            <a:endParaRPr sz="16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1428750" y="4791075"/>
            <a:ext cx="103060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: 圆角 43"/>
          <p:cNvSpPr>
            <a:spLocks noGrp="1"/>
          </p:cNvSpPr>
          <p:nvPr/>
        </p:nvSpPr>
        <p:spPr>
          <a:xfrm>
            <a:off x="514350" y="4991100"/>
            <a:ext cx="1733550" cy="514350"/>
          </a:xfrm>
          <a:prstGeom prst="roundRect">
            <a:avLst>
              <a:gd name="adj" fmla="val 18519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数据域 × 模型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分别分析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箭头: 右 44"/>
          <p:cNvSpPr>
            <a:spLocks noGrp="1"/>
          </p:cNvSpPr>
          <p:nvPr/>
        </p:nvSpPr>
        <p:spPr>
          <a:xfrm>
            <a:off x="2286000" y="5153025"/>
            <a:ext cx="24765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: 圆角 45"/>
          <p:cNvSpPr>
            <a:spLocks noGrp="1"/>
          </p:cNvSpPr>
          <p:nvPr/>
        </p:nvSpPr>
        <p:spPr>
          <a:xfrm>
            <a:off x="2743200" y="4991100"/>
            <a:ext cx="1733550" cy="514350"/>
          </a:xfrm>
          <a:prstGeom prst="roundRect">
            <a:avLst>
              <a:gd name="adj" fmla="val 18519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图像作为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独立配对单位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箭头: 右 46"/>
          <p:cNvSpPr>
            <a:spLocks noGrp="1"/>
          </p:cNvSpPr>
          <p:nvPr/>
        </p:nvSpPr>
        <p:spPr>
          <a:xfrm>
            <a:off x="4514850" y="5153025"/>
            <a:ext cx="24765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: 圆角 47"/>
          <p:cNvSpPr>
            <a:spLocks noGrp="1"/>
          </p:cNvSpPr>
          <p:nvPr/>
        </p:nvSpPr>
        <p:spPr>
          <a:xfrm>
            <a:off x="4972050" y="4991100"/>
            <a:ext cx="1733550" cy="514350"/>
          </a:xfrm>
          <a:prstGeom prst="roundRect">
            <a:avLst>
              <a:gd name="adj" fmla="val 18519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中位数 + IQR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箭头: 右 48"/>
          <p:cNvSpPr>
            <a:spLocks noGrp="1"/>
          </p:cNvSpPr>
          <p:nvPr/>
        </p:nvSpPr>
        <p:spPr>
          <a:xfrm>
            <a:off x="6743700" y="5153025"/>
            <a:ext cx="24765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: 圆角 49"/>
          <p:cNvSpPr>
            <a:spLocks noGrp="1"/>
          </p:cNvSpPr>
          <p:nvPr/>
        </p:nvSpPr>
        <p:spPr>
          <a:xfrm>
            <a:off x="7200900" y="4991100"/>
            <a:ext cx="1733550" cy="514350"/>
          </a:xfrm>
          <a:prstGeom prst="roundRect">
            <a:avLst>
              <a:gd name="adj" fmla="val 18519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配对 bootstrap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95% CI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箭头: 右 50"/>
          <p:cNvSpPr>
            <a:spLocks noGrp="1"/>
          </p:cNvSpPr>
          <p:nvPr/>
        </p:nvSpPr>
        <p:spPr>
          <a:xfrm>
            <a:off x="8972550" y="5153025"/>
            <a:ext cx="24765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: 圆角 51"/>
          <p:cNvSpPr>
            <a:spLocks noGrp="1"/>
          </p:cNvSpPr>
          <p:nvPr/>
        </p:nvSpPr>
        <p:spPr>
          <a:xfrm>
            <a:off x="9429750" y="4991100"/>
            <a:ext cx="1733550" cy="514350"/>
          </a:xfrm>
          <a:prstGeom prst="roundRect">
            <a:avLst>
              <a:gd name="adj" fmla="val 18519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Wilcoxon + Holm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457200" y="560070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逐图配对　报告效应量与置信区间</a:t>
            </a:r>
            <a:endParaRPr sz="12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5429250" y="5600700"/>
            <a:ext cx="6305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bootstrap 10,000 次　效应量：配对秩二列相关</a:t>
            </a:r>
            <a:endParaRPr sz="105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: 圆角 54"/>
          <p:cNvSpPr>
            <a:spLocks noGrp="1"/>
          </p:cNvSpPr>
          <p:nvPr/>
        </p:nvSpPr>
        <p:spPr>
          <a:xfrm>
            <a:off x="457200" y="6019800"/>
            <a:ext cx="5429250" cy="457200"/>
          </a:xfrm>
          <a:prstGeom prst="roundRect">
            <a:avLst>
              <a:gd name="adj" fmla="val 20833"/>
            </a:avLst>
          </a:prstGeom>
          <a:solidFill>
            <a:srgbClr val="FFF6F1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随机种子和输入扰动重复次数不是新增独立样本</a:t>
            </a:r>
            <a:endParaRPr sz="1050" b="1">
              <a:solidFill>
                <a:srgbClr val="D94A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: 圆角 55"/>
          <p:cNvSpPr>
            <a:spLocks noGrp="1"/>
          </p:cNvSpPr>
          <p:nvPr/>
        </p:nvSpPr>
        <p:spPr>
          <a:xfrm>
            <a:off x="6076950" y="6019800"/>
            <a:ext cx="5657850" cy="457200"/>
          </a:xfrm>
          <a:prstGeom prst="roundRect">
            <a:avLst>
              <a:gd name="adj" fmla="val 20833"/>
            </a:avLst>
          </a:prstGeom>
          <a:solidFill>
            <a:srgbClr val="FFF6F1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9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不同数据域 / 模型的原始 AUC 不合并为一个总体分数</a:t>
            </a:r>
            <a:endParaRPr sz="1050" b="1">
              <a:solidFill>
                <a:srgbClr val="D94A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六项实验构成完整验证方案</a:t>
            </a:r>
            <a:endParaRPr sz="29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2476500" y="1028700"/>
            <a:ext cx="742950" cy="266700"/>
          </a:xfrm>
          <a:prstGeom prst="roundRect">
            <a:avLst>
              <a:gd name="adj" fmla="val 42857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276600" y="1028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 × 效率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: 圆角 5"/>
          <p:cNvSpPr>
            <a:spLocks noGrp="1"/>
          </p:cNvSpPr>
          <p:nvPr/>
        </p:nvSpPr>
        <p:spPr>
          <a:xfrm>
            <a:off x="4953000" y="1028700"/>
            <a:ext cx="742950" cy="266700"/>
          </a:xfrm>
          <a:prstGeom prst="roundRect">
            <a:avLst>
              <a:gd name="adj" fmla="val 42857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53100" y="1028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参数敏感性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7429500" y="1028700"/>
            <a:ext cx="742950" cy="266700"/>
          </a:xfrm>
          <a:prstGeom prst="roundRect">
            <a:avLst>
              <a:gd name="adj" fmla="val 42857"/>
            </a:avLst>
          </a:prstGeom>
          <a:solidFill>
            <a:srgbClr val="0799A9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229600" y="1028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 × 实践</a:t>
            </a:r>
            <a:endParaRPr sz="1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14350" y="1428750"/>
            <a:ext cx="771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四项必做实验</a:t>
            </a:r>
            <a:endParaRPr sz="16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15350" y="1428750"/>
            <a:ext cx="3162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6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两项选做实验</a:t>
            </a:r>
            <a:endParaRPr sz="16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514350" y="1752600"/>
            <a:ext cx="3733800" cy="1866900"/>
          </a:xfrm>
          <a:prstGeom prst="roundRect">
            <a:avLst>
              <a:gd name="adj" fmla="val 6633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18859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dirty="0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 dirty="0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3276600" y="190500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RQ1</a:t>
            </a:r>
            <a:endParaRPr sz="105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38250" y="18859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 dirty="0" err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核心方法质量与效率比较</a:t>
            </a:r>
            <a:endParaRPr sz="1300" b="1" dirty="0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85800" y="2305050"/>
            <a:ext cx="3390900" cy="0"/>
          </a:xfrm>
          <a:prstGeom prst="line">
            <a:avLst/>
          </a:prstGeom>
          <a:noFill/>
          <a:ln w="9525">
            <a:solidFill>
              <a:srgbClr val="6687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24384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Ablation / LIME / RISE / </a:t>
            </a:r>
            <a:r>
              <a:rPr sz="1050" b="1" dirty="0" err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KernelSHAP</a:t>
            </a:r>
            <a:endParaRPr sz="1050" b="1" dirty="0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2952750"/>
            <a:ext cx="3390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0">
                <a:solidFill>
                  <a:srgbClr val="DD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</a:rPr>
              <a:t>统一预算下比较解释质量与计算成本</a:t>
            </a:r>
            <a:endParaRPr sz="1050" dirty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4419600" y="1752600"/>
            <a:ext cx="3733800" cy="1866900"/>
          </a:xfrm>
          <a:prstGeom prst="roundRect">
            <a:avLst>
              <a:gd name="adj" fmla="val 6633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91050" y="18859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0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: 圆角 20"/>
          <p:cNvSpPr>
            <a:spLocks noGrp="1"/>
          </p:cNvSpPr>
          <p:nvPr/>
        </p:nvSpPr>
        <p:spPr>
          <a:xfrm>
            <a:off x="7181850" y="190500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43500" y="18859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3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参数敏感性分析</a:t>
            </a:r>
            <a:endParaRPr sz="13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4591050" y="2305050"/>
            <a:ext cx="33909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91050" y="24384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SLIC 粒度、RISE 网格、遮蔽率、采样预算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91050" y="2952750"/>
            <a:ext cx="3390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dirty="0" err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粒度与预算采用单因素扫描</a:t>
            </a:r>
            <a:endParaRPr sz="1050" b="0" dirty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>
            <a:off x="514350" y="3810000"/>
            <a:ext cx="3733800" cy="1866900"/>
          </a:xfrm>
          <a:prstGeom prst="roundRect">
            <a:avLst>
              <a:gd name="adj" fmla="val 6633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39433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0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: 圆角 27"/>
          <p:cNvSpPr>
            <a:spLocks noGrp="1"/>
          </p:cNvSpPr>
          <p:nvPr/>
        </p:nvSpPr>
        <p:spPr>
          <a:xfrm>
            <a:off x="3276600" y="396240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238250" y="39433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3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候选方法扩展与基线敏感性</a:t>
            </a:r>
            <a:endParaRPr sz="13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685800" y="4362450"/>
            <a:ext cx="33909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5800" y="44958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扩展候选方法集合并比较遮蔽基线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85800" y="5010150"/>
            <a:ext cx="3390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检查原有比较结论是否稳定</a:t>
            </a:r>
            <a:endParaRPr sz="10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: 圆角 32"/>
          <p:cNvSpPr>
            <a:spLocks noGrp="1"/>
          </p:cNvSpPr>
          <p:nvPr/>
        </p:nvSpPr>
        <p:spPr>
          <a:xfrm>
            <a:off x="4419600" y="3810000"/>
            <a:ext cx="3733800" cy="1866900"/>
          </a:xfrm>
          <a:prstGeom prst="roundRect">
            <a:avLst>
              <a:gd name="adj" fmla="val 6633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91050" y="39433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0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: 圆角 34"/>
          <p:cNvSpPr>
            <a:spLocks noGrp="1"/>
          </p:cNvSpPr>
          <p:nvPr/>
        </p:nvSpPr>
        <p:spPr>
          <a:xfrm>
            <a:off x="7181850" y="396240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143500" y="39433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3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与梯度类方法交叉比较</a:t>
            </a:r>
            <a:endParaRPr sz="13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4591050" y="4362450"/>
            <a:ext cx="33909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591050" y="44958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代表性扰动 / 博弈论配置对照 IG、EG、Grad-CAM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591050" y="5010150"/>
            <a:ext cx="3390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外部梯度类对照采用同协议比较</a:t>
            </a:r>
            <a:endParaRPr sz="10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: 圆角 39"/>
          <p:cNvSpPr>
            <a:spLocks noGrp="1"/>
          </p:cNvSpPr>
          <p:nvPr/>
        </p:nvSpPr>
        <p:spPr>
          <a:xfrm>
            <a:off x="8515350" y="1752600"/>
            <a:ext cx="3162300" cy="1866900"/>
          </a:xfrm>
          <a:prstGeom prst="roundRect">
            <a:avLst>
              <a:gd name="adj" fmla="val 6633"/>
            </a:avLst>
          </a:prstGeom>
          <a:solidFill>
            <a:srgbClr val="FFFFFF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667750" y="18859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8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: 圆角 41"/>
          <p:cNvSpPr>
            <a:spLocks noGrp="1"/>
          </p:cNvSpPr>
          <p:nvPr/>
        </p:nvSpPr>
        <p:spPr>
          <a:xfrm>
            <a:off x="10591800" y="19050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探索性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124950" y="18859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OrdShap 位置归因</a:t>
            </a:r>
            <a:endParaRPr sz="12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8667750" y="2305050"/>
            <a:ext cx="28194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667750" y="2419350"/>
            <a:ext cx="281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× 4 固定图块　位置置换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667750" y="285750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KernelSHAP ↔ OrdShap</a:t>
            </a:r>
            <a:endParaRPr sz="1050" b="1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667750" y="3143250"/>
            <a:ext cx="2819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ctr">
              <a:defRPr sz="9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 ImageNet 小规模验证</a:t>
            </a:r>
            <a:endParaRPr sz="9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不默认扩展至 CHNCXR</a:t>
            </a:r>
            <a:endParaRPr sz="9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: 圆角 47"/>
          <p:cNvSpPr>
            <a:spLocks noGrp="1"/>
          </p:cNvSpPr>
          <p:nvPr/>
        </p:nvSpPr>
        <p:spPr>
          <a:xfrm>
            <a:off x="8515350" y="3810000"/>
            <a:ext cx="3162300" cy="1866900"/>
          </a:xfrm>
          <a:prstGeom prst="roundRect">
            <a:avLst>
              <a:gd name="adj" fmla="val 6633"/>
            </a:avLst>
          </a:prstGeom>
          <a:solidFill>
            <a:srgbClr val="FFFFFF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667750" y="39433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800" b="1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: 圆角 49"/>
          <p:cNvSpPr>
            <a:spLocks noGrp="1"/>
          </p:cNvSpPr>
          <p:nvPr/>
        </p:nvSpPr>
        <p:spPr>
          <a:xfrm>
            <a:off x="10591800" y="39624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跨域验证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124950" y="39433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CHNCXR 医学影像验证</a:t>
            </a:r>
            <a:endParaRPr sz="12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8667750" y="4362450"/>
            <a:ext cx="28194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667750" y="4476750"/>
            <a:ext cx="281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ImageNet 参数直接迁移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 医学域重新选择参数</a:t>
            </a:r>
            <a:endParaRPr sz="10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667750" y="491490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70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 CHNCXR 评价集配对比较</a:t>
            </a:r>
            <a:endParaRPr sz="1050" b="1">
              <a:solidFill>
                <a:srgbClr val="1670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667750" y="5200650"/>
            <a:ext cx="2819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ctr">
              <a:defRPr sz="9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0">
                <a:solidFill>
                  <a:srgbClr val="617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重点分析小病灶、单标注与多标注胸片</a:t>
            </a:r>
            <a:endParaRPr sz="950" b="0">
              <a:solidFill>
                <a:srgbClr val="617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: 圆角 55"/>
          <p:cNvSpPr>
            <a:spLocks noGrp="1"/>
          </p:cNvSpPr>
          <p:nvPr/>
        </p:nvSpPr>
        <p:spPr>
          <a:xfrm>
            <a:off x="514350" y="5943600"/>
            <a:ext cx="11163300" cy="514350"/>
          </a:xfrm>
          <a:prstGeom prst="roundRect">
            <a:avLst>
              <a:gd name="adj" fmla="val 20370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项必做实验回答核心研究问题，2 项选做实验检验结论能否扩展到位置归因和医学影像迁移。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14350" y="6515100"/>
            <a:ext cx="11163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必做实验建立主结论，实验链路稳定后再开展两项选做实验。</a:t>
            </a:r>
            <a:endParaRPr sz="105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下一阶段计划</a:t>
            </a:r>
            <a:endParaRPr sz="29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700" b="1">
              <a:solidFill>
                <a:srgbClr val="002F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571500" y="1466850"/>
            <a:ext cx="2095500" cy="3695700"/>
          </a:xfrm>
          <a:prstGeom prst="roundRect">
            <a:avLst>
              <a:gd name="adj" fmla="val 7273"/>
            </a:avLst>
          </a:prstGeom>
          <a:solidFill>
            <a:srgbClr val="1670D2"/>
          </a:solidFill>
          <a:ln w="952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65735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✓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13360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723900" y="2533650"/>
            <a:ext cx="1790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724150"/>
            <a:ext cx="17907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问题定义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任务建模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方法选择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实验方案设计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箭头: 右 8"/>
          <p:cNvSpPr>
            <a:spLocks noGrp="1"/>
          </p:cNvSpPr>
          <p:nvPr/>
        </p:nvSpPr>
        <p:spPr>
          <a:xfrm>
            <a:off x="2724150" y="3143250"/>
            <a:ext cx="228600" cy="171450"/>
          </a:xfrm>
          <a:prstGeom prst="rightArrow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2952750" y="1466850"/>
            <a:ext cx="2190750" cy="3695700"/>
          </a:xfrm>
          <a:prstGeom prst="roundRect">
            <a:avLst>
              <a:gd name="adj" fmla="val 6957"/>
            </a:avLst>
          </a:prstGeom>
          <a:solidFill>
            <a:srgbClr val="002FA7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05150" y="1657350"/>
            <a:ext cx="1885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M2｜初步结果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05150" y="2133600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</a:t>
            </a:r>
            <a:endParaRPr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3105150" y="2533650"/>
            <a:ext cx="18859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105150" y="2724150"/>
            <a:ext cx="18859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统一值函数与预算计数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Ablation / LIME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打通 2 数据域 × 2 模型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 RISE 网格与稳定性参数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箭头: 右 14"/>
          <p:cNvSpPr>
            <a:spLocks noGrp="1"/>
          </p:cNvSpPr>
          <p:nvPr/>
        </p:nvSpPr>
        <p:spPr>
          <a:xfrm>
            <a:off x="5200650" y="3143250"/>
            <a:ext cx="22860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5429250" y="1466850"/>
            <a:ext cx="2000250" cy="3695700"/>
          </a:xfrm>
          <a:prstGeom prst="roundRect">
            <a:avLst>
              <a:gd name="adj" fmla="val 7619"/>
            </a:avLst>
          </a:prstGeom>
          <a:solidFill>
            <a:srgbClr val="D7E5F2"/>
          </a:solidFill>
          <a:ln w="9525">
            <a:solidFill>
              <a:srgbClr val="D7E5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81650" y="1657350"/>
            <a:ext cx="1695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M3｜中期结果</a:t>
            </a:r>
            <a:endParaRPr sz="1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581650" y="213360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5581650" y="2533650"/>
            <a:ext cx="16954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81650" y="2724150"/>
            <a:ext cx="16954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RISE / KernelSHAP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四类评价模块与初步比较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 OrdShap 图像包装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冻结医学配置方案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箭头: 右 20"/>
          <p:cNvSpPr>
            <a:spLocks noGrp="1"/>
          </p:cNvSpPr>
          <p:nvPr/>
        </p:nvSpPr>
        <p:spPr>
          <a:xfrm>
            <a:off x="7486650" y="3143250"/>
            <a:ext cx="22860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/>
          <p:cNvSpPr>
            <a:spLocks noGrp="1"/>
          </p:cNvSpPr>
          <p:nvPr/>
        </p:nvSpPr>
        <p:spPr>
          <a:xfrm>
            <a:off x="7715250" y="1466850"/>
            <a:ext cx="2000250" cy="3695700"/>
          </a:xfrm>
          <a:prstGeom prst="roundRect">
            <a:avLst>
              <a:gd name="adj" fmla="val 7619"/>
            </a:avLst>
          </a:prstGeom>
          <a:solidFill>
            <a:srgbClr val="E5EDF4"/>
          </a:solidFill>
          <a:ln w="9525">
            <a:solidFill>
              <a:srgbClr val="E5ED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67650" y="1657350"/>
            <a:ext cx="1695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M4｜完整实验</a:t>
            </a:r>
            <a:endParaRPr sz="1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67650" y="213360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7867650" y="2533650"/>
            <a:ext cx="16954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67650" y="2724150"/>
            <a:ext cx="16954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四项必做实验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两项选做实验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质量—成本曲线与配对统计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参数敏感性及失败案例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箭头: 右 26"/>
          <p:cNvSpPr>
            <a:spLocks noGrp="1"/>
          </p:cNvSpPr>
          <p:nvPr/>
        </p:nvSpPr>
        <p:spPr>
          <a:xfrm>
            <a:off x="9772650" y="3143250"/>
            <a:ext cx="22860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: 圆角 27"/>
          <p:cNvSpPr>
            <a:spLocks noGrp="1"/>
          </p:cNvSpPr>
          <p:nvPr/>
        </p:nvSpPr>
        <p:spPr>
          <a:xfrm>
            <a:off x="9906000" y="1466850"/>
            <a:ext cx="1714500" cy="3695700"/>
          </a:xfrm>
          <a:prstGeom prst="roundRect">
            <a:avLst>
              <a:gd name="adj" fmla="val 8889"/>
            </a:avLst>
          </a:prstGeom>
          <a:solidFill>
            <a:srgbClr val="EFF3F7"/>
          </a:solidFill>
          <a:ln w="9525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058400" y="165735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M5｜最终成果</a:t>
            </a:r>
            <a:endParaRPr sz="15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058400" y="213360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endParaRPr sz="1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0058400" y="2533650"/>
            <a:ext cx="14097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058400" y="2724150"/>
            <a:ext cx="14097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冻结结果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报告与代码仓库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 PPT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逐项回答 RQ1–RQ3</a:t>
            </a:r>
            <a:endParaRPr sz="11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71500" y="5562600"/>
            <a:ext cx="1104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1">
                <a:solidFill>
                  <a:srgbClr val="081D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已把研究目标转化为具有明确数据口径、参数范围、预算计数和统计方案的实验任务。</a:t>
            </a:r>
            <a:endParaRPr sz="1300" b="1">
              <a:solidFill>
                <a:srgbClr val="081D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71500" y="6057900"/>
            <a:ext cx="1104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7A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 将验证这套流程能否稳定运行。</a:t>
            </a:r>
            <a:endParaRPr sz="1500" b="1">
              <a:solidFill>
                <a:srgbClr val="F47A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3892</Words>
  <Application>WPS 演示</Application>
  <PresentationFormat>宽屏</PresentationFormat>
  <Paragraphs>697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Calibri</vt:lpstr>
      <vt:lpstr>Arial Unicode MS</vt:lpstr>
      <vt:lpstr>黑体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陈纪仰</cp:lastModifiedBy>
  <cp:revision>16</cp:revision>
  <dcterms:created xsi:type="dcterms:W3CDTF">2026-09-09T04:39:00Z</dcterms:created>
  <dcterms:modified xsi:type="dcterms:W3CDTF">2026-09-11T12:50:00Z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525C7B0EB76842748F27446DF5D798F6_13</vt:lpwstr>
  </property>
  <property fmtid="{D5CDD505-2E9C-101B-9397-08002B2CF9AE}" pid="3" name="KSOProductBuildVer">
    <vt:lpwstr>2052-12.1.0.23542</vt:lpwstr>
  </property>
</Properties>
</file>